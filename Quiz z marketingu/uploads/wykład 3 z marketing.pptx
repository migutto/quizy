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4"/>
  </p:notesMasterIdLst>
  <p:handoutMasterIdLst>
    <p:handoutMasterId r:id="rId65"/>
  </p:handoutMasterIdLst>
  <p:sldIdLst>
    <p:sldId id="267" r:id="rId5"/>
    <p:sldId id="342" r:id="rId6"/>
    <p:sldId id="343" r:id="rId7"/>
    <p:sldId id="344" r:id="rId8"/>
    <p:sldId id="356" r:id="rId9"/>
    <p:sldId id="357" r:id="rId10"/>
    <p:sldId id="387" r:id="rId11"/>
    <p:sldId id="400" r:id="rId12"/>
    <p:sldId id="401" r:id="rId13"/>
    <p:sldId id="402" r:id="rId14"/>
    <p:sldId id="403" r:id="rId15"/>
    <p:sldId id="346" r:id="rId16"/>
    <p:sldId id="345" r:id="rId17"/>
    <p:sldId id="347" r:id="rId18"/>
    <p:sldId id="359" r:id="rId19"/>
    <p:sldId id="404" r:id="rId20"/>
    <p:sldId id="405" r:id="rId21"/>
    <p:sldId id="406" r:id="rId22"/>
    <p:sldId id="407" r:id="rId23"/>
    <p:sldId id="408" r:id="rId24"/>
    <p:sldId id="360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373" r:id="rId35"/>
    <p:sldId id="374" r:id="rId36"/>
    <p:sldId id="375" r:id="rId37"/>
    <p:sldId id="379" r:id="rId38"/>
    <p:sldId id="380" r:id="rId39"/>
    <p:sldId id="410" r:id="rId40"/>
    <p:sldId id="411" r:id="rId41"/>
    <p:sldId id="383" r:id="rId42"/>
    <p:sldId id="381" r:id="rId43"/>
    <p:sldId id="412" r:id="rId44"/>
    <p:sldId id="413" r:id="rId45"/>
    <p:sldId id="385" r:id="rId46"/>
    <p:sldId id="382" r:id="rId47"/>
    <p:sldId id="384" r:id="rId48"/>
    <p:sldId id="386" r:id="rId49"/>
    <p:sldId id="388" r:id="rId50"/>
    <p:sldId id="389" r:id="rId51"/>
    <p:sldId id="392" r:id="rId52"/>
    <p:sldId id="390" r:id="rId53"/>
    <p:sldId id="391" r:id="rId54"/>
    <p:sldId id="393" r:id="rId55"/>
    <p:sldId id="394" r:id="rId56"/>
    <p:sldId id="395" r:id="rId57"/>
    <p:sldId id="396" r:id="rId58"/>
    <p:sldId id="397" r:id="rId59"/>
    <p:sldId id="398" r:id="rId60"/>
    <p:sldId id="399" r:id="rId61"/>
    <p:sldId id="414" r:id="rId62"/>
    <p:sldId id="415" r:id="rId63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71" y="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06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C52F75F-E50E-44F1-9E39-68243FB6D1C9}" type="datetime1">
              <a:rPr lang="pl-PL" smtClean="0"/>
              <a:t>10.04.2026</a:t>
            </a:fld>
            <a:endParaRPr lang="pl-PL" dirty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dirty="0"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A36C10-A9D4-4995-9BAF-95FBD77A724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092182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2F1653B-4BA4-4629-B729-C160C9790C8E}" type="datetime1">
              <a:rPr lang="pl-PL" noProof="0" smtClean="0"/>
              <a:t>10.04.2026</a:t>
            </a:fld>
            <a:endParaRPr lang="pl-PL" noProof="0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 dirty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dirty="0"/>
              <a:t>Edytuj style wzorca tekstu</a:t>
            </a:r>
          </a:p>
          <a:p>
            <a:pPr lvl="1" rtl="0"/>
            <a:r>
              <a:rPr lang="pl-PL" noProof="0" dirty="0"/>
              <a:t>Drugi poziom</a:t>
            </a:r>
          </a:p>
          <a:p>
            <a:pPr lvl="2" rtl="0"/>
            <a:r>
              <a:rPr lang="pl-PL" noProof="0" dirty="0"/>
              <a:t>Trzeci poziom</a:t>
            </a:r>
          </a:p>
          <a:p>
            <a:pPr lvl="3" rtl="0"/>
            <a:r>
              <a:rPr lang="pl-PL" noProof="0" dirty="0"/>
              <a:t>Czwarty poziom</a:t>
            </a:r>
          </a:p>
          <a:p>
            <a:pPr lvl="4" rtl="0"/>
            <a:r>
              <a:rPr lang="pl-PL" noProof="0" dirty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3AEF9EC-8318-4FF6-847E-A85BBD2B7E49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22831956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pl-PL" smtClean="0"/>
              <a:t>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54839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A97467-5FD0-42CE-A713-1918172A44E1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3414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09600" y="261254"/>
            <a:ext cx="8226490" cy="3083767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72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/>
              <a:t>Kliknij, aby edytować styl</a:t>
            </a:r>
            <a:endParaRPr lang="pl-PL" noProof="0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609600" y="3386585"/>
            <a:ext cx="8229600" cy="1371600"/>
          </a:xfrm>
        </p:spPr>
        <p:txBody>
          <a:bodyPr rtlCol="0"/>
          <a:lstStyle>
            <a:lvl1pPr marL="0" indent="0" algn="l">
              <a:spcBef>
                <a:spcPts val="12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l-PL"/>
              <a:t>Kliknij, aby edytować styl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rtl="0">
              <a:defRPr/>
            </a:lvl1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noProof="0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07BB4B5-DB11-4B80-9F55-8424A2DC8B3A}" type="datetime1">
              <a:rPr lang="pl-PL" noProof="0" smtClean="0"/>
              <a:t>10.04.2026</a:t>
            </a:fld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12648" y="265176"/>
            <a:ext cx="8229600" cy="3081528"/>
          </a:xfrm>
        </p:spPr>
        <p:txBody>
          <a:bodyPr rtlCol="0" anchor="b">
            <a:normAutofit/>
          </a:bodyPr>
          <a:lstStyle>
            <a:lvl1pPr rtl="0">
              <a:defRPr sz="5400"/>
            </a:lvl1pPr>
          </a:lstStyle>
          <a:p>
            <a:pPr rtl="0"/>
            <a:r>
              <a:rPr lang="pl-PL"/>
              <a:t>Kliknij, aby edytować styl</a:t>
            </a:r>
            <a:endParaRPr lang="pl-PL" noProof="0" dirty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612648" y="3388268"/>
            <a:ext cx="8229600" cy="1371600"/>
          </a:xfrm>
        </p:spPr>
        <p:txBody>
          <a:bodyPr rtlCol="0"/>
          <a:lstStyle>
            <a:lvl1pPr marL="0" indent="0" rtl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1F4539-77B8-4094-A087-CACF915A4CEE}" type="datetime1">
              <a:rPr lang="pl-PL" noProof="0" smtClean="0"/>
              <a:t>10.04.2026</a:t>
            </a:fld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l-PL"/>
              <a:t>Kliknij, aby edytować styl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1295401" y="1828800"/>
            <a:ext cx="4572000" cy="4348163"/>
          </a:xfrm>
        </p:spPr>
        <p:txBody>
          <a:bodyPr rtlCol="0">
            <a:normAutofit/>
          </a:bodyPr>
          <a:lstStyle>
            <a:lvl1pPr rtl="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noProof="0" dirty="0"/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6324599" y="1828800"/>
            <a:ext cx="4572000" cy="4348163"/>
          </a:xfrm>
        </p:spPr>
        <p:txBody>
          <a:bodyPr rtlCol="0">
            <a:normAutofit/>
          </a:bodyPr>
          <a:lstStyle>
            <a:lvl1pPr rtl="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noProof="0" dirty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116904-6888-40AE-9775-B703E0D44168}" type="datetime1">
              <a:rPr lang="pl-PL" noProof="0" smtClean="0"/>
              <a:t>10.04.2026</a:t>
            </a:fld>
            <a:endParaRPr lang="pl-PL" noProof="0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l-PL"/>
              <a:t>Kliknij, aby edytować styl</a:t>
            </a:r>
            <a:endParaRPr lang="pl-PL" noProof="0" dirty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1298448" y="1627258"/>
            <a:ext cx="4572000" cy="6858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1298448" y="2373284"/>
            <a:ext cx="4572000" cy="3840480"/>
          </a:xfrm>
        </p:spPr>
        <p:txBody>
          <a:bodyPr rtlCol="0">
            <a:normAutofit/>
          </a:bodyPr>
          <a:lstStyle>
            <a:lvl1pPr rtl="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noProof="0" dirty="0"/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6327648" y="1627258"/>
            <a:ext cx="4572000" cy="6858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/>
          </p:nvPr>
        </p:nvSpPr>
        <p:spPr>
          <a:xfrm>
            <a:off x="6327648" y="2373284"/>
            <a:ext cx="4572000" cy="3840480"/>
          </a:xfrm>
        </p:spPr>
        <p:txBody>
          <a:bodyPr rtlCol="0">
            <a:normAutofit/>
          </a:bodyPr>
          <a:lstStyle>
            <a:lvl1pPr rtl="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noProof="0" dirty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CBAD8B-B846-4F37-851D-C0A5B1C08A03}" type="datetime1">
              <a:rPr lang="pl-PL" noProof="0" smtClean="0"/>
              <a:t>10.04.2026</a:t>
            </a:fld>
            <a:endParaRPr lang="pl-PL" noProof="0" dirty="0"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l-PL"/>
              <a:t>Kliknij, aby edytować styl</a:t>
            </a:r>
            <a:endParaRPr lang="pl-PL" noProof="0" dirty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99C321-A1A5-4A0A-9B51-8C7BCD99A08B}" type="datetime1">
              <a:rPr lang="pl-PL" noProof="0" smtClean="0"/>
              <a:t>10.04.2026</a:t>
            </a:fld>
            <a:endParaRPr lang="pl-PL" noProof="0" dirty="0"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opka — symbol zastępcz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424781-E865-43AD-88C5-02D5B0C85976}" type="datetime1">
              <a:rPr lang="pl-PL" noProof="0" smtClean="0"/>
              <a:t>10.04.2026</a:t>
            </a:fld>
            <a:endParaRPr lang="pl-PL" noProof="0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/>
          <p:nvPr userDrawn="1"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979330" y="457200"/>
            <a:ext cx="3603070" cy="1554480"/>
          </a:xfrm>
        </p:spPr>
        <p:txBody>
          <a:bodyPr rtlCol="0" anchor="b"/>
          <a:lstStyle>
            <a:lvl1pPr rtl="0">
              <a:defRPr sz="3200"/>
            </a:lvl1pPr>
          </a:lstStyle>
          <a:p>
            <a:pPr rtl="0"/>
            <a:r>
              <a:rPr lang="pl-PL"/>
              <a:t>Kliknij, aby edytować styl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606490" y="685800"/>
            <a:ext cx="6102220" cy="5486400"/>
          </a:xfrm>
        </p:spPr>
        <p:txBody>
          <a:bodyPr rtlCol="0">
            <a:normAutofit/>
          </a:bodyPr>
          <a:lstStyle>
            <a:lvl1pPr rtl="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noProof="0" dirty="0"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7979330" y="2101850"/>
            <a:ext cx="3603070" cy="1828800"/>
          </a:xfrm>
        </p:spPr>
        <p:txBody>
          <a:bodyPr rtlCol="0"/>
          <a:lstStyle>
            <a:lvl1pPr marL="0" indent="0" rtl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0AB9AD-7397-4CBF-88D5-1855CECFDB50}" type="datetime1">
              <a:rPr lang="pl-PL" noProof="0" smtClean="0"/>
              <a:t>10.04.2026</a:t>
            </a:fld>
            <a:endParaRPr lang="pl-PL" noProof="0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/>
          <p:nvPr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982712" y="457200"/>
            <a:ext cx="3602736" cy="1554480"/>
          </a:xfrm>
        </p:spPr>
        <p:txBody>
          <a:bodyPr rtlCol="0" anchor="b"/>
          <a:lstStyle>
            <a:lvl1pPr rtl="0">
              <a:defRPr sz="3200"/>
            </a:lvl1pPr>
          </a:lstStyle>
          <a:p>
            <a:pPr rtl="0"/>
            <a:r>
              <a:rPr lang="pl-PL"/>
              <a:t>Kliknij, aby edytować styl</a:t>
            </a:r>
            <a:endParaRPr lang="pl-PL" noProof="0" dirty="0"/>
          </a:p>
        </p:txBody>
      </p:sp>
      <p:sp>
        <p:nvSpPr>
          <p:cNvPr id="3" name="Obraz — symbol zastępczy 2" descr="Pusty symbol zastępczy pozwalający dodać obraz. Kliknij symbol zastępczy i wybierz obraz, który chcesz dodać"/>
          <p:cNvSpPr>
            <a:spLocks noGrp="1"/>
          </p:cNvSpPr>
          <p:nvPr>
            <p:ph type="pic" idx="1"/>
          </p:nvPr>
        </p:nvSpPr>
        <p:spPr>
          <a:xfrm>
            <a:off x="0" y="-1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7982712" y="2101850"/>
            <a:ext cx="3602736" cy="1828800"/>
          </a:xfrm>
        </p:spPr>
        <p:txBody>
          <a:bodyPr rtlCol="0"/>
          <a:lstStyle>
            <a:lvl1pPr marL="0" indent="0" rtl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l-PL"/>
              <a:t>Kliknij, aby edytować styl</a:t>
            </a:r>
            <a:endParaRPr lang="pl-PL" noProof="0" dirty="0"/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rtl="0">
              <a:defRPr/>
            </a:lvl1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noProof="0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AAA20B-D770-46E8-A87A-9140DB52EC10}" type="datetime1">
              <a:rPr lang="pl-PL" noProof="0" smtClean="0"/>
              <a:t>10.04.2026</a:t>
            </a:fld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9250680" y="365125"/>
            <a:ext cx="1645920" cy="5811838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pl-PL"/>
              <a:t>Kliknij, aby edytować styl</a:t>
            </a:r>
            <a:endParaRPr lang="pl-PL" noProof="0" dirty="0"/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1295400" y="365125"/>
            <a:ext cx="7624664" cy="5811838"/>
          </a:xfrm>
        </p:spPr>
        <p:txBody>
          <a:bodyPr vert="eaVert" rtlCol="0"/>
          <a:lstStyle>
            <a:lvl1pPr rtl="0">
              <a:defRPr/>
            </a:lvl1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noProof="0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FDF1F9-40D0-4DBE-BF8C-E7AD293C39A1}" type="datetime1">
              <a:rPr lang="pl-PL" noProof="0" smtClean="0"/>
              <a:t>10.04.2026</a:t>
            </a:fld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>
          <a:xfrm>
            <a:off x="1295400" y="362303"/>
            <a:ext cx="9601200" cy="1069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l-PL" dirty="0"/>
              <a:t>Kliknij, aby edytować styl</a:t>
            </a:r>
            <a:endParaRPr lang="pl-PL" noProof="0" dirty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1295400" y="1828799"/>
            <a:ext cx="9601200" cy="4348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dirty="0"/>
              <a:t>Edytuj style wzorca tekstu</a:t>
            </a:r>
          </a:p>
          <a:p>
            <a:pPr lvl="1" rtl="0"/>
            <a:r>
              <a:rPr lang="pl-PL" noProof="0" dirty="0"/>
              <a:t>Drugi poziom</a:t>
            </a:r>
          </a:p>
          <a:p>
            <a:pPr lvl="2" rtl="0"/>
            <a:r>
              <a:rPr lang="pl-PL" noProof="0" dirty="0"/>
              <a:t>Trzeci poziom</a:t>
            </a:r>
          </a:p>
          <a:p>
            <a:pPr lvl="3" rtl="0"/>
            <a:r>
              <a:rPr lang="pl-PL" noProof="0" dirty="0"/>
              <a:t>Czwarty poziom</a:t>
            </a:r>
          </a:p>
          <a:p>
            <a:pPr lvl="4" rtl="0"/>
            <a:r>
              <a:rPr lang="pl-PL" noProof="0" dirty="0"/>
              <a:t>Piąty poziom</a:t>
            </a:r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609600" y="6385492"/>
            <a:ext cx="609904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/>
                </a:solidFill>
              </a:defRPr>
            </a:lvl1pPr>
          </a:lstStyle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9419253" y="6385492"/>
            <a:ext cx="98204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pPr rtl="0"/>
            <a:fld id="{1C9555A0-6E8C-4312-BBD9-C767319EFE50}" type="datetime1">
              <a:rPr lang="pl-PL" noProof="0" smtClean="0"/>
              <a:t>10.04.2026</a:t>
            </a:fld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10753532" y="6385492"/>
            <a:ext cx="82886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pPr rtl="0"/>
            <a:fld id="{E31375A4-56A4-47D6-9801-1991572033F7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l-PL" sz="4000" dirty="0"/>
              <a:t>Temat 3</a:t>
            </a:r>
            <a:br>
              <a:rPr lang="pl-PL" sz="4000" dirty="0"/>
            </a:br>
            <a:r>
              <a:rPr lang="pl-PL" sz="4000" dirty="0"/>
              <a:t>Zachowania </a:t>
            </a:r>
            <a:r>
              <a:rPr lang="pl-PL" sz="4400" dirty="0"/>
              <a:t>nabywców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pl-PL" dirty="0"/>
              <a:t>(uwarunkowania psychologiczne i ekonomiczne)</a:t>
            </a:r>
          </a:p>
        </p:txBody>
      </p:sp>
    </p:spTree>
    <p:extLst>
      <p:ext uri="{BB962C8B-B14F-4D97-AF65-F5344CB8AC3E}">
        <p14:creationId xmlns:p14="http://schemas.microsoft.com/office/powerpoint/2010/main" val="105187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30820" y="71020"/>
            <a:ext cx="11594236" cy="781235"/>
          </a:xfrm>
        </p:spPr>
        <p:txBody>
          <a:bodyPr/>
          <a:lstStyle/>
          <a:p>
            <a:r>
              <a:rPr lang="pl-PL" sz="4000" dirty="0"/>
              <a:t>Proces dokonania zakupu i jego ocena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" y="852256"/>
            <a:ext cx="11594236" cy="585038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l-PL" sz="2200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Odczucie </a:t>
            </a:r>
            <a:r>
              <a:rPr lang="pl-PL" sz="22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potrzeby</a:t>
            </a:r>
            <a:r>
              <a:rPr lang="pl-P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2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Ogólna</a:t>
            </a:r>
            <a:r>
              <a:rPr lang="pl-PL" sz="2200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l-P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nie skonkretyzowana </a:t>
            </a:r>
            <a:r>
              <a:rPr lang="pl-PL" sz="22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wiedza</a:t>
            </a:r>
            <a:r>
              <a:rPr lang="pl-P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towarze, nieświadomość co do marki, dostawcy itp.,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2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Świadomość</a:t>
            </a:r>
            <a:r>
              <a:rPr lang="pl-P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konsument wie o istnieniu na rynku towaru danej marki lub określonego dostawcy,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2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Zrozumienie</a:t>
            </a:r>
            <a:r>
              <a:rPr lang="pl-P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–poznanie podstawowych informacji o towarze,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2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Przekonanie</a:t>
            </a:r>
            <a:r>
              <a:rPr lang="pl-P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słuszności argumentów optujących za towarem,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2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Preferencja</a:t>
            </a:r>
            <a:r>
              <a:rPr lang="pl-P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potencjalny nabywca jest przekonany o tym, że ten towar jest lepszy od innych,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2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Zamiar</a:t>
            </a:r>
            <a:r>
              <a:rPr lang="pl-PL" sz="2200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zakupu</a:t>
            </a:r>
            <a:r>
              <a:rPr lang="pl-P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ZAKUP,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Pozytywna lub negatywna </a:t>
            </a:r>
            <a:r>
              <a:rPr lang="pl-PL" sz="22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ocena</a:t>
            </a:r>
            <a:r>
              <a:rPr lang="pl-P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dokonanego zakupu,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2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Następstw</a:t>
            </a:r>
            <a:r>
              <a:rPr lang="pl-PL" sz="2200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zakupu </a:t>
            </a:r>
            <a:r>
              <a:rPr lang="pl-P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lojalność lub dysonans </a:t>
            </a:r>
            <a:r>
              <a:rPr lang="pl-PL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pozakupowy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1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279577" y="1"/>
            <a:ext cx="7125113" cy="636443"/>
          </a:xfrm>
        </p:spPr>
        <p:txBody>
          <a:bodyPr/>
          <a:lstStyle/>
          <a:p>
            <a:r>
              <a:rPr lang="pl-PL" sz="2400" b="1" dirty="0"/>
              <a:t>Typologia decyzji konsumentów</a:t>
            </a:r>
          </a:p>
        </p:txBody>
      </p:sp>
      <p:graphicFrame>
        <p:nvGraphicFramePr>
          <p:cNvPr id="4" name="Symbol zastępczy zawartości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7158424"/>
              </p:ext>
            </p:extLst>
          </p:nvPr>
        </p:nvGraphicFramePr>
        <p:xfrm>
          <a:off x="337352" y="700857"/>
          <a:ext cx="11265763" cy="605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2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4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4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9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4391">
                <a:tc>
                  <a:txBody>
                    <a:bodyPr/>
                    <a:lstStyle/>
                    <a:p>
                      <a:r>
                        <a:rPr lang="pl-PL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Sytuacje zakupu o stosunkowo niewielkim znaczeniu dla konsumenta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2000" b="1" u="sng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DECYZJE IMPULSYWNE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pl-PL" sz="2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pl-PL" sz="2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pl-PL" sz="2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pl-PL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Produkty częstego zakupu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Minimalna intensywność poszukiwania informacji o produkcie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Czasopisma guma do żucia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5964">
                <a:tc>
                  <a:txBody>
                    <a:bodyPr/>
                    <a:lstStyle/>
                    <a:p>
                      <a:endParaRPr lang="pl-PL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2000" b="1" u="sng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DECYZJE NAWYKOWE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l-PL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Chleb, mleko</a:t>
                      </a:r>
                    </a:p>
                    <a:p>
                      <a:r>
                        <a:rPr lang="pl-PL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Strzyżenie</a:t>
                      </a:r>
                    </a:p>
                    <a:p>
                      <a:r>
                        <a:rPr lang="pl-PL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Ubrania </a:t>
                      </a:r>
                    </a:p>
                    <a:p>
                      <a:r>
                        <a:rPr lang="pl-PL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Usługi samochodowe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017">
                <a:tc>
                  <a:txBody>
                    <a:bodyPr/>
                    <a:lstStyle/>
                    <a:p>
                      <a:endParaRPr lang="pl-PL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2000" b="1" u="sng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DECYZJE NIERUTYNOWE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Produkty </a:t>
                      </a:r>
                      <a:r>
                        <a:rPr lang="pl-PL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okresowego zakupu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Meble, samochód</a:t>
                      </a:r>
                    </a:p>
                    <a:p>
                      <a:r>
                        <a:rPr lang="pl-PL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Sprzęt rekreacyjny</a:t>
                      </a:r>
                    </a:p>
                    <a:p>
                      <a:r>
                        <a:rPr lang="pl-PL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Renowacja mieszkania</a:t>
                      </a:r>
                    </a:p>
                    <a:p>
                      <a:endParaRPr lang="pl-PL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819">
                <a:tc>
                  <a:txBody>
                    <a:bodyPr/>
                    <a:lstStyle/>
                    <a:p>
                      <a:r>
                        <a:rPr lang="pl-PL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Sytuacje zakupu o istotnym znaczeniu dla konsumenta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2000" b="1" u="sng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DECYZJE ROZWAŻNE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Produkty epizodycznego zakupu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Maksymalna intensywność poszukiwania informacji o produkcie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 według własnego projektu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trzałka w dół 4"/>
          <p:cNvSpPr/>
          <p:nvPr/>
        </p:nvSpPr>
        <p:spPr>
          <a:xfrm>
            <a:off x="4477319" y="2342703"/>
            <a:ext cx="45719" cy="26642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Strzałka w dół 5"/>
          <p:cNvSpPr/>
          <p:nvPr/>
        </p:nvSpPr>
        <p:spPr>
          <a:xfrm flipH="1">
            <a:off x="9176559" y="2422588"/>
            <a:ext cx="45719" cy="25922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070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542850" y="15766"/>
            <a:ext cx="7125113" cy="924475"/>
          </a:xfrm>
        </p:spPr>
        <p:txBody>
          <a:bodyPr/>
          <a:lstStyle/>
          <a:p>
            <a:r>
              <a:rPr lang="pl-PL" dirty="0"/>
              <a:t>Zachowania nabywcy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06027" y="3735186"/>
            <a:ext cx="11531641" cy="293417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pl-PL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Racjonalne</a:t>
            </a:r>
            <a:r>
              <a:rPr lang="pl-PL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rozważne, przemyślane, wewnętrznie spójne, zaplanowane, sensowne, zamierzone, świadome, celowe;</a:t>
            </a:r>
          </a:p>
          <a:p>
            <a:pPr>
              <a:lnSpc>
                <a:spcPct val="150000"/>
              </a:lnSpc>
            </a:pPr>
            <a:r>
              <a:rPr lang="pl-PL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Irracjonalne</a:t>
            </a:r>
            <a:r>
              <a:rPr lang="pl-PL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nierozważne, nierozsądne, wewnętrznie niespójne</a:t>
            </a:r>
          </a:p>
          <a:p>
            <a:pPr marL="993775" indent="-268288">
              <a:lnSpc>
                <a:spcPct val="150000"/>
              </a:lnSpc>
            </a:pPr>
            <a:r>
              <a:rPr lang="pl-PL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Zamierzone – świadome, zaplanowane;</a:t>
            </a:r>
          </a:p>
          <a:p>
            <a:pPr marL="993775" indent="-268288">
              <a:lnSpc>
                <a:spcPct val="150000"/>
              </a:lnSpc>
            </a:pPr>
            <a:r>
              <a:rPr lang="pl-PL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Niezamierzone – przypadkowe, impulsywne, nieświadome</a:t>
            </a:r>
          </a:p>
        </p:txBody>
      </p:sp>
      <p:pic>
        <p:nvPicPr>
          <p:cNvPr id="1026" name="Picture 2" descr="Znalezione obrazy dla zapytania dom marzeń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909" y="654957"/>
            <a:ext cx="4628759" cy="308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60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524001" y="1"/>
            <a:ext cx="7125113" cy="924475"/>
          </a:xfrm>
        </p:spPr>
        <p:txBody>
          <a:bodyPr/>
          <a:lstStyle/>
          <a:p>
            <a:r>
              <a:rPr lang="pl-PL" sz="2800" dirty="0"/>
              <a:t>Zachowania nabywcy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79395" y="1772816"/>
            <a:ext cx="10009094" cy="489654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endParaRPr lang="pl-PL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pl-PL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l-PL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Racjonalne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rozważne, przemyślane, wewnętrznie spójne, zaplanowane, sensowne, zamierzone, świadome, celowe;</a:t>
            </a:r>
          </a:p>
          <a:p>
            <a:pPr>
              <a:lnSpc>
                <a:spcPct val="150000"/>
              </a:lnSpc>
            </a:pPr>
            <a:r>
              <a:rPr lang="pl-PL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Irracjonalne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nierozważne, nierozsądne, wewnętrznie niespójne</a:t>
            </a:r>
          </a:p>
          <a:p>
            <a:pPr marL="993775" indent="-268288">
              <a:lnSpc>
                <a:spcPct val="150000"/>
              </a:lnSpc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Zamierzone – świadome, zaplanowane;</a:t>
            </a:r>
          </a:p>
          <a:p>
            <a:pPr marL="993775" indent="-268288">
              <a:lnSpc>
                <a:spcPct val="150000"/>
              </a:lnSpc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Niezamierzone – przypadkowe, impulsywne, nieświadome</a:t>
            </a:r>
          </a:p>
        </p:txBody>
      </p:sp>
      <p:pic>
        <p:nvPicPr>
          <p:cNvPr id="3082" name="Picture 10" descr="Znalezione obrazy dla zapytania lamborghin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929" y="0"/>
            <a:ext cx="5228213" cy="314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07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524001" y="7938"/>
            <a:ext cx="5724129" cy="900782"/>
          </a:xfrm>
        </p:spPr>
        <p:txBody>
          <a:bodyPr/>
          <a:lstStyle/>
          <a:p>
            <a:r>
              <a:rPr lang="pl-PL" dirty="0"/>
              <a:t>Zachowania nabywcy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30819" y="1988840"/>
            <a:ext cx="11026066" cy="460851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endParaRPr lang="pl-PL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pl-PL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l-PL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Racjonalne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rozważne, przemyślane, wewnętrznie spójne, zaplanowane, sensowne, zamierzone świadome, celowe;</a:t>
            </a:r>
          </a:p>
          <a:p>
            <a:pPr>
              <a:lnSpc>
                <a:spcPct val="150000"/>
              </a:lnSpc>
            </a:pPr>
            <a:r>
              <a:rPr lang="pl-PL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Irracjonalne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nierozważne, nierozsądne, wewnętrznie niespójne</a:t>
            </a:r>
          </a:p>
          <a:p>
            <a:pPr marL="993775" indent="-268288">
              <a:lnSpc>
                <a:spcPct val="150000"/>
              </a:lnSpc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Zamierzone – świadome, zaplanowane;</a:t>
            </a:r>
          </a:p>
          <a:p>
            <a:pPr marL="993775" indent="-268288">
              <a:lnSpc>
                <a:spcPct val="150000"/>
              </a:lnSpc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Niezamierzone – przypadkowe, impulsywne, nieświadome</a:t>
            </a:r>
          </a:p>
        </p:txBody>
      </p:sp>
      <p:sp>
        <p:nvSpPr>
          <p:cNvPr id="5" name="AutoShape 4" descr="Znalezione obrazy dla zapytania samochód rodzinny 2015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6" name="AutoShape 6" descr="Znalezione obrazy dla zapytania samochód rodzinny 2015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2062" name="Picture 14" descr="http://ralfis.pl/wp-content/uploads/2015/09/1d6d897ac88e11d9cb1586b64846f254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7937"/>
            <a:ext cx="4595711" cy="344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64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27FCB8-F317-48A1-9F30-960D6D418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88640"/>
            <a:ext cx="9034509" cy="660055"/>
          </a:xfrm>
        </p:spPr>
        <p:txBody>
          <a:bodyPr/>
          <a:lstStyle/>
          <a:p>
            <a:r>
              <a:rPr lang="pl-PL" dirty="0"/>
              <a:t>Racjonalne czy emocjonalne?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986DA1-BCCB-4B7E-B3AF-D062C08FF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17" y="1052736"/>
            <a:ext cx="10963923" cy="5616624"/>
          </a:xfrm>
        </p:spPr>
        <p:txBody>
          <a:bodyPr>
            <a:normAutofit fontScale="92500" lnSpcReduction="20000"/>
          </a:bodyPr>
          <a:lstStyle/>
          <a:p>
            <a:r>
              <a:rPr lang="pl-PL" dirty="0"/>
              <a:t>Na początku  XX w. (mały zasięg działań marketingowych, zachowania konsumentów wyjaśniały wskaźniki elastyczności cenowej i dochodowej. </a:t>
            </a:r>
          </a:p>
          <a:p>
            <a:r>
              <a:rPr lang="pl-PL" dirty="0"/>
              <a:t>W XXI w. reakcje konsumentów są bardziej wyczulone na wartość niż na cenę. Wygodny dojazd, parking, miła obsługa i wiele innych elementów.</a:t>
            </a:r>
          </a:p>
          <a:p>
            <a:r>
              <a:rPr lang="pl-PL" dirty="0">
                <a:solidFill>
                  <a:srgbClr val="FFFF00"/>
                </a:solidFill>
              </a:rPr>
              <a:t>Lekarz przyjmował w centrum miasta (koszt wizyty 130 zł). Ten sam lekarz przyjmował też w nowej przychodni, z bezpłatnym parkingiem, wygodną poczekalnią, przyjazną recepcją (za 160 zł). </a:t>
            </a:r>
          </a:p>
          <a:p>
            <a:pPr marL="0" indent="0">
              <a:buNone/>
            </a:pPr>
            <a:r>
              <a:rPr lang="pl-PL" dirty="0">
                <a:solidFill>
                  <a:srgbClr val="FFFF00"/>
                </a:solidFill>
              </a:rPr>
              <a:t>Który biznes przetrwał?</a:t>
            </a:r>
          </a:p>
          <a:p>
            <a:r>
              <a:rPr lang="pl-PL" dirty="0">
                <a:solidFill>
                  <a:srgbClr val="FFFF00"/>
                </a:solidFill>
              </a:rPr>
              <a:t>Kawa przygotowana w domu kosztuje 1-4 zł/ porcję. W dowolnej </a:t>
            </a:r>
            <a:r>
              <a:rPr lang="pl-PL" dirty="0" err="1">
                <a:solidFill>
                  <a:srgbClr val="FFFF00"/>
                </a:solidFill>
              </a:rPr>
              <a:t>sieciówce</a:t>
            </a:r>
            <a:r>
              <a:rPr lang="pl-PL" dirty="0">
                <a:solidFill>
                  <a:srgbClr val="FFFF00"/>
                </a:solidFill>
              </a:rPr>
              <a:t> co najmniej kilkanaście.(koszt surowca ok. 20% ceny detalicznej kawy) </a:t>
            </a:r>
            <a:r>
              <a:rPr lang="pl-PL" dirty="0">
                <a:solidFill>
                  <a:schemeClr val="bg1"/>
                </a:solidFill>
              </a:rPr>
              <a:t>Dlaczego tam chodzimy? </a:t>
            </a:r>
          </a:p>
          <a:p>
            <a:pPr marL="0" indent="0">
              <a:buNone/>
            </a:pPr>
            <a:r>
              <a:rPr lang="pl-PL" dirty="0"/>
              <a:t>Producenci, usługodawcy budując wartość dla klienta powinni uwzględniać:</a:t>
            </a:r>
          </a:p>
          <a:p>
            <a:r>
              <a:rPr lang="pl-PL" dirty="0"/>
              <a:t>funkcjonalność,</a:t>
            </a:r>
          </a:p>
          <a:p>
            <a:r>
              <a:rPr lang="pl-PL" dirty="0"/>
              <a:t>zaspokojenie potrzeb emocjonalnych, </a:t>
            </a:r>
          </a:p>
          <a:p>
            <a:r>
              <a:rPr lang="pl-PL" dirty="0"/>
              <a:t>nadążać za istniejącym stylem życia,</a:t>
            </a:r>
          </a:p>
          <a:p>
            <a:r>
              <a:rPr lang="pl-PL" dirty="0"/>
              <a:t>uwzględniać wpływ społeczny.</a:t>
            </a:r>
          </a:p>
          <a:p>
            <a:pPr marL="0" indent="0">
              <a:buNone/>
            </a:pPr>
            <a:r>
              <a:rPr lang="pl-PL" dirty="0"/>
              <a:t>Jest to podstawa lojalności klienta i wzrostu dochodów firmy. </a:t>
            </a:r>
          </a:p>
        </p:txBody>
      </p:sp>
    </p:spTree>
    <p:extLst>
      <p:ext uri="{BB962C8B-B14F-4D97-AF65-F5344CB8AC3E}">
        <p14:creationId xmlns:p14="http://schemas.microsoft.com/office/powerpoint/2010/main" val="117275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A09044-FA3B-4273-8346-D59CD7FCE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1012054"/>
            <a:ext cx="10963922" cy="5308847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Paradoksy w zachowaniach współczesnych klientów.</a:t>
            </a:r>
          </a:p>
          <a:p>
            <a:pPr marL="0" indent="0">
              <a:buNone/>
            </a:pPr>
            <a:r>
              <a:rPr lang="pl-PL" dirty="0">
                <a:solidFill>
                  <a:srgbClr val="FFFF00"/>
                </a:solidFill>
              </a:rPr>
              <a:t>Klient kupuje samochód za 100 tys. zł. Po wyjeździe z salonu jego wartość natychmiast spada. Klient jest nadal zadowolony i cieszy się zakupem. Ten sam klient wrzuca 2 zł do automatu a automat nie wyda mu towaru – irytacja przez kilka godzin. Emocje dominują nad racjonalnością. </a:t>
            </a:r>
          </a:p>
          <a:p>
            <a:pPr marL="0" indent="0">
              <a:buNone/>
            </a:pPr>
            <a:r>
              <a:rPr lang="pl-PL" dirty="0"/>
              <a:t>Konsumenci silniej reagują na stratę niż na zysk. </a:t>
            </a:r>
          </a:p>
          <a:p>
            <a:pPr marL="0" indent="0">
              <a:buNone/>
            </a:pPr>
            <a:r>
              <a:rPr lang="pl-PL" dirty="0">
                <a:solidFill>
                  <a:srgbClr val="FFFF00"/>
                </a:solidFill>
              </a:rPr>
              <a:t>Kupujemy jakiś towar na sztuki  i usłyszymy, że stracimy na każdej np. 0,60 zł/szt. w porównaniu do zakupu całego opakowania. Druga informacja kupując całe opakowanie na każdej sztuce zyskasz 0,60zł. Co podziała mocniej?</a:t>
            </a:r>
          </a:p>
          <a:p>
            <a:pPr marL="0" indent="0">
              <a:buNone/>
            </a:pPr>
            <a:r>
              <a:rPr lang="pl-PL" dirty="0"/>
              <a:t>Ważny jest kontekst, w którym jest prezentowana cena (</a:t>
            </a:r>
            <a:r>
              <a:rPr lang="pl-PL" i="1" dirty="0">
                <a:solidFill>
                  <a:srgbClr val="FFC000"/>
                </a:solidFill>
              </a:rPr>
              <a:t>wabik cenowy</a:t>
            </a:r>
            <a:r>
              <a:rPr lang="pl-PL" dirty="0"/>
              <a:t>).</a:t>
            </a:r>
          </a:p>
          <a:p>
            <a:pPr>
              <a:buAutoNum type="arabicPeriod"/>
            </a:pPr>
            <a:r>
              <a:rPr lang="pl-PL" dirty="0">
                <a:solidFill>
                  <a:srgbClr val="FFFF00"/>
                </a:solidFill>
              </a:rPr>
              <a:t>Na półce prezentowane są dwa wina – za 18 i 29 zł. Które kupi większość klientów?</a:t>
            </a:r>
          </a:p>
          <a:p>
            <a:pPr>
              <a:buAutoNum type="arabicPeriod"/>
            </a:pPr>
            <a:r>
              <a:rPr lang="pl-PL" dirty="0">
                <a:solidFill>
                  <a:srgbClr val="FFFF00"/>
                </a:solidFill>
              </a:rPr>
              <a:t>Dołożymy tam trzecią markę za 36 zł. Które wino będzie kupowane najczęściej?</a:t>
            </a:r>
          </a:p>
        </p:txBody>
      </p:sp>
    </p:spTree>
    <p:extLst>
      <p:ext uri="{BB962C8B-B14F-4D97-AF65-F5344CB8AC3E}">
        <p14:creationId xmlns:p14="http://schemas.microsoft.com/office/powerpoint/2010/main" val="186098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C86B3A0-64E9-404A-B727-690502E08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76" y="260648"/>
            <a:ext cx="11657231" cy="64087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l-PL" dirty="0"/>
              <a:t>Łatwiej podejmuje się decyzje przy ograniczonym wyborze. Właściwe ustawienie produktów bardzo go ułatwia. Wydawałoby się, że szeroki wybór jest najlepszy dla klienta – ale korekta, bo nie tak działa mózg.</a:t>
            </a:r>
          </a:p>
          <a:p>
            <a:pPr marL="0" indent="0">
              <a:buNone/>
            </a:pPr>
            <a:r>
              <a:rPr lang="pl-PL" dirty="0">
                <a:solidFill>
                  <a:srgbClr val="FFFF00"/>
                </a:solidFill>
              </a:rPr>
              <a:t>Kupujemy samochód. Sterując tym umiejętnie przyspieszamy proces decyzyjny i prawdopodobieństwo zakupu. </a:t>
            </a:r>
          </a:p>
          <a:p>
            <a:pPr marL="0" indent="0">
              <a:buNone/>
            </a:pPr>
            <a:r>
              <a:rPr lang="pl-PL" i="1" dirty="0">
                <a:solidFill>
                  <a:srgbClr val="FFFF00"/>
                </a:solidFill>
              </a:rPr>
              <a:t>Co najpierw (jaka  skrzynia biegów – manualna czy automatyczna czy jaki kolor? Od kolejności zależy zaangażowanie klienta. </a:t>
            </a:r>
          </a:p>
          <a:p>
            <a:pPr marL="0" indent="0">
              <a:buNone/>
            </a:pPr>
            <a:r>
              <a:rPr lang="pl-PL" dirty="0"/>
              <a:t>Klienci wybierają też z reguły wersję środkową. </a:t>
            </a:r>
          </a:p>
          <a:p>
            <a:pPr marL="0" indent="0">
              <a:buNone/>
            </a:pPr>
            <a:r>
              <a:rPr lang="pl-PL" i="1" dirty="0">
                <a:solidFill>
                  <a:srgbClr val="FFFF00"/>
                </a:solidFill>
              </a:rPr>
              <a:t>Kupujemy telewizor. Sprzedawca pyta ile chcemy wydać. Mówimy 1,5 tys. </a:t>
            </a:r>
          </a:p>
          <a:p>
            <a:pPr marL="0" indent="0">
              <a:buNone/>
            </a:pPr>
            <a:r>
              <a:rPr lang="pl-PL" i="1" dirty="0">
                <a:solidFill>
                  <a:srgbClr val="FFFF00"/>
                </a:solidFill>
              </a:rPr>
              <a:t>Pokazuje nam telewizory za: 2,6; 1,8 i za 1,015 – który kupimy? </a:t>
            </a:r>
          </a:p>
          <a:p>
            <a:pPr marL="0" indent="0">
              <a:buNone/>
            </a:pPr>
            <a:r>
              <a:rPr lang="pl-PL" i="1" dirty="0"/>
              <a:t>Reakcja na obniżki cen.</a:t>
            </a:r>
          </a:p>
          <a:p>
            <a:pPr marL="0" indent="0">
              <a:buNone/>
            </a:pPr>
            <a:r>
              <a:rPr lang="pl-PL" i="1" dirty="0">
                <a:solidFill>
                  <a:srgbClr val="FFFF00"/>
                </a:solidFill>
              </a:rPr>
              <a:t>Czy 2 zł ma zawsze taką samą wartość?</a:t>
            </a:r>
          </a:p>
          <a:p>
            <a:pPr marL="0" indent="0">
              <a:buNone/>
            </a:pPr>
            <a:r>
              <a:rPr lang="pl-PL" i="1" dirty="0">
                <a:solidFill>
                  <a:srgbClr val="FFFF00"/>
                </a:solidFill>
              </a:rPr>
              <a:t>Obniżenie ceny batonika z 3,5 do 1,5 zł znacznie przyspiesza decyzje zakupowe. Obniżka ceny sweterka ze 148 do 146 nie wywoła żadnej reakcji. </a:t>
            </a:r>
          </a:p>
          <a:p>
            <a:pPr marL="0" indent="0">
              <a:buNone/>
            </a:pPr>
            <a:r>
              <a:rPr lang="pl-PL" i="1" dirty="0">
                <a:solidFill>
                  <a:srgbClr val="FFFF00"/>
                </a:solidFill>
              </a:rPr>
              <a:t>Promocja z 26,50 do 23, 50 jest mało skuteczna a z 22,5 do 19,5 bardziej. Dlaczego?</a:t>
            </a:r>
          </a:p>
          <a:p>
            <a:pPr marL="0" indent="0">
              <a:buNone/>
            </a:pPr>
            <a:r>
              <a:rPr lang="pl-PL" i="1" dirty="0"/>
              <a:t>Konsumenci dobrze reagują na komunikat „obniżka ceny o 50%’, gorzej „obniżka ceny o 50% przy zakupie dwóch produktów’, ale lepiej „kup jeden drugi dostaniesz gratis”. </a:t>
            </a:r>
            <a:r>
              <a:rPr lang="pl-PL" i="1" dirty="0">
                <a:solidFill>
                  <a:srgbClr val="FFFF00"/>
                </a:solidFill>
              </a:rPr>
              <a:t>Dlaczego?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5427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324E257-217A-472A-A2DA-3831DA6BE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639" y="260648"/>
            <a:ext cx="10804124" cy="6480720"/>
          </a:xfrm>
        </p:spPr>
        <p:txBody>
          <a:bodyPr>
            <a:normAutofit/>
          </a:bodyPr>
          <a:lstStyle/>
          <a:p>
            <a:r>
              <a:rPr lang="pl-PL" dirty="0"/>
              <a:t>Wydajemy więcej pieniędzy płacąc kartą kredytową. </a:t>
            </a:r>
          </a:p>
          <a:p>
            <a:r>
              <a:rPr lang="pl-PL" dirty="0"/>
              <a:t>Łatwiej się kupuje wielopaki (ograniczenie „bólu płacenia”). </a:t>
            </a:r>
          </a:p>
          <a:p>
            <a:r>
              <a:rPr lang="pl-PL" dirty="0"/>
              <a:t>Są konsumenci, którzy wolą wydać jednorazowo więcej, inni będą kupować często ale mało.</a:t>
            </a:r>
          </a:p>
          <a:p>
            <a:r>
              <a:rPr lang="pl-PL" dirty="0"/>
              <a:t>„</a:t>
            </a:r>
            <a:r>
              <a:rPr lang="pl-PL" dirty="0" err="1"/>
              <a:t>All</a:t>
            </a:r>
            <a:r>
              <a:rPr lang="pl-PL" dirty="0"/>
              <a:t> inclusive” daje większy komfort i chętnie z niego korzystamy, chociaż w sumie płacimy za wszystkie usługi. Może też wywołać nadmierne łakomstwo. Gdybyśmy mieli kupować każdego drinka wydalibyśmy mniej.</a:t>
            </a:r>
          </a:p>
          <a:p>
            <a:r>
              <a:rPr lang="pl-PL" dirty="0"/>
              <a:t>Wpływ informacji z otoczenia: </a:t>
            </a:r>
            <a:r>
              <a:rPr lang="pl-PL" dirty="0">
                <a:solidFill>
                  <a:srgbClr val="FFFF00"/>
                </a:solidFill>
              </a:rPr>
              <a:t>U nas wydaje się na energię 300 zł a sąsiad mówi nam, że wydaje 180. Co robimy?</a:t>
            </a:r>
          </a:p>
          <a:p>
            <a:r>
              <a:rPr lang="pl-PL" dirty="0">
                <a:solidFill>
                  <a:srgbClr val="FFFF00"/>
                </a:solidFill>
              </a:rPr>
              <a:t>Sklep z kanapami. Na ścianie obłoczki – klienci częściej wybiorą kanapy wygodne, na ścianie dolary – tańsze. W salonie „Studio Jogi 99” zaakceptujemy wyższe ceny niż w „Studio Jogi 11”</a:t>
            </a:r>
          </a:p>
          <a:p>
            <a:pPr marL="0" indent="0">
              <a:buNone/>
            </a:pPr>
            <a:r>
              <a:rPr lang="pl-PL" u="sng" dirty="0"/>
              <a:t>Wiedza wsparciem dla wspólnego dobra . Przykłady oddziaływania:</a:t>
            </a:r>
          </a:p>
          <a:p>
            <a:r>
              <a:rPr lang="pl-PL" dirty="0">
                <a:solidFill>
                  <a:srgbClr val="FFFF00"/>
                </a:solidFill>
              </a:rPr>
              <a:t>Odpowiednie ułożenie produktów, wraz z akcją społeczną, może się przyczynić do zmniejszenia nadwagi. Na wysokości wzroku mniej kaloryczne, na dole i na górze chipsy </a:t>
            </a:r>
            <a:r>
              <a:rPr lang="pl-PL" dirty="0">
                <a:solidFill>
                  <a:schemeClr val="bg1"/>
                </a:solidFill>
              </a:rPr>
              <a:t>itp. </a:t>
            </a:r>
            <a:r>
              <a:rPr lang="pl-PL" dirty="0"/>
              <a:t>Mieli wybór – klienci są zadowoleni, ale łatwiej odrzucą skrajne. Sama akcja nie byłaby tak skuteczna.</a:t>
            </a:r>
          </a:p>
          <a:p>
            <a:endParaRPr lang="pl-PL" dirty="0">
              <a:solidFill>
                <a:srgbClr val="FFFF00"/>
              </a:solidFill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5871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AB3AF0-F92E-4709-9EAD-F2FCBA93C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37" y="332656"/>
            <a:ext cx="11909102" cy="62646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l-PL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pl-PL" dirty="0">
                <a:solidFill>
                  <a:srgbClr val="FFFF00"/>
                </a:solidFill>
              </a:rPr>
              <a:t>Wniosek:</a:t>
            </a:r>
            <a:r>
              <a:rPr lang="pl-PL" dirty="0"/>
              <a:t> Konsument nie jest świadomy swoich rzeczywistych motywów postępowania, wpływu otoczenia i innych elementów na podejmowane decyzje.</a:t>
            </a:r>
          </a:p>
          <a:p>
            <a:pPr marL="0" indent="0">
              <a:buNone/>
            </a:pPr>
            <a:r>
              <a:rPr lang="pl-PL" u="sng" dirty="0">
                <a:solidFill>
                  <a:srgbClr val="FFC000"/>
                </a:solidFill>
              </a:rPr>
              <a:t>Czyli kto decyduje co kupujemy i za ile kupujemy?</a:t>
            </a:r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Pytając klientów bezpośrednio, co jest ich głównym kryterium wyboru produktu często odpowiedzą, że ceny. Ale dodatkowe wartości i zabiegi mogą znacznie osłabiać jej znaczenie.</a:t>
            </a:r>
          </a:p>
          <a:p>
            <a:pPr marL="0" indent="0">
              <a:buNone/>
            </a:pPr>
            <a:endParaRPr lang="pl-PL" u="sng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pl-PL" u="sng" dirty="0">
                <a:solidFill>
                  <a:srgbClr val="FFC000"/>
                </a:solidFill>
              </a:rPr>
              <a:t>Tym się zajmuje ekonomia behawioralna. </a:t>
            </a:r>
          </a:p>
          <a:p>
            <a:pPr marL="0" indent="0">
              <a:buNone/>
            </a:pPr>
            <a:r>
              <a:rPr lang="pl-PL" dirty="0">
                <a:solidFill>
                  <a:srgbClr val="FFC000"/>
                </a:solidFill>
              </a:rPr>
              <a:t>Na decyzje oczywiście wpływają także:</a:t>
            </a:r>
          </a:p>
          <a:p>
            <a:r>
              <a:rPr lang="pl-PL" dirty="0">
                <a:solidFill>
                  <a:srgbClr val="FFC000"/>
                </a:solidFill>
              </a:rPr>
              <a:t> reklamy, </a:t>
            </a:r>
          </a:p>
          <a:p>
            <a:r>
              <a:rPr lang="pl-PL" dirty="0">
                <a:solidFill>
                  <a:srgbClr val="FFC000"/>
                </a:solidFill>
              </a:rPr>
              <a:t>kontakt ze sprzedawcą, </a:t>
            </a:r>
          </a:p>
          <a:p>
            <a:r>
              <a:rPr lang="pl-PL" dirty="0">
                <a:solidFill>
                  <a:srgbClr val="FFC000"/>
                </a:solidFill>
              </a:rPr>
              <a:t>stosowane techniki perswazji i wiele innych czynników. </a:t>
            </a:r>
          </a:p>
        </p:txBody>
      </p:sp>
    </p:spTree>
    <p:extLst>
      <p:ext uri="{BB962C8B-B14F-4D97-AF65-F5344CB8AC3E}">
        <p14:creationId xmlns:p14="http://schemas.microsoft.com/office/powerpoint/2010/main" val="152237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21941" y="1"/>
            <a:ext cx="11425561" cy="1600199"/>
          </a:xfrm>
        </p:spPr>
        <p:txBody>
          <a:bodyPr/>
          <a:lstStyle/>
          <a:p>
            <a:r>
              <a:rPr lang="pl-PL" dirty="0"/>
              <a:t>Kształtowanie procesu podejmowania decyzji zakupu wiąże się z czynnikami: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21942" y="1600201"/>
            <a:ext cx="11665258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Wewnętrznymi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858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psychologiczne – potrzeby, motywacje, postrzeganie,</a:t>
            </a:r>
          </a:p>
          <a:p>
            <a:pPr>
              <a:lnSpc>
                <a:spcPct val="150000"/>
              </a:lnSpc>
            </a:pP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Zewnętrznymi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794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ekonomiczne – cena, dochody,</a:t>
            </a:r>
          </a:p>
          <a:p>
            <a:pPr marL="8794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l-PL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socjologiczne – rodzina, grupa odniesienia, liderzy opinii,</a:t>
            </a:r>
          </a:p>
          <a:p>
            <a:pPr marL="8794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l-PL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kulturowe – kultura, subkultura. </a:t>
            </a:r>
            <a:r>
              <a:rPr lang="pl-P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 tych „na czerwono będzie mowa na ćwiczeniach)</a:t>
            </a:r>
          </a:p>
        </p:txBody>
      </p:sp>
    </p:spTree>
    <p:extLst>
      <p:ext uri="{BB962C8B-B14F-4D97-AF65-F5344CB8AC3E}">
        <p14:creationId xmlns:p14="http://schemas.microsoft.com/office/powerpoint/2010/main" val="223193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524001" y="2"/>
            <a:ext cx="8134555" cy="548679"/>
          </a:xfrm>
        </p:spPr>
        <p:txBody>
          <a:bodyPr>
            <a:normAutofit/>
          </a:bodyPr>
          <a:lstStyle/>
          <a:p>
            <a:r>
              <a:rPr lang="pl-PL" dirty="0"/>
              <a:t>1. Czynniki psychologiczne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01840" y="692696"/>
            <a:ext cx="11667491" cy="57026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4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POTRZEBY 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decydują o nich:</a:t>
            </a:r>
          </a:p>
          <a:p>
            <a:pPr marL="898525" indent="-361950">
              <a:buFont typeface="Wingdings" panose="05000000000000000000" pitchFamily="2" charset="2"/>
              <a:buChar char="Ø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fizyczne potrzeby ciała,</a:t>
            </a:r>
          </a:p>
          <a:p>
            <a:pPr marL="898525" indent="-361950">
              <a:buFont typeface="Wingdings" panose="05000000000000000000" pitchFamily="2" charset="2"/>
              <a:buChar char="Ø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duchowe właściwości człowieka,</a:t>
            </a:r>
          </a:p>
          <a:p>
            <a:pPr marL="898525" indent="-361950">
              <a:buFont typeface="Wingdings" panose="05000000000000000000" pitchFamily="2" charset="2"/>
              <a:buChar char="Ø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okoliczności współżycia społecznego.</a:t>
            </a:r>
          </a:p>
          <a:p>
            <a:pPr marL="0" indent="95250">
              <a:buNone/>
            </a:pPr>
            <a:endParaRPr lang="pl-PL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5250">
              <a:buNone/>
            </a:pPr>
            <a:r>
              <a:rPr lang="pl-PL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Charakteryzują się: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różnicami w </a:t>
            </a: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intensywności 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ujawniania się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następstwem potrzeb wyższego rzędu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 zaspokojeniu potrzeb podstawowych;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komplementarnością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(zwłaszcza potrzeb wyższego rzędu);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małą substytucyjnością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(zastępowalnością).</a:t>
            </a:r>
          </a:p>
        </p:txBody>
      </p:sp>
    </p:spTree>
    <p:extLst>
      <p:ext uri="{BB962C8B-B14F-4D97-AF65-F5344CB8AC3E}">
        <p14:creationId xmlns:p14="http://schemas.microsoft.com/office/powerpoint/2010/main" val="244058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524001" y="2"/>
            <a:ext cx="8134555" cy="548679"/>
          </a:xfrm>
        </p:spPr>
        <p:txBody>
          <a:bodyPr>
            <a:normAutofit/>
          </a:bodyPr>
          <a:lstStyle/>
          <a:p>
            <a:r>
              <a:rPr lang="pl-PL" dirty="0"/>
              <a:t>Czynniki psychologiczne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28474" y="548681"/>
            <a:ext cx="11443315" cy="6309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MOTYWACJA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Wewnętrzny stan gotowości do podjęcia określonego działania,  aktywizująca siła wywołująca określone postępowanie, zmierzające do zaspokojenia określonej potrzeby. 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Motywacja do zakupu może być:</a:t>
            </a:r>
          </a:p>
          <a:p>
            <a:pPr algn="just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wewnętrzna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(dążność do zaspokojenia swoich potrzeb, ciekawość), </a:t>
            </a: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zewnętrzna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(wzbudzenie potrzeb przez stosowanie kar i nagród, informowanie o możliwościach zawartych w różnego rodzaju sytuacjach i manipulowanie tymi możliwościami)</a:t>
            </a:r>
          </a:p>
          <a:p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negatywna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(oparta na „karach”, „dążenie od”, unikanie. mobilizuje do działań w celu uniknięcia „kary”), </a:t>
            </a: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pozytywna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(dodatnie wzmocnienia, „dążenia do”, ma umożliwić osiągnięcie lepszego poziomu zaspokojenia potrzeb);</a:t>
            </a:r>
          </a:p>
          <a:p>
            <a:pPr marL="450850" indent="-355600"/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Ekonomiczna lub pozaekonomiczna,</a:t>
            </a:r>
          </a:p>
          <a:p>
            <a:pPr marL="450850" indent="-355600"/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Trwała lub przemijająca,</a:t>
            </a:r>
          </a:p>
          <a:p>
            <a:pPr marL="450850" indent="-355600"/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Silna lub słaba.</a:t>
            </a:r>
          </a:p>
          <a:p>
            <a:pPr indent="19050"/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03513" y="1"/>
            <a:ext cx="6048673" cy="764704"/>
          </a:xfrm>
        </p:spPr>
        <p:txBody>
          <a:bodyPr/>
          <a:lstStyle/>
          <a:p>
            <a:r>
              <a:rPr lang="pl-PL" dirty="0"/>
              <a:t>Teoria motywacji Freuda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92963" y="1882066"/>
            <a:ext cx="10955045" cy="4715286"/>
          </a:xfrm>
        </p:spPr>
        <p:txBody>
          <a:bodyPr>
            <a:normAutofit lnSpcReduction="10000"/>
          </a:bodyPr>
          <a:lstStyle/>
          <a:p>
            <a:pPr algn="just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Siły kierujące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zachowaniami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tkwią w podświadomości.</a:t>
            </a:r>
          </a:p>
          <a:p>
            <a:pPr algn="just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Człowiek sam nie jest w stanie zrozumieć motywów swojego działania.</a:t>
            </a:r>
          </a:p>
          <a:p>
            <a:pPr algn="just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 może tego, tym bardziej, zrobić nikt z zewnątrz.</a:t>
            </a:r>
          </a:p>
          <a:p>
            <a:pPr algn="just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 kształtowania motywacji jest skazany na niepowodzenie.</a:t>
            </a:r>
          </a:p>
          <a:p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próbować je odkryć, zbadać – przeniesienie </a:t>
            </a:r>
            <a:r>
              <a:rPr lang="pl-PL" sz="2400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(spytać, dlaczego w określony sposób postępuje sąsiad, kolega, polityk z partii konkurencyjnej. Pytany przeniesie swoje motywy na nich), </a:t>
            </a:r>
          </a:p>
          <a:p>
            <a:pPr marL="0" indent="0">
              <a:buNone/>
            </a:pPr>
            <a:r>
              <a:rPr lang="pl-PL" sz="2400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testy skojarzeń słownych (szybkie skojarzenia z danym słowem, obrazem, dźwiękiem). Robimy to bez zastanowienia, zbędnych kalkulacji, co się opłaca </a:t>
            </a:r>
            <a:r>
              <a:rPr lang="pl-PL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lub wypada powiedzieć- dlatego są sposobem na ujawnienie motywacji wewnętrznych).</a:t>
            </a:r>
          </a:p>
        </p:txBody>
      </p:sp>
      <p:pic>
        <p:nvPicPr>
          <p:cNvPr id="5122" name="Picture 2" descr="http://static.prsa.pl/images/fe8530a9-d5d7-4954-a41a-0cdeaae984a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400" y="58886"/>
            <a:ext cx="4515600" cy="2381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33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1380" y="332656"/>
            <a:ext cx="11449164" cy="6120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Według Freuda</a:t>
            </a:r>
            <a:r>
              <a:rPr lang="pl-PL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pl-PL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Niechęć do jedzenia suszonych owoców </a:t>
            </a:r>
          </a:p>
          <a:p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Używanie gotowych mieszanek do ciast</a:t>
            </a:r>
          </a:p>
          <a:p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Palenie cygara </a:t>
            </a:r>
            <a:endParaRPr lang="pl-PL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5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17576" y="332656"/>
            <a:ext cx="11711986" cy="6120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Według Freuda:</a:t>
            </a: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Niechęć do jedzenia suszonych owoców –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lęk przed starością </a:t>
            </a:r>
          </a:p>
          <a:p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Używanie gotowych mieszanek do ciast</a:t>
            </a:r>
          </a:p>
          <a:p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Palenie cygara</a:t>
            </a:r>
            <a:endParaRPr lang="pl-PL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17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68297" y="332656"/>
            <a:ext cx="11662707" cy="6120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Według Freuda:</a:t>
            </a: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Niechęć do jedzenia suszonych owoców –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lęk przed starością </a:t>
            </a:r>
          </a:p>
          <a:p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Używanie gotowych mieszanek do ciast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pieczenie to symbol nowego życia, poczucie winy</a:t>
            </a:r>
          </a:p>
          <a:p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Palenie cygara</a:t>
            </a:r>
            <a:endParaRPr lang="pl-PL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5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79248" y="332656"/>
            <a:ext cx="11646280" cy="6120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Według Freuda:</a:t>
            </a: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Niechęć do jedzenia suszonych owoców –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lęk przed starością </a:t>
            </a:r>
          </a:p>
          <a:p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Używanie gotowych mieszanek do ciast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pieczenie to symbol nowego życia, poczucie winy</a:t>
            </a:r>
          </a:p>
          <a:p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Palenie cygara -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dorosła forma ssania kciuka</a:t>
            </a:r>
          </a:p>
          <a:p>
            <a:endParaRPr lang="pl-PL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0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84723" y="188640"/>
            <a:ext cx="11586051" cy="345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Według Freuda:</a:t>
            </a: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Niechęć do jedzenia suszonych owoców –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lęk przed starością </a:t>
            </a: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Używanie gotowych mieszanek do ciast –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pieczenie to symbol nowego życia, poczucie winy</a:t>
            </a: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Palenie cygara –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dorosła forma ssania kciuka (czy oni o tym wiedzieli??? Chyba nie)</a:t>
            </a:r>
          </a:p>
        </p:txBody>
      </p:sp>
      <p:pic>
        <p:nvPicPr>
          <p:cNvPr id="5" name="Picture 4" descr="http://images.viralnova.com/000/206/925/desktop-143654248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658" y="3122146"/>
            <a:ext cx="5580112" cy="354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theredlist.com/media/database/muses/icon/iconic_men/1930/al_capone%20/010_al_capone_theredlis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360" y="3122146"/>
            <a:ext cx="2680747" cy="361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32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524001" y="230819"/>
            <a:ext cx="6084168" cy="1369381"/>
          </a:xfrm>
        </p:spPr>
        <p:txBody>
          <a:bodyPr/>
          <a:lstStyle/>
          <a:p>
            <a:r>
              <a:rPr lang="pl-PL" dirty="0"/>
              <a:t>Teoria motywacji Herzberga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10718" y="1988840"/>
            <a:ext cx="10322512" cy="4752528"/>
          </a:xfrm>
        </p:spPr>
        <p:txBody>
          <a:bodyPr>
            <a:normAutofit/>
          </a:bodyPr>
          <a:lstStyle/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Człowiek w sposób naturalny podejmuje</a:t>
            </a:r>
          </a:p>
          <a:p>
            <a:pPr marL="0" indent="0">
              <a:buNone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takie działania, które będą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maksymalizowały zadowolenie i redukowały wszelkie nieprzyjemności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Jeśli będziemy w oddziaływaniu wyróżniać czynniki powodujące zadowolenie, a pomniejszać znaczenie tych drugich – to wywołamy określone zachowania.</a:t>
            </a:r>
          </a:p>
          <a:p>
            <a:pPr marL="0" indent="0" algn="just">
              <a:buNone/>
            </a:pPr>
            <a:r>
              <a:rPr lang="pl-PL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Konkluzja: do pewnego stopnia można motywy kształtować, jednak trzeba pamiętać, że wpływa też na nie cała masa innych, stale zmieniających się czynników</a:t>
            </a:r>
            <a:r>
              <a:rPr lang="pl-PL" sz="2400" b="1" dirty="0"/>
              <a:t>.</a:t>
            </a:r>
          </a:p>
          <a:p>
            <a:pPr marL="0" indent="0" algn="just">
              <a:buNone/>
            </a:pPr>
            <a:r>
              <a:rPr lang="pl-PL" b="1" dirty="0">
                <a:solidFill>
                  <a:schemeClr val="bg1"/>
                </a:solidFill>
              </a:rPr>
              <a:t>Tak myślę, że sporo tu racji</a:t>
            </a:r>
          </a:p>
        </p:txBody>
      </p:sp>
      <p:pic>
        <p:nvPicPr>
          <p:cNvPr id="6146" name="Picture 2" descr="http://www.historiadaadministracao.com.br/jl/images/stories/Imagens/Frederick%20Herzberg%2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846" y="116632"/>
            <a:ext cx="2818767" cy="349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25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28474" y="390618"/>
            <a:ext cx="11390050" cy="6467382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POSTRZEGANIE – 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 POZNAWCZY, W KTÓRYM CZŁOWIEK SELEKCJONUJE, PORZĄDKUJE I INTERPRETUJE INFORMACJE, W WYNIKU CZEGO W JEGO UMYŚLE POWSTAJE JEGO OSOBISTY, INDYWIDUALNY OBRAZ RZECZYWISTOŚCI.</a:t>
            </a:r>
          </a:p>
          <a:p>
            <a:pPr marL="0" indent="0">
              <a:buNone/>
            </a:pPr>
            <a:endParaRPr lang="pl-PL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Selektywna uwaga 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tendencja do odsiewania większości docierających informacji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Nikt nie jest w stanie zapamiętywać wszystkiego</a:t>
            </a: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l-PL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Wykształciliśmy więc taką umiejętność, aby …….spokojniej żyć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Selektywne zniekształcanie 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tendencja do dopasowywania informacji do własnych wyobrażeń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 jest wygodniej. „Człowiek lubi to, co zna”</a:t>
            </a:r>
          </a:p>
          <a:p>
            <a:pPr marL="0" indent="0">
              <a:buNone/>
            </a:pP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l-PL" sz="24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Selektywne zapamiętywanie informacji</a:t>
            </a: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tendencja do zapamiętywania jedynie części docierających informacji, zwykle takich, które odpowiadają postawie i poglądom danej osoby.</a:t>
            </a:r>
          </a:p>
          <a:p>
            <a:pPr marL="0" indent="0">
              <a:buNone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641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589377" y="188640"/>
            <a:ext cx="7125113" cy="521028"/>
          </a:xfrm>
        </p:spPr>
        <p:txBody>
          <a:bodyPr>
            <a:normAutofit fontScale="90000"/>
          </a:bodyPr>
          <a:lstStyle/>
          <a:p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Podsumowując: postrzeganie (percepcja)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70516" y="1109709"/>
            <a:ext cx="11363417" cy="5748291"/>
          </a:xfrm>
        </p:spPr>
        <p:txBody>
          <a:bodyPr/>
          <a:lstStyle/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proces selektywnego i subiektywnego odzwierciedlania rzeczywistości;</a:t>
            </a: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 jesteśmy w stanie zapamiętać wszystkich bodźców;</a:t>
            </a: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Selekcjonujemy je i zapamiętujemy te, które chcemy i jak chcemy;</a:t>
            </a:r>
          </a:p>
          <a:p>
            <a:pPr marL="352425" indent="-352425"/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Jest kształtowane przez: doświadczenia, osobowość, sytuację materialną, środowisko w jakim żyjemy, strukturę organizmu ludzkiego (właściwości osobnicze), sytuację bodźcową (np. źródło bodźca – czy jest zaufane , lubiane, czy darzymy je szacunkiem), charakterystykę psychiki konsumenta (osobowość, chwilowy nastrój, doświadczenie).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4533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04185" y="648070"/>
            <a:ext cx="11540971" cy="6093298"/>
          </a:xfrm>
        </p:spPr>
        <p:txBody>
          <a:bodyPr>
            <a:normAutofit/>
          </a:bodyPr>
          <a:lstStyle/>
          <a:p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Ok. 80 % spostrzeżeń dokonywana jest za pomocą wzroku;</a:t>
            </a:r>
          </a:p>
          <a:p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Potem słuch;</a:t>
            </a:r>
          </a:p>
          <a:p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Pozostałe zmysły – marginalna rola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l-PL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Uwaga:</a:t>
            </a:r>
          </a:p>
          <a:p>
            <a:pPr marL="0" indent="0" algn="just">
              <a:buNone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Wartości różnią się w zależności od produktu (np. zakup tkaniny – istotna cecha delikatność – a więc dotyk)</a:t>
            </a:r>
          </a:p>
          <a:p>
            <a:pPr marL="0" indent="0" algn="just">
              <a:buNone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Czasami, jeśli jedna z cech produktu jest dla nas szczególnie istotna – jesteśmy „głusi” na inne argumenty, czynniki - efekt „halo”- postrzeganie danego produktu przez pryzmat innego.</a:t>
            </a:r>
          </a:p>
        </p:txBody>
      </p:sp>
    </p:spTree>
    <p:extLst>
      <p:ext uri="{BB962C8B-B14F-4D97-AF65-F5344CB8AC3E}">
        <p14:creationId xmlns:p14="http://schemas.microsoft.com/office/powerpoint/2010/main" val="214057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43883" y="188641"/>
            <a:ext cx="10331621" cy="924475"/>
          </a:xfrm>
        </p:spPr>
        <p:txBody>
          <a:bodyPr>
            <a:normAutofit/>
          </a:bodyPr>
          <a:lstStyle/>
          <a:p>
            <a:r>
              <a:rPr lang="pl-PL" sz="2400" dirty="0"/>
              <a:t>pojęcia związane:</a:t>
            </a:r>
            <a:br>
              <a:rPr lang="pl-PL" sz="2400" dirty="0"/>
            </a:br>
            <a:r>
              <a:rPr lang="pl-PL" dirty="0"/>
              <a:t> </a:t>
            </a:r>
            <a:r>
              <a:rPr lang="pl-PL" b="1" dirty="0"/>
              <a:t>próg wrażliwości na bodźce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39697" y="1268760"/>
            <a:ext cx="11558726" cy="3024336"/>
          </a:xfrm>
        </p:spPr>
        <p:txBody>
          <a:bodyPr>
            <a:normAutofit/>
          </a:bodyPr>
          <a:lstStyle/>
          <a:p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Próg dolny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najmniejsza ilość bodźca, zdolna do wywołania reakcji (np. gdzie zawiesić jedyny billboard firmy – samodzielne, wyeksponowane miejsce, wśród innych (może wszyscy tam patrzą, ale może zostać niezauważony)</a:t>
            </a:r>
          </a:p>
          <a:p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Próg górny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maksymalna, efektywna ilość energii bodźca (np. jak określić optymalną ilość emisji reklam w telewizji – aby była zapamiętana zauważona  a nie wywoływała na dużą skalę niechęci, zniecierpliwienia, znudzenia).</a:t>
            </a:r>
          </a:p>
          <a:p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dirty="0"/>
          </a:p>
        </p:txBody>
      </p:sp>
      <p:sp>
        <p:nvSpPr>
          <p:cNvPr id="4" name="AutoShape 2" descr="Znalezione obrazy dla zapytania reklama banku wypożyczka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5" name="AutoShape 4" descr="Znalezione obrazy dla zapytania reklama banku wypożyczka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7178" name="Picture 10" descr="http://www.bank-karta-kredyt.pl/images/bank/eurobank/eur-16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4" y="3606639"/>
            <a:ext cx="5630486" cy="318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https://i.ytimg.com/vi/16UoycugD_Q/maxresdefaul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369" y="3577760"/>
            <a:ext cx="5673747" cy="319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22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Znalezione obrazy dla zapytania reklama media eksper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34" y="97995"/>
            <a:ext cx="6149302" cy="345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Znalezione obrazy dla zapytania reklama viv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889" y="2751422"/>
            <a:ext cx="7030277" cy="3936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53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57452" y="202593"/>
            <a:ext cx="11674135" cy="6655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OSOBOWOŚĆ – WYRÓŻNIAJĄCE CECHY PSYCHOLOGICZNE OSOBY, KTÓRE PROWADZĄ DO JEJ STOSUNKOWO SPÓJNEGO I NIEZMIENNEGO SPOSOBU REAGOWANIA NA OTOCZENIE.</a:t>
            </a:r>
            <a:endParaRPr lang="pl-PL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Cholerycy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osoby aktywne, wybuchowe, niecierpliwe, pewne swych racji, przeceniają siebie, nie doceniają innych;</a:t>
            </a:r>
          </a:p>
          <a:p>
            <a:pPr lvl="0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Sangwinic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–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łatwo dają sobą kierować, szybko decydują się na zakup, ale równie szybko mogą z niego zrezygnować, zmienność poglądów i nastrojów często prowadzi do zakupów impulsywnych;</a:t>
            </a:r>
          </a:p>
          <a:p>
            <a:pPr lvl="0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Flegmatycy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przywiązują wagę do tradycji, ostrożnie podchodzą do nowości, spokojnie i cierpliwie analizują wszystkie możliwości, nie zniechęcają się przeciwnościami;</a:t>
            </a:r>
          </a:p>
          <a:p>
            <a:pPr lvl="0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Melancholicy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sprawiają wrażenie cierpiących, zamknięci w sobie, wymagają życzliwości i pomocy w podejmowaniu decyzji, mało aktywni.</a:t>
            </a:r>
          </a:p>
          <a:p>
            <a:pPr marL="0" lvl="0" indent="0">
              <a:buNone/>
            </a:pPr>
            <a:r>
              <a:rPr lang="pl-PL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Dobrze wyszkolony sprzedawca w ciągu kilku sekund wie, z jakim klientem ma do czynienia i odpowiednio się zachowuje. W stosunku do jednych trzeba być konkretnym, dla innych cierpliwym, jeszcze dla innych „czułym” i wyrozumiałym. Jest to sposób osiągnięcia celu, czyli sprzedaży produktu.</a:t>
            </a:r>
          </a:p>
        </p:txBody>
      </p:sp>
    </p:spTree>
    <p:extLst>
      <p:ext uri="{BB962C8B-B14F-4D97-AF65-F5344CB8AC3E}">
        <p14:creationId xmlns:p14="http://schemas.microsoft.com/office/powerpoint/2010/main" val="302521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28475" y="328474"/>
            <a:ext cx="11736278" cy="636528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 ŻYCIA (EUROPA) </a:t>
            </a:r>
            <a:r>
              <a:rPr lang="pl-PL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 przykład. Takich podziałów i nazw z nimi związanych jest bardzo wiele)</a:t>
            </a:r>
            <a:endParaRPr lang="pl-PL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tradycjonalista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18% populacji, silny związek z kulturą, zakorzenione postawy typowe dla danego kraju, najmniej  homogeniczna grupa;</a:t>
            </a:r>
          </a:p>
          <a:p>
            <a:pPr lvl="0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domator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(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14%) mocne przywiązanie do korzeni i dziedzictwa, w mniejszym stopniu absorbuje go bezpieczeństwo ekonomiczne, poszukuje ciepłych stosunków międzyludzkich, trudno mu się pogodzić z przemocą;</a:t>
            </a:r>
          </a:p>
          <a:p>
            <a:pPr lvl="0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racjonalista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(23%) radzi sobie w nieprzewidywalnych, złożonych sytuacjach, gotowość do podejmowania ryzyka i nowych wysiłków, wierzy, że nauka i technologia pomaga rozwiązywać nowe wyzwania;</a:t>
            </a:r>
          </a:p>
          <a:p>
            <a:pPr lvl="0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hedonista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(17%) nacisk na doświadczenia zmysłowe i emocjonalne, preferuje grupy o charakterze niehierarchicznym zbudowane na wzajemnym zaufaniu samoregulacji;</a:t>
            </a:r>
          </a:p>
          <a:p>
            <a:pPr lvl="0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zdobywca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(15%) postawy, przekonania, wartości leżące u podstaw dynamiki zmiany społecznej, niezależny, sam chce kształtować własne życie i wykorzystywać swoje możliwości;</a:t>
            </a:r>
          </a:p>
          <a:p>
            <a:pPr lvl="0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prekursor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(13%) przekłada spontaniczność nad formalne procedury, największy indywidualista, lubi zmiany.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1625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33443" y="1"/>
            <a:ext cx="7125113" cy="692696"/>
          </a:xfrm>
        </p:spPr>
        <p:txBody>
          <a:bodyPr/>
          <a:lstStyle/>
          <a:p>
            <a:r>
              <a:rPr lang="pl-PL" dirty="0"/>
              <a:t>Czynniki ekonomiczne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90617" y="790113"/>
            <a:ext cx="11505461" cy="58858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Ceny towarów (</a:t>
            </a:r>
            <a:r>
              <a:rPr lang="pl-PL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jest to, obok jakości, najczęściej wskazywany przez konsumentów czynnik decydujący o wyborach produktów)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Zmiany cen działają na popyt, a tym samym na decyzje nabywców w ten sposób, że zwiększają lub ograniczają wielkość zakupów – prawo popytu i podaży). 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Miernikiem stopnia reakcji popytu na zmiany cen jest </a:t>
            </a:r>
            <a:r>
              <a:rPr lang="pl-PL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cenowa elastyczność popytu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czyli stosunek relatywnej zmiany popytu do relatywnej zmiany ceny. 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wartości:</a:t>
            </a:r>
          </a:p>
          <a:p>
            <a:pPr lvl="0"/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Popyt stały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można zwiększać ceny w ograniczonym zakresie, póki wartość nie ulegnie zmianie (sól, ziemniaki).</a:t>
            </a:r>
          </a:p>
          <a:p>
            <a:pPr lvl="0"/>
            <a:r>
              <a:rPr lang="pl-PL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&gt;1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zmianie ceny odpowiada więcej niż proporcjonalna zmiana popytu. </a:t>
            </a: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Popyt elastyczny</a:t>
            </a:r>
          </a:p>
          <a:p>
            <a:pPr lvl="0"/>
            <a:r>
              <a:rPr lang="pl-PL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zmianie ceny odpowiada mniej niż proporcjonalna zmiana popytu.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Popyt mało elastyczny</a:t>
            </a:r>
          </a:p>
          <a:p>
            <a:pPr lvl="0"/>
            <a:r>
              <a:rPr lang="pl-PL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popyt jest </a:t>
            </a:r>
            <a:r>
              <a:rPr lang="pl-PL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proporcjonalny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zmiany ceny</a:t>
            </a: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300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423593" y="18929"/>
            <a:ext cx="7125113" cy="924475"/>
          </a:xfrm>
        </p:spPr>
        <p:txBody>
          <a:bodyPr/>
          <a:lstStyle/>
          <a:p>
            <a:r>
              <a:rPr lang="pl-PL" dirty="0"/>
              <a:t>Dochody nabywców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84085" y="943404"/>
            <a:ext cx="11034944" cy="558194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l-PL" sz="28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Prawo </a:t>
            </a:r>
            <a:r>
              <a:rPr lang="pl-PL" sz="2800" b="1" u="sng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Engla</a:t>
            </a:r>
            <a:r>
              <a:rPr lang="pl-PL" sz="28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(ogólny opis prawidłowości)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miarę wzrostu dochodów </a:t>
            </a:r>
            <a:r>
              <a:rPr lang="pl-PL" sz="2800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udział 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wydatków na żywność maleje, </a:t>
            </a:r>
          </a:p>
          <a:p>
            <a:pPr algn="just">
              <a:lnSpc>
                <a:spcPct val="150000"/>
              </a:lnSpc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wydatki na odzież, obuwie i mieszkanie rosną w takim samym tempie jak dochód, </a:t>
            </a:r>
          </a:p>
          <a:p>
            <a:pPr algn="just">
              <a:lnSpc>
                <a:spcPct val="150000"/>
              </a:lnSpc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 wydatki (kultura, nauka, rozrywka, towary wzbogacające jakość życia) rosną szybciej niż dochód.</a:t>
            </a:r>
          </a:p>
        </p:txBody>
      </p:sp>
    </p:spTree>
    <p:extLst>
      <p:ext uri="{BB962C8B-B14F-4D97-AF65-F5344CB8AC3E}">
        <p14:creationId xmlns:p14="http://schemas.microsoft.com/office/powerpoint/2010/main" val="125071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75208" y="260648"/>
            <a:ext cx="11748878" cy="6336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Relacje między dochodem a popytem 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</a:p>
          <a:p>
            <a:pPr marL="0" indent="0">
              <a:buNone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wskaźnik dochodowej elastyczności popytu – stosunek między względną zmianą dochodu a względną zmianą popytu na dane dobro</a:t>
            </a: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pl-PL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Ed=</a:t>
            </a:r>
            <a:r>
              <a:rPr lang="el-GR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pl-PL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q/q / </a:t>
            </a:r>
            <a:r>
              <a:rPr lang="el-GR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pl-PL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d/d </a:t>
            </a:r>
          </a:p>
          <a:p>
            <a:pPr marL="0" indent="0">
              <a:buNone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poziomy elastyczności dochodowej popytu: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Ed=0 – 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popyt sztywny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Ed&gt;1-  p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opyt elastyczny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0&lt;Ed&lt;1 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popyt mało elastyczny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Ed=1 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popyt jest proporcjonalny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pl-P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Ed&lt;0 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popyt odwrotnie elastyczn</a:t>
            </a:r>
            <a:r>
              <a:rPr lang="pl-PL" sz="24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80637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/>
          <p:cNvSpPr/>
          <p:nvPr/>
        </p:nvSpPr>
        <p:spPr>
          <a:xfrm>
            <a:off x="195309" y="404665"/>
            <a:ext cx="1152321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l-PL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PARADOKSY </a:t>
            </a:r>
            <a:r>
              <a:rPr lang="pl-PL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(jakie to paradoksy wobec współczesnego dorobku ekonomii behawioralnej, pokazującej jak bardzo „pokręcone” bywają motywacje zakupów i zachowania konsumentów)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l-PL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l-PL" sz="28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Paradoks </a:t>
            </a:r>
            <a:r>
              <a:rPr lang="pl-PL" sz="2800" b="1" u="sng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Veblena</a:t>
            </a:r>
            <a:r>
              <a:rPr lang="pl-PL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efekt demonstracji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efekt prestiżowy, konsumpcja na pokaz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dotyczy dóbr luksusowych i najbogatszych grup społecznych;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oznacza wzrost wielkości popytu na dobra luksusowe mimo wzrostu cen tych dóbr;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posiadanie takich dóbr jest środkiem dowartościowania się, dlatego popyt na nie jest tym większy, im mniej ludzi je posiada, i – paradoksalnie – rośnie wraz z ceną;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przyczyna - chęć zademonstrowania statusu materialnego za sprawą posiadanych dóbr;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Przykłady: rzadkie dzieła sztuki, markowe ubiory znanych projektantów mody.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34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99495" y="188640"/>
            <a:ext cx="11319029" cy="6552728"/>
          </a:xfrm>
        </p:spPr>
        <p:txBody>
          <a:bodyPr>
            <a:normAutofit/>
          </a:bodyPr>
          <a:lstStyle/>
          <a:p>
            <a:pPr algn="just"/>
            <a:endParaRPr lang="pl-PL" sz="2800" b="1" u="sng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l-PL" sz="28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Paradoks </a:t>
            </a:r>
            <a:r>
              <a:rPr lang="pl-PL" sz="2800" b="1" u="sng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Giffena</a:t>
            </a:r>
            <a:r>
              <a:rPr lang="pl-PL" sz="28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sytuacja, w której popyt na dane dobro także wzrasta pomimo wzrostu ceny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Sytuacja taka ma miejsce przy bardzo niskich dochodach konsumentów przy wzroście cen dóbr podstawowych.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Cena dobra 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Giffena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jest relatywnie niższa od cen innych jego substytutów lub dane dobro nie posiada bliskich substytutów (np. chleb), dlatego popyt rośnie.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Wzrost konsumpcji danego dobra występuje wskutek zaniechania zakupów innych dóbr, których ceny były relatywnie wyższe (II połowa XIX w. Wielka Brytania, obserwacja rynku chleba.)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2989439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147BD5-BC65-46AE-B819-6B3FDFF8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08" y="260648"/>
            <a:ext cx="11443315" cy="764704"/>
          </a:xfrm>
        </p:spPr>
        <p:txBody>
          <a:bodyPr/>
          <a:lstStyle/>
          <a:p>
            <a:r>
              <a:rPr lang="pl-PL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Innowacje społeczne w konsumpcji XXI w.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CBF08C3-E119-474E-BCB3-7B2BE7BD3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10" y="1269506"/>
            <a:ext cx="11801382" cy="5471861"/>
          </a:xfrm>
        </p:spPr>
        <p:txBody>
          <a:bodyPr>
            <a:noAutofit/>
          </a:bodyPr>
          <a:lstStyle/>
          <a:p>
            <a:r>
              <a:rPr lang="pl-PL" sz="2200" dirty="0"/>
              <a:t>Tworzenie, rozwijanie i rozpowszechnianie pomysłów w celu rozwiązania ważnych problemów społecznych w różnej skali, poprawy jakości życia ludzi.</a:t>
            </a:r>
          </a:p>
          <a:p>
            <a:r>
              <a:rPr lang="pl-PL" sz="2200" dirty="0"/>
              <a:t>Nowe dobra materialne (opiekunka elektroniczna dla seniora)</a:t>
            </a:r>
          </a:p>
          <a:p>
            <a:r>
              <a:rPr lang="pl-PL" sz="2200" dirty="0"/>
              <a:t>nowe usługi („dieta pudełkowa”)</a:t>
            </a:r>
          </a:p>
          <a:p>
            <a:r>
              <a:rPr lang="pl-PL" sz="2200" dirty="0"/>
              <a:t>Nowe instytucje (np. przyjazne banki)</a:t>
            </a:r>
          </a:p>
          <a:p>
            <a:r>
              <a:rPr lang="pl-PL" sz="2200" dirty="0"/>
              <a:t>Nowe rozwiązania infrastrukturalne (ścieżki rowerowe, </a:t>
            </a:r>
            <a:r>
              <a:rPr lang="pl-PL" sz="2200" dirty="0" err="1"/>
              <a:t>bus</a:t>
            </a:r>
            <a:r>
              <a:rPr lang="pl-PL" sz="2200" dirty="0"/>
              <a:t>-pasy)</a:t>
            </a:r>
          </a:p>
          <a:p>
            <a:r>
              <a:rPr lang="pl-PL" sz="2200" dirty="0"/>
              <a:t>Nowe rozwiązania internetowe (porównywarki cen, ubezpieczeń, bazy samochodów)</a:t>
            </a:r>
          </a:p>
          <a:p>
            <a:r>
              <a:rPr lang="pl-PL" sz="2200" dirty="0"/>
              <a:t>Nowe programy współpracy i inicjatywy (budżety obywatelskie, zbieranie pieniędzy na innowacyjne produkty, fora mieszkańców, studentów)</a:t>
            </a:r>
          </a:p>
          <a:p>
            <a:r>
              <a:rPr lang="pl-PL" sz="2200" dirty="0"/>
              <a:t>Nowe modele biznesowe </a:t>
            </a:r>
          </a:p>
        </p:txBody>
      </p:sp>
    </p:spTree>
    <p:extLst>
      <p:ext uri="{BB962C8B-B14F-4D97-AF65-F5344CB8AC3E}">
        <p14:creationId xmlns:p14="http://schemas.microsoft.com/office/powerpoint/2010/main" val="151655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4807DA-EA20-4F84-9CEC-CA1DF7B88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9" y="75638"/>
            <a:ext cx="8901345" cy="731168"/>
          </a:xfrm>
        </p:spPr>
        <p:txBody>
          <a:bodyPr/>
          <a:lstStyle/>
          <a:p>
            <a:r>
              <a:rPr lang="pl-PL" sz="3600" dirty="0"/>
              <a:t>Innowacje w konsumpcji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433742E-135B-4DAB-B03C-2D2576801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99" y="701336"/>
            <a:ext cx="11390050" cy="5824008"/>
          </a:xfrm>
        </p:spPr>
        <p:txBody>
          <a:bodyPr>
            <a:normAutofit/>
          </a:bodyPr>
          <a:lstStyle/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Produkty żywnościowe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produkty specjalnego przeznaczenia, farmy wertykalne (produkowanie żywności w wieżowcach, blisko rynku zbytu)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Produkty nieżywnościowe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przydomowe wiatraki prądotwórcze, kolektory słoneczne,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powerbank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słuchawki bezprzewodowe, drukarki 3D, 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Usługi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płatność telefonem, kantory internetowe, konta wielowalutowe, ławeczki do ładowania telefonów, kasy samoobsługowe, paczkomaty, biura na godziny,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 tramwajach, innowacyjne restauracje, wypożyczalnie rowerów,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9984C4E-7745-448C-B40A-710A78E69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825" y="3638732"/>
            <a:ext cx="5426975" cy="313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7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 descr=" ">
            <a:extLst>
              <a:ext uri="{FF2B5EF4-FFF2-40B4-BE49-F238E27FC236}">
                <a16:creationId xmlns:a16="http://schemas.microsoft.com/office/drawing/2014/main" id="{201FFE4F-6740-4536-8806-7D6CB063A54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855" y="332014"/>
            <a:ext cx="5412087" cy="59163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418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 Chinach powstały prawdziwe &quot;miasta świń&quot;, produkujące miliony sztuk rocznie,  Foto: Youtube/WN">
            <a:extLst>
              <a:ext uri="{FF2B5EF4-FFF2-40B4-BE49-F238E27FC236}">
                <a16:creationId xmlns:a16="http://schemas.microsoft.com/office/drawing/2014/main" id="{066B1D77-B768-48B7-97FB-621ECDFFB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23" y="91049"/>
            <a:ext cx="9245863" cy="615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70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4CEE0D4-E68F-4651-BE06-86E51CAEB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27" y="452761"/>
            <a:ext cx="11446878" cy="6063449"/>
          </a:xfrm>
        </p:spPr>
        <p:txBody>
          <a:bodyPr>
            <a:normAutofit/>
          </a:bodyPr>
          <a:lstStyle/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Platformy, aplikacje, oprogramowania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oprogramowanie dla osób sparaliżowanych, aplikacje edukacyjne dla dzieci, Uber, pyszne.pl, programy śledzące, cyfryzacja administracji, podpis elektroniczny,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Inicjatywy społeczne – </a:t>
            </a:r>
            <a:r>
              <a:rPr lang="pl-PL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crowdsourcing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przekazywanie zadań do dużej niezidentyfikowanej grupy ludzi, Portale wymiany umiejętności np. naprawmyto.pl, szlachetna paczka, </a:t>
            </a:r>
            <a:r>
              <a:rPr lang="pl-PL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Freecycle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(oddawanie niechcianych rzeczy), przekazanie, odsprzedaż (vinted.pl, OLK, szafa.pl,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pomagacz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carpooling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(dzielenie się samochodem BlaBlaCar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couchsurfing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(udostępnianie noclegów), 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Kickstarter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(dofinansowanie projektów, 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zakupy grupowe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Groupon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cohousing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(współpraca gospodarstw domowych sprzyjająca środowisku, organiczne spółdzielnie ogrodnicze, wspólnotowe systemy kompostowania, podziału urządzeń rolniczych),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Rozwiązania służące poprawie zdrowia- mammobus, autobus do pobierania krwi, siłownie na wolnym powietrzu, fontanny wody pitnej, </a:t>
            </a:r>
          </a:p>
          <a:p>
            <a:pPr marL="0" indent="0">
              <a:buNone/>
            </a:pPr>
            <a:r>
              <a:rPr lang="pl-PL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KAŻDY POMYSŁ MILE WIDZIANY 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1136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823589-CFD2-4737-89EA-BC4CD163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61" y="260646"/>
            <a:ext cx="10919533" cy="840185"/>
          </a:xfrm>
        </p:spPr>
        <p:txBody>
          <a:bodyPr>
            <a:noAutofit/>
          </a:bodyPr>
          <a:lstStyle/>
          <a:p>
            <a:r>
              <a:rPr lang="pl-P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Trendy w zachowaniach współczesnych konsumentów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F0B6FF-A4DE-4F06-9100-41010B975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53" y="1225118"/>
            <a:ext cx="11762913" cy="53722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Konsumpcjonizm</a:t>
            </a:r>
            <a:r>
              <a:rPr lang="pl-PL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Cecha krajów społeczeństw bogatych i bogacących się,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Życie skoncentrowane wokół konsumpcji, demonstrowanie dóbr.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Dążenie do konsumpcji na coraz wyższym poziomie jest motorem aktywności człowieka.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Produkty obiektem pożądania. Kupowanie rzeczy umożliwia przeżywanie doświadczeń.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Oznacza to nadmierną, niepotrzebną konsumpcję dóbr, nieuwzględniającą kosztów społecznych, środowiskowych. Brak umiaru w zakupach, przyjemność z przebywania w placówkach handlowych, konsumowanie dla samej konsumpcji, brak hamulców, zadłużanie się bo „muszę mieć coś natychmiast”.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Skutki marnotrawstwo dóbr, nieodnawialnych zasobów, zalew śmieci.</a:t>
            </a:r>
          </a:p>
        </p:txBody>
      </p:sp>
    </p:spTree>
    <p:extLst>
      <p:ext uri="{BB962C8B-B14F-4D97-AF65-F5344CB8AC3E}">
        <p14:creationId xmlns:p14="http://schemas.microsoft.com/office/powerpoint/2010/main" val="275010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8FF80F-A853-40ED-837A-FB53AE2EB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1" y="66584"/>
            <a:ext cx="10342484" cy="1265066"/>
          </a:xfrm>
        </p:spPr>
        <p:txBody>
          <a:bodyPr/>
          <a:lstStyle/>
          <a:p>
            <a:r>
              <a:rPr lang="pl-PL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oto jeden ze sklepów w galerii handlowej w Dubaju, The </a:t>
            </a:r>
            <a:r>
              <a:rPr lang="pl-PL" sz="22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Dubai</a:t>
            </a:r>
            <a:r>
              <a:rPr lang="pl-PL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Mall, a w nim róże zakonserwowane specjalnymi chemikaliami. Gwarantowana „nieśmiertelność”. Cena przystępna – od 150$ za szt.</a:t>
            </a:r>
            <a:endParaRPr lang="pl-PL" sz="2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Symbol zastępczy zawartości 3" descr="C:\Users\Anna\Desktop\IMG_0491.jpg">
            <a:extLst>
              <a:ext uri="{FF2B5EF4-FFF2-40B4-BE49-F238E27FC236}">
                <a16:creationId xmlns:a16="http://schemas.microsoft.com/office/drawing/2014/main" id="{16C8C652-2BCD-4F45-88F9-AC05572D568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345" y="1127465"/>
            <a:ext cx="5974672" cy="56639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7743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E61FB3-B28F-4E68-AE4C-E6926C242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D299E8-60BF-4F4D-9D76-87B00CB28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133" y="2334848"/>
            <a:ext cx="5830148" cy="3052417"/>
          </a:xfrm>
        </p:spPr>
        <p:txBody>
          <a:bodyPr/>
          <a:lstStyle/>
          <a:p>
            <a:pPr marL="0" indent="0">
              <a:buNone/>
            </a:pPr>
            <a:r>
              <a:rPr lang="pl-PL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Sklep Gucci w tej samej galerii, między innymi z butami, przy których choinka to coś bardzo skromnego. Ale widać klienci są.</a:t>
            </a:r>
            <a:endParaRPr lang="pl-PL" sz="2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dirty="0"/>
          </a:p>
        </p:txBody>
      </p:sp>
      <p:pic>
        <p:nvPicPr>
          <p:cNvPr id="1025" name="Obraz 24" descr="IMG_0484">
            <a:extLst>
              <a:ext uri="{FF2B5EF4-FFF2-40B4-BE49-F238E27FC236}">
                <a16:creationId xmlns:a16="http://schemas.microsoft.com/office/drawing/2014/main" id="{EB3A56A6-A71B-4E0A-A0B5-B05BCF9A4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17" y="97655"/>
            <a:ext cx="5450890" cy="665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126D570-71ED-445A-99E7-FC71ABF88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28125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8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8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to sklep Gucci , między innymi z butami, przy kt</a:t>
            </a:r>
            <a:r>
              <a:rPr kumimoji="0" lang="pl-PL" altLang="pl-PL" sz="18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ó</a:t>
            </a:r>
            <a:r>
              <a:rPr kumimoji="0" lang="pl-PL" altLang="pl-PL" sz="18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rych choinka to coś bardzo skromnego. Ale widać klienci są.</a:t>
            </a:r>
            <a:endParaRPr kumimoji="0" lang="pl-PL" altLang="pl-P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83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DFADD06-27FA-4C5B-B624-984244160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404665"/>
            <a:ext cx="10892901" cy="61914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u="sng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Dekonsumpcja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Świadome ograniczenie konsumpcji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rozmiarów wynikających z naturalnych indywidualnych fizycznych i psychicznych potrzeb konsumenta z naciskiem na odpowiedzialne decyzje.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Postawienie na jakość życia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rozczarowanie wysoką konsumpcją, potrzebę ochrony środowiska, wzrastająca niepewność sytuacji gospodarstw domowych.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Wyrazem tego zjawiska jest 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ograniczenie konsumpcji ilościowe i strukturalne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przemiany w konsumpcji o charakterze jakościowym, wzrost usług kosztem produktów materialnych, racjonalizacja konsumpcji i zachowań konsumentów, wzrost konsumpcji wspólnej (dzielenie się).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 życia z tym związany – 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ruch dobrowolnej prostoty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voluntary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simplicity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pl-PL" sz="2400" u="sng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Dekonsumpcja</a:t>
            </a:r>
            <a:r>
              <a:rPr lang="pl-PL" sz="2400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proekologiczna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l-PL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czasie wakacji widziałam uczestników konferencji przedstawicieli firm farmaceutycznych  i lekarzy (zapewne z Ameryki Południowej lub Środkowej). Różnica w strojach i prezencji widoczna na pierwszy rzut oka . Jak sądzicie, kto nosił grube złote łańcuchy i gigantyczne złote zegarki?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023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10994-398F-44A6-98B0-DDBAFB9DC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07" y="603682"/>
            <a:ext cx="11581372" cy="5993670"/>
          </a:xfrm>
        </p:spPr>
        <p:txBody>
          <a:bodyPr/>
          <a:lstStyle/>
          <a:p>
            <a:r>
              <a:rPr lang="pl-PL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Dekonsumpcja</a:t>
            </a: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proekologiczna (</a:t>
            </a:r>
            <a:r>
              <a:rPr lang="pl-PL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ekokonsumpcja</a:t>
            </a: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)-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świadome dążenie do minimalizacji niekorzystnych skutków wynikających ze spożycia dóbr i usług konsumpcyjnych (oszczędne korzystanie z dóbr konsumpcyjnych, zastępowanie produktów nietrwałych trwałymi, nabywanie dóbr pozostawiających niewielką ilość odpadów (sklepy, gdzie można przyjść z własnymi opakowaniami Bez pudła), konsumpcja dóbr ekologicznych, niekonsumowanie dóbr z niehumanitarnych hodowli,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niewolnicznej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pracy itp.</a:t>
            </a:r>
          </a:p>
          <a:p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EF800A4-E7F3-4B6D-A8C3-4AD7318DD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3429000"/>
            <a:ext cx="7056784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9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C5AB21-479F-43A5-97D6-E0B5711BE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08720"/>
            <a:ext cx="11301540" cy="5832648"/>
          </a:xfrm>
        </p:spPr>
        <p:txBody>
          <a:bodyPr>
            <a:normAutofit/>
          </a:bodyPr>
          <a:lstStyle/>
          <a:p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Tworzenie wspólnot sieciowych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Instagram,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Tube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MySpace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fora dyskusyjne, czaty internetowe) – grupy ludzi o wspólnych zainteresowaniach, uznające podobne normy zachowań. W ten sposób tworzą się nowe relacje społeczne. Sposób przekazywania informacji, życie towarzyskie, wsparcie, poczucie przynależności i tożsamości (np. grupa matek karmiących, chorujących na celiakię, itp.). Jakie to ma wady a jakie zalety?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Mobilni konsumenci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rezygnują z tradycyjnych form komunikowania na rzecz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iMessage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tweedów,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snapów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6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2B4711C-EE54-4315-879C-8151CF682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17" y="620688"/>
            <a:ext cx="11530242" cy="5904656"/>
          </a:xfrm>
        </p:spPr>
        <p:txBody>
          <a:bodyPr>
            <a:normAutofit/>
          </a:bodyPr>
          <a:lstStyle/>
          <a:p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Konsument 24/7, </a:t>
            </a:r>
            <a:r>
              <a:rPr lang="pl-PL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scyfrowany</a:t>
            </a: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całodobowa, stała aktywność , możliwość docierania do nich o każdej porze i w każdym miejscu. Stąd przenoszenie aktywności z urządzeń stacjonarnych na mobilne (dzięki aplikacjom Allegro, OLX,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Aliexpress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Netflix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Spotify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rezerwacje biletów, banki).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Grywalizacja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Warcraft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zaangażowanie się w gry z uczestnikami społeczności wirtualnej. Rywalizacja to sposób na spędzenie czasu wolnego (złodziej czasu wolnego?).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</a:t>
            </a:r>
            <a:r>
              <a:rPr lang="pl-PL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geolokalizacji</a:t>
            </a: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śledzenie położenia wybranych osób w czasie lub względem siebie, dodawanie fotografii do znaczników, wyznaczanie adresów, tras (Google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„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jakdojade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możliwość łatwego wyszukiwania restauracji (z opiniami), obiektów turystycznych, „Janosik” 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1503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D00B76B-4E7D-40CF-92EC-E30C3B2EA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862" y="976544"/>
            <a:ext cx="11470534" cy="56208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Trysumeryzm</a:t>
            </a: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(próbowanie) – poszukiwanie doświadczeń, ułatwianie sobie życia.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Dzięki nowoczesnym technologiom  możliwe jest próbowanie, testowanie, weryfikowanie nowych produktów poprzez symulacje korzystania z nich.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Zastosowanie w kupowaniu ubrań – awatary - wirtualna przymierzalnia nasza sylwetka z wirtualnie nałożonymi wybranymi przez nas ubraniami. Czy choćby tworzenie wzorca stopy (e-obuwie). Aranżacja wnętrz (farby, meble, dodatki, ogrodów,  nanoszenie wybranych produktów na obraz z kamery konsumenta. Możliwość wirtualnego meblowania pokoi, kuchni (IKEA). Portale z recenzjami, testami produktów, konfiguratory produktów np. samochodu.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Cel – optymalne dostosowanie produktu do naszych marzeń i oczekiwań. </a:t>
            </a:r>
          </a:p>
        </p:txBody>
      </p:sp>
    </p:spTree>
    <p:extLst>
      <p:ext uri="{BB962C8B-B14F-4D97-AF65-F5344CB8AC3E}">
        <p14:creationId xmlns:p14="http://schemas.microsoft.com/office/powerpoint/2010/main" val="16988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E3A441-396C-496A-9291-DC39B8A65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27" y="1305017"/>
            <a:ext cx="10608816" cy="5436350"/>
          </a:xfrm>
        </p:spPr>
        <p:txBody>
          <a:bodyPr>
            <a:normAutofit/>
          </a:bodyPr>
          <a:lstStyle/>
          <a:p>
            <a:r>
              <a:rPr lang="pl-PL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Webrooming</a:t>
            </a: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(obecnie rosnące zainteresowanie) i showrooming –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potrzeba zawarcia jak największej liczby czynności w jak najkrótszym czasie. Oglądanie jak największej ilości produktów w sieci (bądź w sklepie) i następnie kupowanie ich w sklepie (bądź w sieci). </a:t>
            </a: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Showrooming z telefonem.</a:t>
            </a:r>
          </a:p>
          <a:p>
            <a:endParaRPr lang="pl-PL" sz="2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Awataryzacja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budowanie drugiego życia w świecie wirtualnym. Umożliwia uczestnictwo w forach internetowych, grach, portalach tematycznych (odgrywanie różnych ról), darmowy wirtualny świat „Second life”. </a:t>
            </a:r>
          </a:p>
          <a:p>
            <a:endParaRPr lang="pl-PL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pl-PL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7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FC3B61-553F-4CCA-A288-21866CF0E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819" y="260648"/>
            <a:ext cx="11596151" cy="6336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shopping,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inteligentne zakupy – racjonalne gospodarowanie pieniędzmi poprzez najkorzystniejsze zakupy niezbędnych produktów.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Zakupy w sklepach dyskontowych, nabywanie produktów pod markami własnymi handlowymi (dyskonty, hipermarkety,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outlety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sklepy online – poszukiwanie najtańszej oferty, przygotowanie się do zakupów i unikanie zakupów kompulsywnych i emocjonalnych.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Cecha osób zamożnych i wykształconych. Osoby mniej wykształcone mają problem z analizą i porównywaniem ofert i aktywnym poszukiwaniem informacji.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Trzeba śledzić promocje, wpisy na forach o oszczędzaniu (dyskusje.gwar.pl), wykorzystywać kupony rabatowe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AleRabat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Qupony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wyprzedaże (Black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Friday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Liczy się także umiejętność porównywania jakości do ceny, czyli ile max. za daną cenę mogę uzyskać korzyści (skład produktu, wartości odżywcze (aplikacja Zdrowe zakupy) walory użytkowe, koszt dojazdu do sklepu a koszt dostarczenia przesyłki, określenie opłacalności promocji (pamiętajcie że handlowcy mają w tym zakresie ogromną wiedzę i możliwości, trzeba śledzić także ceny przed „promocją”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2462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F57B2E3-9C1A-469D-85EF-7C2D5735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07" y="116631"/>
            <a:ext cx="10141274" cy="863473"/>
          </a:xfrm>
        </p:spPr>
        <p:txBody>
          <a:bodyPr>
            <a:noAutofit/>
          </a:bodyPr>
          <a:lstStyle/>
          <a:p>
            <a:pPr algn="ctr"/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Etnocentryzm i efekt kraju pochodzenia w zachowaniach konsumentów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9A6690-A20A-477F-8FA6-3894AA0F4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207" y="1124744"/>
            <a:ext cx="11150353" cy="5472608"/>
          </a:xfrm>
        </p:spPr>
        <p:txBody>
          <a:bodyPr>
            <a:no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Etnocentrycy uważają, że zakup produktów zagranicznych jest nieodpowiedni, ponieważ osłabia krajową gospodarkę, wzmaga bezrobocie – przesłanki ekonomiczne, emocjonalne i moralne – forma patriotyzmu gospodarczego w sferze konsumpcji. Przeciwieństwo – postawa </a:t>
            </a: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internacjonalistyczna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pl-PL" sz="2400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Podstawowy problem – co jest produktem krajowym?</a:t>
            </a:r>
          </a:p>
          <a:p>
            <a:pPr marL="0" indent="0">
              <a:buNone/>
            </a:pP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 dobie internacjonalizacji, globalizacji, umiędzynarodowienia firm jest to zagadnienie bardzo złożone. </a:t>
            </a:r>
          </a:p>
          <a:p>
            <a:r>
              <a:rPr lang="pl-PL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Czy przeciętny konsument jest w stanie stwierdzić czy dany produkt jest krajowy?</a:t>
            </a:r>
          </a:p>
          <a:p>
            <a:pPr marL="0" indent="0">
              <a:buNone/>
            </a:pP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Atlantic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Black Red White,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Cropp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Diverce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Esotiq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Home &amp;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Mohito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Reserved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Secret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Sinsay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Tatuum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Gino Rossi, La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Festa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Michelangelo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kto jest właścicielem tych marek?, </a:t>
            </a:r>
          </a:p>
          <a:p>
            <a:pPr marL="0" indent="0">
              <a:buNone/>
            </a:pP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Wedel (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Lotte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), Winiary (Nestle), Lajkonik (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Bahlsen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), Pudliszki (Heinz)-</a:t>
            </a:r>
            <a:endParaRPr lang="pl-PL" sz="24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12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48464D-2EEE-49F3-8632-D7CD70EFD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41" y="260648"/>
            <a:ext cx="11760573" cy="6480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z kolei marki polskie a ich właściciele?</a:t>
            </a:r>
          </a:p>
          <a:p>
            <a:pPr marL="0" indent="0">
              <a:buNone/>
            </a:pPr>
            <a:r>
              <a:rPr lang="pl-PL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Jakaś pomoc w rozpoznawaniu?</a:t>
            </a:r>
          </a:p>
          <a:p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„Teraz Polska” - firmy działające na terenie Polski</a:t>
            </a:r>
          </a:p>
          <a:p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„Najlepsze w Polsce –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in Poland” (dawniej „Dobre bo polskie”) najlepsze produkty dostępne na rynku polskim.</a:t>
            </a:r>
          </a:p>
          <a:p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Ważna może być informacja „produkt wyprodukowany w ….”,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in Poland, kraj pochodzenia.</a:t>
            </a:r>
          </a:p>
          <a:p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CSR (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Corporate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Social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– firmy zagraniczne biorące udział w tym programie informują na opakowaniach z jakiego kraju pochodzi surowiec (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Danone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). Jeronimo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Martins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informuje, jaka część sprzedawanych produktów została wyprodukowana w Polsce. Jest też aplikacja identyfikująca produkty (Pola, WspieramRynek.pl).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1269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51FEA1-3749-4FCE-BA89-95476792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508" y="246395"/>
            <a:ext cx="8856984" cy="590317"/>
          </a:xfrm>
        </p:spPr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Czynniki wpływające na stosunek do towarów importowanych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2D97F8A-F188-4365-B321-8049AD1D8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31" y="836712"/>
            <a:ext cx="11618637" cy="59046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Demograficzne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wiek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młodzi są bardziej pozytywnie nastawieni do towarów importowanych - postawy kosmopolityczne; 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płeć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kobiety częściej niż mężczyźni przejawiają postawy etnocentryczne;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Dochody?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brak jednoznacznych badań;</a:t>
            </a:r>
          </a:p>
          <a:p>
            <a:pPr marL="0" indent="0">
              <a:buNone/>
            </a:pP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Psychospołeczne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otwartość na obce kultury </a:t>
            </a:r>
            <a:r>
              <a:rPr lang="pl-P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ujemna korelacja między etnocentryzmem a otwartością na inne kultury. Brak uprzedzeń narodowościowych, kontakty z osobami innych narodowości przyczyniają się do wyeliminowania negatywnego do nich stosunku, zarówno do ludzi jak i towarów;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patriotyzm</a:t>
            </a:r>
            <a:r>
              <a:rPr lang="pl-P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rozumiany jako działanie dla dobra ojczystego kraju jest zbliżony do pojęcia etnocentryzmu, czyli skłania do postaw etnocentrycznych;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konserwatyzm</a:t>
            </a:r>
            <a:r>
              <a:rPr lang="pl-P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kultywowanie tradycji, sprzyja etnocentryzmowi;</a:t>
            </a:r>
          </a:p>
        </p:txBody>
      </p:sp>
    </p:spTree>
    <p:extLst>
      <p:ext uri="{BB962C8B-B14F-4D97-AF65-F5344CB8AC3E}">
        <p14:creationId xmlns:p14="http://schemas.microsoft.com/office/powerpoint/2010/main" val="289613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2E2F963-8D19-418A-8551-82A54F424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07" y="1580225"/>
            <a:ext cx="10795246" cy="5017126"/>
          </a:xfrm>
        </p:spPr>
        <p:txBody>
          <a:bodyPr/>
          <a:lstStyle/>
          <a:p>
            <a:pPr marL="0" indent="0">
              <a:buNone/>
            </a:pP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 czynniki 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poziom rozwoju kraju </a:t>
            </a:r>
            <a:r>
              <a:rPr lang="pl-P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-Konsumenci z krajów bardziej rozwiniętych preferują produkty krajowe. Mają też bardziej negatywne odczucia w stosunku do produktów z krajów mniej rozwiniętych. W krajach mniej rozwiniętych produkty z krajów wysokorozwiniętych są oceniane wyżej;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rodzaj produktu</a:t>
            </a:r>
            <a:r>
              <a:rPr lang="pl-P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największy etnocentryzm w stosunku do żywności. Kosmetyki – preferowane francuskie, elektronika  - japońska, samochody – niemieckie, odzież i obuwie  – zależy od kraju, w większości preferowane są krajowe, (kraje dbają o te skojarzenia, np. kontrolowanie użycia sformułowania „czekolada belgijska”) </a:t>
            </a:r>
            <a:r>
              <a:rPr lang="pl-PL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 jeśli tak , to dlaczego u nas tyle włosko brzmiących marek? 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9229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16EF91-0921-4D04-87E0-044837C78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666" y="284723"/>
            <a:ext cx="6944359" cy="623998"/>
          </a:xfrm>
        </p:spPr>
        <p:txBody>
          <a:bodyPr>
            <a:normAutofit/>
          </a:bodyPr>
          <a:lstStyle/>
          <a:p>
            <a:r>
              <a:rPr lang="pl-PL" sz="31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Efekt kraju pochodzenia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3AE1DDA-B6C2-42B9-8B39-6265EDDB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96" y="994298"/>
            <a:ext cx="11709966" cy="5675061"/>
          </a:xfrm>
        </p:spPr>
        <p:txBody>
          <a:bodyPr/>
          <a:lstStyle/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Stereotypy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kształtowane przez proces indywidualnego postrzegania świata – indywidualne obserwacje, doświadczenia, wpływ osób z najbliższego otoczenia. Jest to uproszczony, zabarwiony emocjonalnie obraz rzeczywistości.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 kształtowana jest też opinia na temat produktów pochodzących z poszczególnych krajów (pozytywna, neutralna i negatywna).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Przykłady: Szwajcaria –zegarki, sery, czekolada, Niemcy -samochody, chemia gospodarcza, piwo,  Francja- perfumy, wino, sery, szampan, Włochy –buty, torebki, pizza, makaron, oliwa, lody, Belgia – czekolada, Holandia – sery, kwiaty, Japonia – elektronika, aparaty fotograficzne, USA – hamburgery, duże samochody, ketchup. (efekt „ciężkiej pracy”)</a:t>
            </a:r>
          </a:p>
          <a:p>
            <a:pPr marL="0" indent="0">
              <a:buNone/>
            </a:pP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Skąd się to bierze?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Przez lata kraje specjalizowały się w produkcji określonych dóbr. 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411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501452-966E-4F48-A071-CF380C30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59" y="320819"/>
            <a:ext cx="9435004" cy="700005"/>
          </a:xfrm>
        </p:spPr>
        <p:txBody>
          <a:bodyPr>
            <a:noAutofit/>
          </a:bodyPr>
          <a:lstStyle/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Rodzaje zachowań konsumentów z tego punktu widzenia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3702D8-8E1C-4C5D-92CC-9AB0C0024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07" y="1349406"/>
            <a:ext cx="11209042" cy="5391962"/>
          </a:xfrm>
        </p:spPr>
        <p:txBody>
          <a:bodyPr>
            <a:normAutofit/>
          </a:bodyPr>
          <a:lstStyle/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Efekt „halo”-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nigdy nie nabywali tych produktów ale mają ogólną wiedzę, przekonania, skojarzenia. Jak się zachowa: kupi produkt z danego kraju, ale 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przy następnym zakupie już nie będzie to kryterium wyboru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albo, mając już dużą wiedzę i doświadczenie, przy zakupie nowego produktu będzie się na pewno kierował krajem pochodzenia.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Mechanizmy afektywne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kraj wywołuje pewne emocje (pozytywne albo negatywne). Mechanizmy te nie zmieniają się stopniowo, jak w poprzednim przypadku, ale radykalnie (pod wpływem informacji czy plotki) – mogą wywołać nieracjonalne decyzje zakupowe.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Mechanizmy normatywne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zakup produktu z danego kraju uzależniony jest od wpływów społecznych, mody, bojkotu związanego z jakimś wydarzeniem.</a:t>
            </a:r>
          </a:p>
        </p:txBody>
      </p:sp>
    </p:spTree>
    <p:extLst>
      <p:ext uri="{BB962C8B-B14F-4D97-AF65-F5344CB8AC3E}">
        <p14:creationId xmlns:p14="http://schemas.microsoft.com/office/powerpoint/2010/main" val="138454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CC72BC-4826-4EA7-965F-74A98472C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697" y="985420"/>
            <a:ext cx="11017188" cy="5683939"/>
          </a:xfrm>
        </p:spPr>
        <p:txBody>
          <a:bodyPr/>
          <a:lstStyle/>
          <a:p>
            <a:pPr marL="0" indent="0">
              <a:buNone/>
            </a:pPr>
            <a:r>
              <a:rPr lang="pl-PL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Ale…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 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produkty nie muszą być tak dobre jak kiedyś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danym  krajem może je łączyć tylko metka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 dobie globalizacji, ekspansji firm poza kraje macierzyste, poszukiwania możliwości obniżki kosztów.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odróżnić - „</a:t>
            </a:r>
            <a:r>
              <a:rPr lang="pl-PL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– wyraźnie odnotowane, gdy produkt łączy się pozytywnie z danym krajem, obecnie wiele firm nie podaje kraju tylko region, np. </a:t>
            </a:r>
            <a:r>
              <a:rPr lang="pl-PL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Europe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Czasami zamiast „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China” jest „</a:t>
            </a:r>
            <a:r>
              <a:rPr lang="pl-PL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PRC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–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People’s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Republic of China. Często mamy do czynienia z 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produktami hybrydowymi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Boeing ma części produkowane w 47 krajach, to samo jest z samochodami. 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Marki często zmieniają właścicieli – co wtedy z identyfikacją produktów. Nazwy marek często wprowadzają konsumentów w błąd.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2192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AEED83-B74C-4C22-8784-42EECD5B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260648"/>
            <a:ext cx="7994849" cy="538342"/>
          </a:xfrm>
        </p:spPr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Identyfikacja kraju pochodzenia w strategii produktu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3D298F-16CF-4DFF-80A4-C4549920B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453" y="798990"/>
            <a:ext cx="11274640" cy="5870369"/>
          </a:xfrm>
        </p:spPr>
        <p:txBody>
          <a:bodyPr>
            <a:noAutofit/>
          </a:bodyPr>
          <a:lstStyle/>
          <a:p>
            <a:pPr algn="just"/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Korzystne dopasowanie kraju pochodzenia i produktu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 strategii istotny jest produkt i kraj – 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brzmienie marki ułatwia podjęcie decyzji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wzmacniane to jest dodatkowo przez kompozycje reklam, np. Volkswagen (samochód dla ludu) a w reklamach dodatkowo „Das Auto”, Lufthansa,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Octoberfest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nazwy niemieckich marek piwa (długoletnia historia i tradycje). Marka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Swatch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l-PL" sz="2400" strike="sngStrik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wiss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watch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także w symbolu marki barwy narodowe. W markach włoskich i francuskich często wykorzystuje się nazwy założycieli (Chanel,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Ricci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Guerlain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Luigi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Borrelli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Frateli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Rossetti).</a:t>
            </a:r>
          </a:p>
          <a:p>
            <a:pPr algn="just"/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Niekorzystne dopasowanie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eksponuje się produkt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Jak zaradzić temu, że kraj nieodpowiednio się kojarzy – umieścić na opakowaniu (np. niemieckich perfum) miasta, w których chcielibyśmy spędzić czarowne chwile – Paryż, Nowy Jork. Chińczycy nadają swoim markom obce nazwy, do złudzenia przypominające znane marki (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Chrisdien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marka sklepów przypominająca markę Christian Dior, Coco Deal,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Adidos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Hike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Fuma). W Polsce także jest mnogość takich przykładów: Gino Rossi (obuwie i galanteria skórzana),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Lancerto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(odzież),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Americanos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(odzież dżinsowa),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Bierhalle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(piwiarnia), Sir Roger (herbata). </a:t>
            </a:r>
          </a:p>
        </p:txBody>
      </p:sp>
    </p:spTree>
    <p:extLst>
      <p:ext uri="{BB962C8B-B14F-4D97-AF65-F5344CB8AC3E}">
        <p14:creationId xmlns:p14="http://schemas.microsoft.com/office/powerpoint/2010/main" val="57213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06CCD3-4F08-4035-B316-D4DECC38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4" y="229485"/>
            <a:ext cx="10093910" cy="507362"/>
          </a:xfrm>
        </p:spPr>
        <p:txBody>
          <a:bodyPr>
            <a:normAutofit/>
          </a:bodyPr>
          <a:lstStyle/>
          <a:p>
            <a:r>
              <a:rPr lang="pl-PL" sz="2400" dirty="0"/>
              <a:t>Identyfikacja kraju pochodzenia w strategii promocji - przykłady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B9924E-1A65-4826-BA47-84B890F0D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31" y="621437"/>
            <a:ext cx="11913833" cy="6007079"/>
          </a:xfrm>
        </p:spPr>
        <p:txBody>
          <a:bodyPr>
            <a:no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Kampania Lidla „Najlepsze z Polski. Najlepsze z Europy” – zwrócenie uwagi na produkty z różnych krajów. Osoby ubrane w koszulki z flagami trzymają „flagowe”  produkty z tych krajów. Reklama pokazująca dostawców świeżych warzyw i owoców z Polski.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Reklamy Milki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sz="1800" dirty="0" err="1"/>
              <a:t>Mondelēz</a:t>
            </a:r>
            <a:r>
              <a:rPr lang="pl-PL" sz="1800" dirty="0"/>
              <a:t> International (USA) właściciel marek: Milka, </a:t>
            </a:r>
            <a:r>
              <a:rPr lang="pl-PL" sz="1800" dirty="0" err="1"/>
              <a:t>Oreo</a:t>
            </a:r>
            <a:r>
              <a:rPr lang="pl-PL" sz="1800" dirty="0"/>
              <a:t>, Delicje, Prince Polo, </a:t>
            </a:r>
            <a:r>
              <a:rPr lang="pl-PL" sz="1800" dirty="0" err="1"/>
              <a:t>belVita</a:t>
            </a:r>
            <a:r>
              <a:rPr lang="pl-PL" sz="1800" dirty="0"/>
              <a:t>, </a:t>
            </a:r>
            <a:r>
              <a:rPr lang="pl-PL" sz="1800" dirty="0" err="1"/>
              <a:t>Halls</a:t>
            </a:r>
            <a:r>
              <a:rPr lang="pl-PL" sz="1800" dirty="0"/>
              <a:t>, </a:t>
            </a:r>
            <a:r>
              <a:rPr lang="pl-PL" sz="1800" dirty="0" err="1"/>
              <a:t>Alpen</a:t>
            </a:r>
            <a:r>
              <a:rPr lang="pl-PL" sz="1800" dirty="0"/>
              <a:t> Gold, </a:t>
            </a:r>
            <a:r>
              <a:rPr lang="pl-PL" sz="1800" dirty="0" err="1"/>
              <a:t>Lubisie</a:t>
            </a:r>
            <a:r>
              <a:rPr lang="pl-PL" sz="1800" dirty="0"/>
              <a:t>, </a:t>
            </a:r>
            <a:r>
              <a:rPr lang="pl-PL" sz="1800" dirty="0" err="1"/>
              <a:t>Cadbury</a:t>
            </a:r>
            <a:r>
              <a:rPr lang="pl-PL" dirty="0"/>
              <a:t>)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Lindt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(flaga, kolorystyka, krajobrazy, hasło „Kunszt Szwajcarskich Mistrzów czekolady od 1845 roku). 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Seat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hasło „Auto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emocion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Niemiecka precyzja. Hiszpański temperament” emocje i gwarancje bezpieczeństwa.</a:t>
            </a:r>
          </a:p>
          <a:p>
            <a:r>
              <a:rPr lang="pl-PL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Neutrogena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formuła norweska , pokazuje rybaków, którym wysychają ręce, na opakowaniach flaga norweska (Jest to marka amerykańska , należąca do koncernu Johnson &amp;Johnson)</a:t>
            </a:r>
          </a:p>
          <a:p>
            <a:r>
              <a:rPr lang="pl-PL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Marka Malma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też usilnie buduje skojarzenia z Włochami a powstała jako skrót nazwy Malborskie Makarony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Dla współczesnych konsumentów coraz mniej istotny jest kraj pochodzenia produktu a coraz bardziej istotna marka i rynek, z którym się ona kojarzy.</a:t>
            </a:r>
          </a:p>
        </p:txBody>
      </p:sp>
    </p:spTree>
    <p:extLst>
      <p:ext uri="{BB962C8B-B14F-4D97-AF65-F5344CB8AC3E}">
        <p14:creationId xmlns:p14="http://schemas.microsoft.com/office/powerpoint/2010/main" val="125146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BDC800-F7E7-46DB-8C0C-25A1F24D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C194D8B-6E02-442F-BA29-E87689CA8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4000" dirty="0"/>
              <a:t>Gdzie zarejestrowana jest IKEA?</a:t>
            </a:r>
          </a:p>
        </p:txBody>
      </p:sp>
    </p:spTree>
    <p:extLst>
      <p:ext uri="{BB962C8B-B14F-4D97-AF65-F5344CB8AC3E}">
        <p14:creationId xmlns:p14="http://schemas.microsoft.com/office/powerpoint/2010/main" val="425591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BDC800-F7E7-46DB-8C0C-25A1F24D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C194D8B-6E02-442F-BA29-E87689CA8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4000" dirty="0"/>
              <a:t>Gdzie zarejestrowana jest IKEA?</a:t>
            </a:r>
          </a:p>
          <a:p>
            <a:r>
              <a:rPr lang="pl-PL" sz="2400" dirty="0"/>
              <a:t>Wszystkie spółki tworzące grupę IKEA, należą do holenderskiego koncernu INGKA Holding, którego właścicielem jest fundacja </a:t>
            </a:r>
            <a:r>
              <a:rPr lang="pl-PL" sz="2400" dirty="0" err="1"/>
              <a:t>Stichting</a:t>
            </a:r>
            <a:r>
              <a:rPr lang="pl-PL" sz="2400" dirty="0"/>
              <a:t> INGKA, utworzona w 1982 r. przez </a:t>
            </a:r>
            <a:r>
              <a:rPr lang="pl-PL" sz="2400" dirty="0" err="1"/>
              <a:t>Kamprada</a:t>
            </a:r>
            <a:r>
              <a:rPr lang="pl-PL" sz="2400" dirty="0"/>
              <a:t> z przyczyn podatkowych w Holandii</a:t>
            </a:r>
            <a:r>
              <a:rPr lang="pl-PL" dirty="0"/>
              <a:t>.</a:t>
            </a:r>
          </a:p>
          <a:p>
            <a:r>
              <a:rPr lang="pl-PL" dirty="0"/>
              <a:t>Fundacja jest właścicielem prywatnej holenderskiej firmy </a:t>
            </a:r>
            <a:r>
              <a:rPr lang="pl-PL" b="1" dirty="0"/>
              <a:t>INGKA Holding</a:t>
            </a:r>
            <a:r>
              <a:rPr lang="pl-PL" dirty="0"/>
              <a:t> z siedzibą w Lejdzie, która jest spółką holdingową kontrolującą 372 z 432 punktów sprzedaży IKEA</a:t>
            </a:r>
            <a:endParaRPr lang="pl-PL" sz="4000" dirty="0"/>
          </a:p>
        </p:txBody>
      </p:sp>
    </p:spTree>
    <p:extLst>
      <p:ext uri="{BB962C8B-B14F-4D97-AF65-F5344CB8AC3E}">
        <p14:creationId xmlns:p14="http://schemas.microsoft.com/office/powerpoint/2010/main" val="361771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zczotkowany metal 16:9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892164_TF03030981" id="{1F19E397-F10F-406F-94E9-3563861A0F8B}" vid="{FC365D46-1DA3-4AD3-8886-D3F2D76A9334}"/>
    </a:ext>
  </a:extLst>
</a:theme>
</file>

<file path=ppt/theme/theme2.xml><?xml version="1.0" encoding="utf-8"?>
<a:theme xmlns:a="http://schemas.openxmlformats.org/drawingml/2006/main" name="Motyw pakietu Office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5751366F6FAB24EBDBA54FDEC967C89" ma:contentTypeVersion="3" ma:contentTypeDescription="Utwórz nowy dokument." ma:contentTypeScope="" ma:versionID="40a4eb093616ec0d76824afdbd5ad50d">
  <xsd:schema xmlns:xsd="http://www.w3.org/2001/XMLSchema" xmlns:xs="http://www.w3.org/2001/XMLSchema" xmlns:p="http://schemas.microsoft.com/office/2006/metadata/properties" xmlns:ns2="741891a7-a7c1-4fac-a704-7a5a6007da7d" targetNamespace="http://schemas.microsoft.com/office/2006/metadata/properties" ma:root="true" ma:fieldsID="b42af1c4da6c96532fe8e37d255ab87c" ns2:_="">
    <xsd:import namespace="741891a7-a7c1-4fac-a704-7a5a6007da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1891a7-a7c1-4fac-a704-7a5a6007da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C05A15-2C36-4B2C-9ED7-7313D59409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A16170-AED4-43FB-90C7-1F1653EBFACC}">
  <ds:schemaRefs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40262f94-9f35-4ac3-9a90-690165a166b7"/>
    <ds:schemaRef ds:uri="http://schemas.microsoft.com/office/infopath/2007/PartnerControls"/>
    <ds:schemaRef ds:uri="http://schemas.openxmlformats.org/package/2006/metadata/core-properties"/>
    <ds:schemaRef ds:uri="a4f35948-e619-41b3-aa29-22878b09cfd2"/>
  </ds:schemaRefs>
</ds:datastoreItem>
</file>

<file path=customXml/itemProps3.xml><?xml version="1.0" encoding="utf-8"?>
<ds:datastoreItem xmlns:ds="http://schemas.openxmlformats.org/officeDocument/2006/customXml" ds:itemID="{1C7BABB7-7B90-4B59-B0A3-FD944A905C17}"/>
</file>

<file path=docProps/app.xml><?xml version="1.0" encoding="utf-8"?>
<Properties xmlns="http://schemas.openxmlformats.org/officeDocument/2006/extended-properties" xmlns:vt="http://schemas.openxmlformats.org/officeDocument/2006/docPropsVTypes">
  <Template>Prezentacja z wzorem zielonego szczotkowanego metalu (panoramiczna)</Template>
  <TotalTime>3297</TotalTime>
  <Words>5375</Words>
  <Application>Microsoft Office PowerPoint</Application>
  <PresentationFormat>Panoramiczny</PresentationFormat>
  <Paragraphs>361</Paragraphs>
  <Slides>59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59</vt:i4>
      </vt:variant>
    </vt:vector>
  </HeadingPairs>
  <TitlesOfParts>
    <vt:vector size="65" baseType="lpstr">
      <vt:lpstr>Arial</vt:lpstr>
      <vt:lpstr>Calibri</vt:lpstr>
      <vt:lpstr>Georgia</vt:lpstr>
      <vt:lpstr>Times New Roman</vt:lpstr>
      <vt:lpstr>Wingdings</vt:lpstr>
      <vt:lpstr>Szczotkowany metal 16:9</vt:lpstr>
      <vt:lpstr>Temat 3 Zachowania nabywców</vt:lpstr>
      <vt:lpstr>Proces dokonania zakupu i jego ocena</vt:lpstr>
      <vt:lpstr>Typologia decyzji konsumentów</vt:lpstr>
      <vt:lpstr>Zachowania nabywcy</vt:lpstr>
      <vt:lpstr>Zachowania nabywcy</vt:lpstr>
      <vt:lpstr>Zachowania nabywcy</vt:lpstr>
      <vt:lpstr>Racjonalne czy emocjonalne?</vt:lpstr>
      <vt:lpstr>Prezentacja programu PowerPoint</vt:lpstr>
      <vt:lpstr>Prezentacja programu PowerPoint</vt:lpstr>
      <vt:lpstr>Prezentacja programu PowerPoint</vt:lpstr>
      <vt:lpstr>Prezentacja programu PowerPoint</vt:lpstr>
      <vt:lpstr>Kształtowanie procesu podejmowania decyzji zakupu wiąże się z czynnikami:</vt:lpstr>
      <vt:lpstr>1. Czynniki psychologiczne</vt:lpstr>
      <vt:lpstr>Czynniki psychologiczne</vt:lpstr>
      <vt:lpstr>Teoria motywacji Freuda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Teoria motywacji Herzberga</vt:lpstr>
      <vt:lpstr>Prezentacja programu PowerPoint</vt:lpstr>
      <vt:lpstr>Podsumowując: postrzeganie (percepcja)</vt:lpstr>
      <vt:lpstr>Prezentacja programu PowerPoint</vt:lpstr>
      <vt:lpstr>pojęcia związane:  próg wrażliwości na bodźce</vt:lpstr>
      <vt:lpstr>Prezentacja programu PowerPoint</vt:lpstr>
      <vt:lpstr>Prezentacja programu PowerPoint</vt:lpstr>
      <vt:lpstr>Prezentacja programu PowerPoint</vt:lpstr>
      <vt:lpstr>Czynniki ekonomiczne</vt:lpstr>
      <vt:lpstr>Dochody nabywców</vt:lpstr>
      <vt:lpstr>Prezentacja programu PowerPoint</vt:lpstr>
      <vt:lpstr>Prezentacja programu PowerPoint</vt:lpstr>
      <vt:lpstr>Prezentacja programu PowerPoint</vt:lpstr>
      <vt:lpstr>Innowacje społeczne w konsumpcji XXI w.</vt:lpstr>
      <vt:lpstr>Innowacje w konsumpcji</vt:lpstr>
      <vt:lpstr>Prezentacja programu PowerPoint</vt:lpstr>
      <vt:lpstr>Prezentacja programu PowerPoint</vt:lpstr>
      <vt:lpstr>Prezentacja programu PowerPoint</vt:lpstr>
      <vt:lpstr>Trendy w zachowaniach współczesnych konsumentów</vt:lpstr>
      <vt:lpstr>A oto jeden ze sklepów w galerii handlowej w Dubaju, The Dubai Mall, a w nim róże zakonserwowane specjalnymi chemikaliami. Gwarantowana „nieśmiertelność”. Cena przystępna – od 150$ za szt.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Etnocentryzm i efekt kraju pochodzenia w zachowaniach konsumentów</vt:lpstr>
      <vt:lpstr>Prezentacja programu PowerPoint</vt:lpstr>
      <vt:lpstr>Czynniki wpływające na stosunek do towarów importowanych</vt:lpstr>
      <vt:lpstr>Prezentacja programu PowerPoint</vt:lpstr>
      <vt:lpstr>Efekt kraju pochodzenia</vt:lpstr>
      <vt:lpstr>Rodzaje zachowań konsumentów z tego punktu widzenia</vt:lpstr>
      <vt:lpstr>Prezentacja programu PowerPoint</vt:lpstr>
      <vt:lpstr>Identyfikacja kraju pochodzenia w strategii produktu</vt:lpstr>
      <vt:lpstr>Identyfikacja kraju pochodzenia w strategii promocji - przykłady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Temat 6 Zachowania nabywców</dc:title>
  <dc:creator>user</dc:creator>
  <cp:lastModifiedBy>Anna Olszańska</cp:lastModifiedBy>
  <cp:revision>30</cp:revision>
  <dcterms:created xsi:type="dcterms:W3CDTF">2020-03-30T09:08:17Z</dcterms:created>
  <dcterms:modified xsi:type="dcterms:W3CDTF">2026-04-11T10:42:07Z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0x010100F5751366F6FAB24EBDBA54FDEC967C89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