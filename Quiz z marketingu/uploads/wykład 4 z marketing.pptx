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drawings/drawing1.xml" ContentType="application/vnd.openxmlformats-officedocument.drawingml.chartshapes+xml"/>
  <Override PartName="/ppt/drawings/drawing2.xml" ContentType="application/vnd.openxmlformats-officedocument.drawingml.chartshapes+xml"/>
  <Override PartName="/ppt/presentation.xml" ContentType="application/vnd.openxmlformats-officedocument.presentationml.presentation.main+xml"/>
  <Override PartName="/ppt/slides/slide34.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33.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Masters/slideMaster1.xml" ContentType="application/vnd.openxmlformats-officedocument.presentationml.slideMaster+xml"/>
  <Override PartName="/ppt/slideLayouts/slideLayout17.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6.xml" ContentType="application/vnd.openxmlformats-officedocument.presentationml.slideLayout+xml"/>
  <Override PartName="/ppt/notesSlides/notesSlide1.xml" ContentType="application/vnd.openxmlformats-officedocument.presentationml.notesSlide+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4.xml" ContentType="application/vnd.openxmlformats-officedocument.presentationml.slideLayout+xml"/>
  <Override PartName="/ppt/slideLayouts/slideLayout1.xml" ContentType="application/vnd.openxmlformats-officedocument.presentationml.slideLayout+xml"/>
  <Override PartName="/ppt/slideLayouts/slideLayout5.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charts/colors2.xml" ContentType="application/vnd.ms-office.chartcolorstyle+xml"/>
  <Override PartName="/ppt/charts/chart4.xml" ContentType="application/vnd.openxmlformats-officedocument.drawingml.chart+xml"/>
  <Override PartName="/ppt/charts/chart5.xml" ContentType="application/vnd.openxmlformats-officedocument.drawingml.chart+xml"/>
  <Override PartName="/ppt/commentAuthors.xml" ContentType="application/vnd.openxmlformats-officedocument.presentationml.commentAuthors+xml"/>
  <Override PartName="/ppt/charts/chart3.xml" ContentType="application/vnd.openxmlformats-officedocument.drawingml.chart+xml"/>
  <Override PartName="/ppt/charts/style2.xml" ContentType="application/vnd.ms-office.chartstyle+xml"/>
  <Override PartName="/ppt/charts/colors1.xml" ContentType="application/vnd.ms-office.chartcolorstyle+xml"/>
  <Override PartName="/ppt/theme/theme2.xml" ContentType="application/vnd.openxmlformats-officedocument.theme+xml"/>
  <Override PartName="/ppt/charts/style1.xml" ContentType="application/vnd.ms-office.chartstyle+xml"/>
  <Override PartName="/ppt/charts/chart1.xml" ContentType="application/vnd.openxmlformats-officedocument.drawingml.chart+xml"/>
  <Override PartName="/ppt/charts/chart2.xml" ContentType="application/vnd.openxmlformats-officedocument.drawingml.chart+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6"/>
  </p:notesMasterIdLst>
  <p:sldIdLst>
    <p:sldId id="356" r:id="rId2"/>
    <p:sldId id="357" r:id="rId3"/>
    <p:sldId id="369" r:id="rId4"/>
    <p:sldId id="370" r:id="rId5"/>
    <p:sldId id="358" r:id="rId6"/>
    <p:sldId id="359" r:id="rId7"/>
    <p:sldId id="360" r:id="rId8"/>
    <p:sldId id="361" r:id="rId9"/>
    <p:sldId id="362" r:id="rId10"/>
    <p:sldId id="363" r:id="rId11"/>
    <p:sldId id="376" r:id="rId12"/>
    <p:sldId id="387" r:id="rId13"/>
    <p:sldId id="388" r:id="rId14"/>
    <p:sldId id="377" r:id="rId15"/>
    <p:sldId id="390" r:id="rId16"/>
    <p:sldId id="393" r:id="rId17"/>
    <p:sldId id="391" r:id="rId18"/>
    <p:sldId id="392" r:id="rId19"/>
    <p:sldId id="394" r:id="rId20"/>
    <p:sldId id="395" r:id="rId21"/>
    <p:sldId id="396" r:id="rId22"/>
    <p:sldId id="364" r:id="rId23"/>
    <p:sldId id="365" r:id="rId24"/>
    <p:sldId id="366" r:id="rId25"/>
    <p:sldId id="367" r:id="rId26"/>
    <p:sldId id="384" r:id="rId27"/>
    <p:sldId id="372" r:id="rId28"/>
    <p:sldId id="373" r:id="rId29"/>
    <p:sldId id="374" r:id="rId30"/>
    <p:sldId id="385" r:id="rId31"/>
    <p:sldId id="544" r:id="rId32"/>
    <p:sldId id="543" r:id="rId33"/>
    <p:sldId id="378" r:id="rId34"/>
    <p:sldId id="379"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user" initials="u" lastIdx="0" clrIdx="0">
    <p:extLst>
      <p:ext uri="{19B8F6BF-5375-455C-9EA6-DF929625EA0E}">
        <p15:presenceInfo xmlns:p15="http://schemas.microsoft.com/office/powerpoint/2012/main" userId="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39" y="35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customXml" Target="../customXml/item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customXml" Target="../customXml/item2.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rts/_rels/chart1.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oleObject" Target="../embeddings/oleObject1.bin"/><Relationship Id="rId2" Type="http://schemas.microsoft.com/office/2011/relationships/chartColorStyle" Target="colors1.xml"/><Relationship Id="rId1" Type="http://schemas.microsoft.com/office/2011/relationships/chartStyle" Target="style1.xml"/></Relationships>
</file>

<file path=ppt/charts/_rels/chart3.xml.rels><?xml version="1.0" encoding="UTF-8" standalone="yes"?>
<Relationships xmlns="http://schemas.openxmlformats.org/package/2006/relationships"><Relationship Id="rId3" Type="http://schemas.openxmlformats.org/officeDocument/2006/relationships/oleObject" Target="../embeddings/oleObject2.bin"/><Relationship Id="rId2" Type="http://schemas.microsoft.com/office/2011/relationships/chartColorStyle" Target="colors2.xml"/><Relationship Id="rId1" Type="http://schemas.microsoft.com/office/2011/relationships/chartStyle" Target="style2.xml"/></Relationships>
</file>

<file path=ppt/charts/_rels/chart4.xml.rels><?xml version="1.0" encoding="UTF-8" standalone="yes"?>
<Relationships xmlns="http://schemas.openxmlformats.org/package/2006/relationships"><Relationship Id="rId2" Type="http://schemas.openxmlformats.org/officeDocument/2006/relationships/chartUserShapes" Target="../drawings/drawing2.xml"/><Relationship Id="rId1" Type="http://schemas.openxmlformats.org/officeDocument/2006/relationships/package" Target="../embeddings/Microsoft_Excel_Worksheet1.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l-PL"/>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5.822583114610675E-2"/>
          <c:y val="0.12130723242927967"/>
          <c:w val="0.93554046369203847"/>
          <c:h val="0.66800918635170603"/>
        </c:manualLayout>
      </c:layout>
      <c:barChart>
        <c:barDir val="col"/>
        <c:grouping val="clustered"/>
        <c:varyColors val="0"/>
        <c:ser>
          <c:idx val="0"/>
          <c:order val="0"/>
          <c:tx>
            <c:strRef>
              <c:f>Arkusz1!$DD$295</c:f>
              <c:strCache>
                <c:ptCount val="1"/>
                <c:pt idx="0">
                  <c:v>1miejsce</c:v>
                </c:pt>
              </c:strCache>
            </c:strRef>
          </c:tx>
          <c:spPr>
            <a:solidFill>
              <a:schemeClr val="tx2">
                <a:lumMod val="50000"/>
              </a:schemeClr>
            </a:solidFill>
            <a:ln w="12700">
              <a:solidFill>
                <a:srgbClr val="000000"/>
              </a:solidFill>
              <a:prstDash val="solid"/>
            </a:ln>
          </c:spPr>
          <c:invertIfNegative val="0"/>
          <c:cat>
            <c:strRef>
              <c:f>Arkusz1!$DE$294:$DN$294</c:f>
              <c:strCache>
                <c:ptCount val="10"/>
                <c:pt idx="0">
                  <c:v>Aquafresh</c:v>
                </c:pt>
                <c:pt idx="1">
                  <c:v>blen-a-med.</c:v>
                </c:pt>
                <c:pt idx="2">
                  <c:v>colgate</c:v>
                </c:pt>
                <c:pt idx="3">
                  <c:v>clinomyn</c:v>
                </c:pt>
                <c:pt idx="4">
                  <c:v>colodent</c:v>
                </c:pt>
                <c:pt idx="5">
                  <c:v>elmex</c:v>
                </c:pt>
                <c:pt idx="6">
                  <c:v>fluorodent</c:v>
                </c:pt>
                <c:pt idx="7">
                  <c:v>sensodyne</c:v>
                </c:pt>
                <c:pt idx="8">
                  <c:v>signal</c:v>
                </c:pt>
                <c:pt idx="9">
                  <c:v>inne</c:v>
                </c:pt>
              </c:strCache>
            </c:strRef>
          </c:cat>
          <c:val>
            <c:numRef>
              <c:f>Arkusz1!$DE$295:$DN$295</c:f>
              <c:numCache>
                <c:formatCode>0.0</c:formatCode>
                <c:ptCount val="10"/>
                <c:pt idx="0">
                  <c:v>12.307692307692308</c:v>
                </c:pt>
                <c:pt idx="1">
                  <c:v>43.07692307692308</c:v>
                </c:pt>
                <c:pt idx="2">
                  <c:v>20.384615384615383</c:v>
                </c:pt>
                <c:pt idx="3">
                  <c:v>1.153846153846154</c:v>
                </c:pt>
                <c:pt idx="4">
                  <c:v>4.6153846153846159</c:v>
                </c:pt>
                <c:pt idx="5">
                  <c:v>7.6923076923076925</c:v>
                </c:pt>
                <c:pt idx="6">
                  <c:v>0.38461538461538464</c:v>
                </c:pt>
                <c:pt idx="7">
                  <c:v>2.6923076923076925</c:v>
                </c:pt>
                <c:pt idx="8">
                  <c:v>1.153846153846154</c:v>
                </c:pt>
                <c:pt idx="9">
                  <c:v>2.6923076923076925</c:v>
                </c:pt>
              </c:numCache>
            </c:numRef>
          </c:val>
          <c:extLst>
            <c:ext xmlns:c16="http://schemas.microsoft.com/office/drawing/2014/chart" uri="{C3380CC4-5D6E-409C-BE32-E72D297353CC}">
              <c16:uniqueId val="{00000000-DB73-4ECF-9BC6-16981D5026C9}"/>
            </c:ext>
          </c:extLst>
        </c:ser>
        <c:ser>
          <c:idx val="1"/>
          <c:order val="1"/>
          <c:tx>
            <c:strRef>
              <c:f>Arkusz1!$DD$296</c:f>
              <c:strCache>
                <c:ptCount val="1"/>
                <c:pt idx="0">
                  <c:v>2 miejsce</c:v>
                </c:pt>
              </c:strCache>
            </c:strRef>
          </c:tx>
          <c:spPr>
            <a:gradFill flip="none" rotWithShape="1">
              <a:gsLst>
                <a:gs pos="0">
                  <a:schemeClr val="accent5">
                    <a:lumMod val="50000"/>
                    <a:shade val="30000"/>
                    <a:satMod val="115000"/>
                  </a:schemeClr>
                </a:gs>
                <a:gs pos="50000">
                  <a:schemeClr val="accent5">
                    <a:lumMod val="50000"/>
                    <a:shade val="67500"/>
                    <a:satMod val="115000"/>
                  </a:schemeClr>
                </a:gs>
                <a:gs pos="100000">
                  <a:schemeClr val="accent5">
                    <a:lumMod val="50000"/>
                    <a:shade val="100000"/>
                    <a:satMod val="115000"/>
                  </a:schemeClr>
                </a:gs>
              </a:gsLst>
              <a:lin ang="0" scaled="1"/>
              <a:tileRect/>
            </a:gradFill>
            <a:ln w="12700">
              <a:solidFill>
                <a:srgbClr val="000000"/>
              </a:solidFill>
              <a:prstDash val="solid"/>
            </a:ln>
          </c:spPr>
          <c:invertIfNegative val="0"/>
          <c:cat>
            <c:strRef>
              <c:f>Arkusz1!$DE$294:$DN$294</c:f>
              <c:strCache>
                <c:ptCount val="10"/>
                <c:pt idx="0">
                  <c:v>Aquafresh</c:v>
                </c:pt>
                <c:pt idx="1">
                  <c:v>blen-a-med.</c:v>
                </c:pt>
                <c:pt idx="2">
                  <c:v>colgate</c:v>
                </c:pt>
                <c:pt idx="3">
                  <c:v>clinomyn</c:v>
                </c:pt>
                <c:pt idx="4">
                  <c:v>colodent</c:v>
                </c:pt>
                <c:pt idx="5">
                  <c:v>elmex</c:v>
                </c:pt>
                <c:pt idx="6">
                  <c:v>fluorodent</c:v>
                </c:pt>
                <c:pt idx="7">
                  <c:v>sensodyne</c:v>
                </c:pt>
                <c:pt idx="8">
                  <c:v>signal</c:v>
                </c:pt>
                <c:pt idx="9">
                  <c:v>inne</c:v>
                </c:pt>
              </c:strCache>
            </c:strRef>
          </c:cat>
          <c:val>
            <c:numRef>
              <c:f>Arkusz1!$DE$296:$DN$296</c:f>
              <c:numCache>
                <c:formatCode>0.0</c:formatCode>
                <c:ptCount val="10"/>
                <c:pt idx="0">
                  <c:v>13.846153846153847</c:v>
                </c:pt>
                <c:pt idx="1">
                  <c:v>23.076923076923077</c:v>
                </c:pt>
                <c:pt idx="2">
                  <c:v>20</c:v>
                </c:pt>
                <c:pt idx="3">
                  <c:v>1.9230769230769231</c:v>
                </c:pt>
                <c:pt idx="4">
                  <c:v>5.384615384615385</c:v>
                </c:pt>
                <c:pt idx="5">
                  <c:v>6.5384615384615392</c:v>
                </c:pt>
                <c:pt idx="6">
                  <c:v>0.76923076923076927</c:v>
                </c:pt>
                <c:pt idx="7">
                  <c:v>3.4615384615384617</c:v>
                </c:pt>
                <c:pt idx="8">
                  <c:v>9.6153846153846168</c:v>
                </c:pt>
                <c:pt idx="9">
                  <c:v>0.76923076923076927</c:v>
                </c:pt>
              </c:numCache>
            </c:numRef>
          </c:val>
          <c:extLst>
            <c:ext xmlns:c16="http://schemas.microsoft.com/office/drawing/2014/chart" uri="{C3380CC4-5D6E-409C-BE32-E72D297353CC}">
              <c16:uniqueId val="{00000001-DB73-4ECF-9BC6-16981D5026C9}"/>
            </c:ext>
          </c:extLst>
        </c:ser>
        <c:ser>
          <c:idx val="2"/>
          <c:order val="2"/>
          <c:tx>
            <c:strRef>
              <c:f>Arkusz1!$DD$297</c:f>
              <c:strCache>
                <c:ptCount val="1"/>
                <c:pt idx="0">
                  <c:v>3 miejsce</c:v>
                </c:pt>
              </c:strCache>
            </c:strRef>
          </c:tx>
          <c:spPr>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lin ang="10800000" scaled="1"/>
              <a:tileRect/>
            </a:gradFill>
            <a:ln w="12700">
              <a:solidFill>
                <a:srgbClr val="000000"/>
              </a:solidFill>
              <a:prstDash val="solid"/>
            </a:ln>
          </c:spPr>
          <c:invertIfNegative val="0"/>
          <c:cat>
            <c:strRef>
              <c:f>Arkusz1!$DE$294:$DN$294</c:f>
              <c:strCache>
                <c:ptCount val="10"/>
                <c:pt idx="0">
                  <c:v>Aquafresh</c:v>
                </c:pt>
                <c:pt idx="1">
                  <c:v>blen-a-med.</c:v>
                </c:pt>
                <c:pt idx="2">
                  <c:v>colgate</c:v>
                </c:pt>
                <c:pt idx="3">
                  <c:v>clinomyn</c:v>
                </c:pt>
                <c:pt idx="4">
                  <c:v>colodent</c:v>
                </c:pt>
                <c:pt idx="5">
                  <c:v>elmex</c:v>
                </c:pt>
                <c:pt idx="6">
                  <c:v>fluorodent</c:v>
                </c:pt>
                <c:pt idx="7">
                  <c:v>sensodyne</c:v>
                </c:pt>
                <c:pt idx="8">
                  <c:v>signal</c:v>
                </c:pt>
                <c:pt idx="9">
                  <c:v>inne</c:v>
                </c:pt>
              </c:strCache>
            </c:strRef>
          </c:cat>
          <c:val>
            <c:numRef>
              <c:f>Arkusz1!$DE$297:$DN$297</c:f>
              <c:numCache>
                <c:formatCode>0.0</c:formatCode>
                <c:ptCount val="10"/>
                <c:pt idx="0">
                  <c:v>13.846153846153847</c:v>
                </c:pt>
                <c:pt idx="1">
                  <c:v>8.4615384615384617</c:v>
                </c:pt>
                <c:pt idx="2">
                  <c:v>20</c:v>
                </c:pt>
                <c:pt idx="3">
                  <c:v>0.38461538461538464</c:v>
                </c:pt>
                <c:pt idx="4">
                  <c:v>6.1538461538461542</c:v>
                </c:pt>
                <c:pt idx="5">
                  <c:v>3.8461538461538463</c:v>
                </c:pt>
                <c:pt idx="6">
                  <c:v>0.76923076923076927</c:v>
                </c:pt>
                <c:pt idx="7">
                  <c:v>4.2307692307692308</c:v>
                </c:pt>
                <c:pt idx="8">
                  <c:v>9.6153846153846168</c:v>
                </c:pt>
                <c:pt idx="9">
                  <c:v>0.38461538461538464</c:v>
                </c:pt>
              </c:numCache>
            </c:numRef>
          </c:val>
          <c:extLst>
            <c:ext xmlns:c16="http://schemas.microsoft.com/office/drawing/2014/chart" uri="{C3380CC4-5D6E-409C-BE32-E72D297353CC}">
              <c16:uniqueId val="{00000002-DB73-4ECF-9BC6-16981D5026C9}"/>
            </c:ext>
          </c:extLst>
        </c:ser>
        <c:ser>
          <c:idx val="3"/>
          <c:order val="3"/>
          <c:tx>
            <c:strRef>
              <c:f>Arkusz1!$DD$298</c:f>
              <c:strCache>
                <c:ptCount val="1"/>
                <c:pt idx="0">
                  <c:v>4 miejsce</c:v>
                </c:pt>
              </c:strCache>
            </c:strRef>
          </c:tx>
          <c:spPr>
            <a:gradFill flip="none" rotWithShape="1">
              <a:gsLst>
                <a:gs pos="0">
                  <a:srgbClr val="7030A0">
                    <a:shade val="30000"/>
                    <a:satMod val="115000"/>
                  </a:srgbClr>
                </a:gs>
                <a:gs pos="50000">
                  <a:srgbClr val="7030A0">
                    <a:shade val="67500"/>
                    <a:satMod val="115000"/>
                  </a:srgbClr>
                </a:gs>
                <a:gs pos="100000">
                  <a:srgbClr val="7030A0">
                    <a:shade val="100000"/>
                    <a:satMod val="115000"/>
                  </a:srgbClr>
                </a:gs>
              </a:gsLst>
              <a:lin ang="10800000" scaled="1"/>
              <a:tileRect/>
            </a:gradFill>
            <a:ln w="12700">
              <a:solidFill>
                <a:srgbClr val="000000"/>
              </a:solidFill>
              <a:prstDash val="solid"/>
            </a:ln>
          </c:spPr>
          <c:invertIfNegative val="0"/>
          <c:cat>
            <c:strRef>
              <c:f>Arkusz1!$DE$294:$DN$294</c:f>
              <c:strCache>
                <c:ptCount val="10"/>
                <c:pt idx="0">
                  <c:v>Aquafresh</c:v>
                </c:pt>
                <c:pt idx="1">
                  <c:v>blen-a-med.</c:v>
                </c:pt>
                <c:pt idx="2">
                  <c:v>colgate</c:v>
                </c:pt>
                <c:pt idx="3">
                  <c:v>clinomyn</c:v>
                </c:pt>
                <c:pt idx="4">
                  <c:v>colodent</c:v>
                </c:pt>
                <c:pt idx="5">
                  <c:v>elmex</c:v>
                </c:pt>
                <c:pt idx="6">
                  <c:v>fluorodent</c:v>
                </c:pt>
                <c:pt idx="7">
                  <c:v>sensodyne</c:v>
                </c:pt>
                <c:pt idx="8">
                  <c:v>signal</c:v>
                </c:pt>
                <c:pt idx="9">
                  <c:v>inne</c:v>
                </c:pt>
              </c:strCache>
            </c:strRef>
          </c:cat>
          <c:val>
            <c:numRef>
              <c:f>Arkusz1!$DE$298:$DN$298</c:f>
              <c:numCache>
                <c:formatCode>0.0</c:formatCode>
                <c:ptCount val="10"/>
                <c:pt idx="0">
                  <c:v>7.6923076923076925</c:v>
                </c:pt>
                <c:pt idx="1">
                  <c:v>2.3076923076923079</c:v>
                </c:pt>
                <c:pt idx="2">
                  <c:v>1.9230769230769231</c:v>
                </c:pt>
                <c:pt idx="3">
                  <c:v>0.38461538461538464</c:v>
                </c:pt>
                <c:pt idx="4">
                  <c:v>7.6923076923076925</c:v>
                </c:pt>
                <c:pt idx="5">
                  <c:v>2.6923076923076925</c:v>
                </c:pt>
                <c:pt idx="6">
                  <c:v>0</c:v>
                </c:pt>
                <c:pt idx="7">
                  <c:v>1.5384615384615385</c:v>
                </c:pt>
                <c:pt idx="8">
                  <c:v>10</c:v>
                </c:pt>
                <c:pt idx="9">
                  <c:v>0.76923076923076927</c:v>
                </c:pt>
              </c:numCache>
            </c:numRef>
          </c:val>
          <c:extLst>
            <c:ext xmlns:c16="http://schemas.microsoft.com/office/drawing/2014/chart" uri="{C3380CC4-5D6E-409C-BE32-E72D297353CC}">
              <c16:uniqueId val="{00000003-DB73-4ECF-9BC6-16981D5026C9}"/>
            </c:ext>
          </c:extLst>
        </c:ser>
        <c:dLbls>
          <c:showLegendKey val="0"/>
          <c:showVal val="0"/>
          <c:showCatName val="0"/>
          <c:showSerName val="0"/>
          <c:showPercent val="0"/>
          <c:showBubbleSize val="0"/>
        </c:dLbls>
        <c:gapWidth val="150"/>
        <c:axId val="397676664"/>
        <c:axId val="397679016"/>
      </c:barChart>
      <c:catAx>
        <c:axId val="397676664"/>
        <c:scaling>
          <c:orientation val="minMax"/>
        </c:scaling>
        <c:delete val="0"/>
        <c:axPos val="b"/>
        <c:numFmt formatCode="General" sourceLinked="1"/>
        <c:majorTickMark val="out"/>
        <c:minorTickMark val="none"/>
        <c:tickLblPos val="nextTo"/>
        <c:spPr>
          <a:ln w="3175">
            <a:solidFill>
              <a:srgbClr val="000000"/>
            </a:solidFill>
            <a:prstDash val="solid"/>
          </a:ln>
        </c:spPr>
        <c:txPr>
          <a:bodyPr rot="-5400000" vert="horz"/>
          <a:lstStyle/>
          <a:p>
            <a:pPr>
              <a:defRPr/>
            </a:pPr>
            <a:endParaRPr lang="pl-PL"/>
          </a:p>
        </c:txPr>
        <c:crossAx val="397679016"/>
        <c:crosses val="autoZero"/>
        <c:auto val="1"/>
        <c:lblAlgn val="ctr"/>
        <c:lblOffset val="100"/>
        <c:tickLblSkip val="1"/>
        <c:tickMarkSkip val="1"/>
        <c:noMultiLvlLbl val="0"/>
      </c:catAx>
      <c:valAx>
        <c:axId val="397679016"/>
        <c:scaling>
          <c:orientation val="minMax"/>
          <c:max val="45"/>
        </c:scaling>
        <c:delete val="0"/>
        <c:axPos val="l"/>
        <c:majorGridlines>
          <c:spPr>
            <a:ln w="3175">
              <a:solidFill>
                <a:srgbClr val="000000"/>
              </a:solidFill>
              <a:prstDash val="solid"/>
            </a:ln>
          </c:spPr>
        </c:majorGridlines>
        <c:numFmt formatCode="0.0" sourceLinked="1"/>
        <c:majorTickMark val="out"/>
        <c:minorTickMark val="none"/>
        <c:tickLblPos val="nextTo"/>
        <c:spPr>
          <a:ln w="3175">
            <a:solidFill>
              <a:schemeClr val="tx1"/>
            </a:solidFill>
            <a:prstDash val="solid"/>
          </a:ln>
        </c:spPr>
        <c:txPr>
          <a:bodyPr rot="0" vert="horz"/>
          <a:lstStyle/>
          <a:p>
            <a:pPr>
              <a:defRPr/>
            </a:pPr>
            <a:endParaRPr lang="pl-PL"/>
          </a:p>
        </c:txPr>
        <c:crossAx val="397676664"/>
        <c:crosses val="autoZero"/>
        <c:crossBetween val="between"/>
      </c:valAx>
      <c:spPr>
        <a:solidFill>
          <a:schemeClr val="accent1">
            <a:lumMod val="60000"/>
            <a:lumOff val="40000"/>
          </a:schemeClr>
        </a:solidFill>
        <a:ln w="12700">
          <a:solidFill>
            <a:srgbClr val="808080"/>
          </a:solidFill>
          <a:prstDash val="solid"/>
        </a:ln>
      </c:spPr>
    </c:plotArea>
    <c:legend>
      <c:legendPos val="r"/>
      <c:layout>
        <c:manualLayout>
          <c:xMode val="edge"/>
          <c:yMode val="edge"/>
          <c:x val="0.72136222910216719"/>
          <c:y val="0.14601018675721561"/>
          <c:w val="0.21053926071741033"/>
          <c:h val="0.22764566929133859"/>
        </c:manualLayout>
      </c:layout>
      <c:overlay val="0"/>
      <c:spPr>
        <a:solidFill>
          <a:srgbClr val="FFFFFF"/>
        </a:solidFill>
        <a:ln w="3175">
          <a:solidFill>
            <a:srgbClr val="000000"/>
          </a:solidFill>
          <a:prstDash val="solid"/>
        </a:ln>
      </c:spPr>
    </c:legend>
    <c:plotVisOnly val="1"/>
    <c:dispBlanksAs val="gap"/>
    <c:showDLblsOverMax val="0"/>
  </c:chart>
  <c:spPr>
    <a:solidFill>
      <a:schemeClr val="tx1"/>
    </a:solidFill>
    <a:ln w="6350">
      <a:solidFill>
        <a:schemeClr val="bg1"/>
      </a:solidFill>
    </a:ln>
  </c:spPr>
  <c:txPr>
    <a:bodyPr/>
    <a:lstStyle/>
    <a:p>
      <a:pPr>
        <a:defRPr sz="1800" b="0" i="0" u="none" strike="noStrike" baseline="0">
          <a:solidFill>
            <a:schemeClr val="bg1"/>
          </a:solidFill>
          <a:latin typeface="Arial"/>
          <a:ea typeface="Arial"/>
          <a:cs typeface="Arial"/>
        </a:defRPr>
      </a:pPr>
      <a:endParaRPr lang="pl-PL"/>
    </a:p>
  </c:txPr>
  <c:externalData r:id="rId1">
    <c:autoUpdate val="0"/>
  </c:externalData>
  <c:userShapes r:id="rId2"/>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l-PL"/>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441645256694302"/>
          <c:y val="2.3373894229802846E-2"/>
          <c:w val="0.52694281774883822"/>
          <c:h val="0.83315419292709092"/>
        </c:manualLayout>
      </c:layout>
      <c:pieChart>
        <c:varyColors val="1"/>
        <c:ser>
          <c:idx val="0"/>
          <c:order val="0"/>
          <c:dPt>
            <c:idx val="0"/>
            <c:bubble3D val="0"/>
            <c:spPr>
              <a:solidFill>
                <a:schemeClr val="accent1"/>
              </a:solidFill>
              <a:ln w="19050">
                <a:solidFill>
                  <a:schemeClr val="lt1"/>
                </a:solidFill>
              </a:ln>
              <a:effectLst/>
            </c:spPr>
            <c:extLst>
              <c:ext xmlns:c16="http://schemas.microsoft.com/office/drawing/2014/chart" uri="{C3380CC4-5D6E-409C-BE32-E72D297353CC}">
                <c16:uniqueId val="{00000001-7453-4923-9758-D160E5219AE1}"/>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7453-4923-9758-D160E5219AE1}"/>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7453-4923-9758-D160E5219AE1}"/>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7453-4923-9758-D160E5219AE1}"/>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7453-4923-9758-D160E5219AE1}"/>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7453-4923-9758-D160E5219AE1}"/>
              </c:ext>
            </c:extLst>
          </c:dPt>
          <c:dLbls>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ysClr val="windowText" lastClr="000000"/>
                    </a:solidFill>
                    <a:latin typeface="+mn-lt"/>
                    <a:ea typeface="+mn-ea"/>
                    <a:cs typeface="+mn-cs"/>
                  </a:defRPr>
                </a:pPr>
                <a:endParaRPr lang="pl-PL"/>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'pytanie 1'!$A$4:$A$9</c:f>
              <c:strCache>
                <c:ptCount val="6"/>
                <c:pt idx="0">
                  <c:v>0</c:v>
                </c:pt>
                <c:pt idx="1">
                  <c:v>1</c:v>
                </c:pt>
                <c:pt idx="2">
                  <c:v>2</c:v>
                </c:pt>
                <c:pt idx="3">
                  <c:v>3</c:v>
                </c:pt>
                <c:pt idx="4">
                  <c:v>4</c:v>
                </c:pt>
                <c:pt idx="5">
                  <c:v>5 i więcej</c:v>
                </c:pt>
              </c:strCache>
            </c:strRef>
          </c:cat>
          <c:val>
            <c:numRef>
              <c:f>'pytanie 1'!$B$4:$B$9</c:f>
              <c:numCache>
                <c:formatCode>0.0%</c:formatCode>
                <c:ptCount val="6"/>
                <c:pt idx="0">
                  <c:v>6.4000000000000001E-2</c:v>
                </c:pt>
                <c:pt idx="1">
                  <c:v>0.152</c:v>
                </c:pt>
                <c:pt idx="2">
                  <c:v>0.192</c:v>
                </c:pt>
                <c:pt idx="3">
                  <c:v>0.128</c:v>
                </c:pt>
                <c:pt idx="4">
                  <c:v>0.16800000000000001</c:v>
                </c:pt>
                <c:pt idx="5">
                  <c:v>0.29599999999999999</c:v>
                </c:pt>
              </c:numCache>
            </c:numRef>
          </c:val>
          <c:extLst>
            <c:ext xmlns:c16="http://schemas.microsoft.com/office/drawing/2014/chart" uri="{C3380CC4-5D6E-409C-BE32-E72D297353CC}">
              <c16:uniqueId val="{0000000C-7453-4923-9758-D160E5219AE1}"/>
            </c:ext>
          </c:extLst>
        </c:ser>
        <c:dLbls>
          <c:dLblPos val="bestFit"/>
          <c:showLegendKey val="0"/>
          <c:showVal val="1"/>
          <c:showCatName val="0"/>
          <c:showSerName val="0"/>
          <c:showPercent val="0"/>
          <c:showBubbleSize val="0"/>
          <c:showLeaderLines val="1"/>
        </c:dLbls>
        <c:firstSliceAng val="0"/>
      </c:pieChart>
      <c:spPr>
        <a:noFill/>
        <a:ln>
          <a:noFill/>
        </a:ln>
        <a:effectLst/>
      </c:spPr>
    </c:plotArea>
    <c:legend>
      <c:legendPos val="b"/>
      <c:layout>
        <c:manualLayout>
          <c:xMode val="edge"/>
          <c:yMode val="edge"/>
          <c:x val="0.22680786619202764"/>
          <c:y val="0.91872503452751664"/>
          <c:w val="0.54070637018491918"/>
          <c:h val="6.5480297810324287E-2"/>
        </c:manualLayout>
      </c:layout>
      <c:overlay val="0"/>
      <c:spPr>
        <a:noFill/>
        <a:ln>
          <a:noFill/>
        </a:ln>
        <a:effectLst/>
      </c:spPr>
      <c:txPr>
        <a:bodyPr rot="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pl-PL"/>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lgn="just">
        <a:defRPr/>
      </a:pPr>
      <a:endParaRPr lang="pl-PL"/>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l-PL"/>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percentStacked"/>
        <c:varyColors val="0"/>
        <c:ser>
          <c:idx val="0"/>
          <c:order val="0"/>
          <c:tx>
            <c:strRef>
              <c:f>'pytanie 1'!$C$4</c:f>
              <c:strCache>
                <c:ptCount val="1"/>
                <c:pt idx="0">
                  <c:v>0</c:v>
                </c:pt>
              </c:strCache>
            </c:strRef>
          </c:tx>
          <c:spPr>
            <a:solidFill>
              <a:schemeClr val="accent1"/>
            </a:solidFill>
            <a:ln>
              <a:solidFill>
                <a:schemeClr val="tx1"/>
              </a:solidFill>
            </a:ln>
            <a:effectLst/>
          </c:spPr>
          <c:invertIfNegative val="0"/>
          <c:dLbls>
            <c:dLbl>
              <c:idx val="1"/>
              <c:delete val="1"/>
              <c:extLst>
                <c:ext xmlns:c15="http://schemas.microsoft.com/office/drawing/2012/chart" uri="{CE6537A1-D6FC-4f65-9D91-7224C49458BB}"/>
                <c:ext xmlns:c16="http://schemas.microsoft.com/office/drawing/2014/chart" uri="{C3380CC4-5D6E-409C-BE32-E72D297353CC}">
                  <c16:uniqueId val="{00000000-2A10-40FC-88D1-81DFDA401639}"/>
                </c:ext>
              </c:extLst>
            </c:dLbl>
            <c:dLbl>
              <c:idx val="2"/>
              <c:layout>
                <c:manualLayout>
                  <c:x val="2.4067388688326875E-3"/>
                  <c:y val="0"/>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2A10-40FC-88D1-81DFDA401639}"/>
                </c:ext>
              </c:extLst>
            </c:dLbl>
            <c:dLbl>
              <c:idx val="4"/>
              <c:delete val="1"/>
              <c:extLst>
                <c:ext xmlns:c15="http://schemas.microsoft.com/office/drawing/2012/chart" uri="{CE6537A1-D6FC-4f65-9D91-7224C49458BB}"/>
                <c:ext xmlns:c16="http://schemas.microsoft.com/office/drawing/2014/chart" uri="{C3380CC4-5D6E-409C-BE32-E72D297353CC}">
                  <c16:uniqueId val="{00000002-2A10-40FC-88D1-81DFDA401639}"/>
                </c:ext>
              </c:extLst>
            </c:dLbl>
            <c:dLbl>
              <c:idx val="6"/>
              <c:delete val="1"/>
              <c:extLst>
                <c:ext xmlns:c15="http://schemas.microsoft.com/office/drawing/2012/chart" uri="{CE6537A1-D6FC-4f65-9D91-7224C49458BB}"/>
                <c:ext xmlns:c16="http://schemas.microsoft.com/office/drawing/2014/chart" uri="{C3380CC4-5D6E-409C-BE32-E72D297353CC}">
                  <c16:uniqueId val="{00000003-2A10-40FC-88D1-81DFDA401639}"/>
                </c:ext>
              </c:extLst>
            </c:dLbl>
            <c:dLbl>
              <c:idx val="9"/>
              <c:delete val="1"/>
              <c:extLst>
                <c:ext xmlns:c15="http://schemas.microsoft.com/office/drawing/2012/chart" uri="{CE6537A1-D6FC-4f65-9D91-7224C49458BB}"/>
                <c:ext xmlns:c16="http://schemas.microsoft.com/office/drawing/2014/chart" uri="{C3380CC4-5D6E-409C-BE32-E72D297353CC}">
                  <c16:uniqueId val="{00000004-2A10-40FC-88D1-81DFDA401639}"/>
                </c:ext>
              </c:extLst>
            </c:dLbl>
            <c:spPr>
              <a:noFill/>
              <a:ln>
                <a:noFill/>
              </a:ln>
              <a:effectLst/>
            </c:spPr>
            <c:txPr>
              <a:bodyPr rot="0" spcFirstLastPara="1" vertOverflow="ellipsis" vert="horz" wrap="square" anchor="ctr" anchorCtr="1"/>
              <a:lstStyle/>
              <a:p>
                <a:pPr>
                  <a:defRPr sz="900" b="0" i="0" u="none" strike="noStrike" kern="1200" baseline="0">
                    <a:ln>
                      <a:noFill/>
                    </a:ln>
                    <a:solidFill>
                      <a:schemeClr val="tx1"/>
                    </a:solidFill>
                    <a:latin typeface="+mn-lt"/>
                    <a:ea typeface="+mn-ea"/>
                    <a:cs typeface="+mn-cs"/>
                  </a:defRPr>
                </a:pPr>
                <a:endParaRPr lang="pl-P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'pytanie 1'!$D$2:$M$3</c:f>
              <c:multiLvlStrCache>
                <c:ptCount val="10"/>
                <c:lvl>
                  <c:pt idx="0">
                    <c:v>kobieta</c:v>
                  </c:pt>
                  <c:pt idx="1">
                    <c:v>mężczyzna</c:v>
                  </c:pt>
                  <c:pt idx="2">
                    <c:v>poniżej 26</c:v>
                  </c:pt>
                  <c:pt idx="3">
                    <c:v>26-37</c:v>
                  </c:pt>
                  <c:pt idx="4">
                    <c:v>38 -49</c:v>
                  </c:pt>
                  <c:pt idx="5">
                    <c:v>50 i więcej</c:v>
                  </c:pt>
                  <c:pt idx="6">
                    <c:v>bardzo dobra</c:v>
                  </c:pt>
                  <c:pt idx="7">
                    <c:v>dobra</c:v>
                  </c:pt>
                  <c:pt idx="8">
                    <c:v>przeciętne</c:v>
                  </c:pt>
                  <c:pt idx="9">
                    <c:v>zła</c:v>
                  </c:pt>
                </c:lvl>
                <c:lvl>
                  <c:pt idx="0">
                    <c:v>płeć</c:v>
                  </c:pt>
                  <c:pt idx="2">
                    <c:v>wiek</c:v>
                  </c:pt>
                  <c:pt idx="6">
                    <c:v>Sytuacja materialna</c:v>
                  </c:pt>
                </c:lvl>
              </c:multiLvlStrCache>
            </c:multiLvlStrRef>
          </c:cat>
          <c:val>
            <c:numRef>
              <c:f>'pytanie 1'!$D$4:$M$4</c:f>
              <c:numCache>
                <c:formatCode>0.0%</c:formatCode>
                <c:ptCount val="10"/>
                <c:pt idx="0">
                  <c:v>8.5000000000000006E-2</c:v>
                </c:pt>
                <c:pt idx="1">
                  <c:v>0</c:v>
                </c:pt>
                <c:pt idx="2">
                  <c:v>0.107</c:v>
                </c:pt>
                <c:pt idx="3">
                  <c:v>5.2999999999999999E-2</c:v>
                </c:pt>
                <c:pt idx="4">
                  <c:v>0</c:v>
                </c:pt>
                <c:pt idx="5">
                  <c:v>6.3E-2</c:v>
                </c:pt>
                <c:pt idx="6">
                  <c:v>0</c:v>
                </c:pt>
                <c:pt idx="7">
                  <c:v>6.5000000000000002E-2</c:v>
                </c:pt>
                <c:pt idx="8">
                  <c:v>8.5000000000000006E-2</c:v>
                </c:pt>
                <c:pt idx="9">
                  <c:v>0</c:v>
                </c:pt>
              </c:numCache>
            </c:numRef>
          </c:val>
          <c:extLst>
            <c:ext xmlns:c16="http://schemas.microsoft.com/office/drawing/2014/chart" uri="{C3380CC4-5D6E-409C-BE32-E72D297353CC}">
              <c16:uniqueId val="{00000005-2A10-40FC-88D1-81DFDA401639}"/>
            </c:ext>
          </c:extLst>
        </c:ser>
        <c:ser>
          <c:idx val="1"/>
          <c:order val="1"/>
          <c:tx>
            <c:strRef>
              <c:f>'pytanie 1'!$C$5</c:f>
              <c:strCache>
                <c:ptCount val="1"/>
                <c:pt idx="0">
                  <c:v>1</c:v>
                </c:pt>
              </c:strCache>
            </c:strRef>
          </c:tx>
          <c:spPr>
            <a:solidFill>
              <a:schemeClr val="accent2"/>
            </a:solidFill>
            <a:ln>
              <a:solidFill>
                <a:schemeClr val="tx1"/>
              </a:solidFill>
            </a:ln>
            <a:effectLst/>
          </c:spPr>
          <c:invertIfNegative val="0"/>
          <c:dLbls>
            <c:dLbl>
              <c:idx val="6"/>
              <c:delete val="1"/>
              <c:extLst>
                <c:ext xmlns:c15="http://schemas.microsoft.com/office/drawing/2012/chart" uri="{CE6537A1-D6FC-4f65-9D91-7224C49458BB}"/>
                <c:ext xmlns:c16="http://schemas.microsoft.com/office/drawing/2014/chart" uri="{C3380CC4-5D6E-409C-BE32-E72D297353CC}">
                  <c16:uniqueId val="{00000006-2A10-40FC-88D1-81DFDA401639}"/>
                </c:ext>
              </c:extLst>
            </c:dLbl>
            <c:spPr>
              <a:noFill/>
              <a:ln>
                <a:noFill/>
              </a:ln>
              <a:effectLst/>
            </c:spPr>
            <c:txPr>
              <a:bodyPr rot="0" spcFirstLastPara="1" vertOverflow="ellipsis" vert="horz" wrap="square" anchor="ctr" anchorCtr="1"/>
              <a:lstStyle/>
              <a:p>
                <a:pPr>
                  <a:defRPr sz="900" b="0" i="0" u="none" strike="noStrike" kern="1200" baseline="0">
                    <a:ln>
                      <a:noFill/>
                    </a:ln>
                    <a:solidFill>
                      <a:schemeClr val="tx1"/>
                    </a:solidFill>
                    <a:latin typeface="+mn-lt"/>
                    <a:ea typeface="+mn-ea"/>
                    <a:cs typeface="+mn-cs"/>
                  </a:defRPr>
                </a:pPr>
                <a:endParaRPr lang="pl-P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'pytanie 1'!$D$2:$M$3</c:f>
              <c:multiLvlStrCache>
                <c:ptCount val="10"/>
                <c:lvl>
                  <c:pt idx="0">
                    <c:v>kobieta</c:v>
                  </c:pt>
                  <c:pt idx="1">
                    <c:v>mężczyzna</c:v>
                  </c:pt>
                  <c:pt idx="2">
                    <c:v>poniżej 26</c:v>
                  </c:pt>
                  <c:pt idx="3">
                    <c:v>26-37</c:v>
                  </c:pt>
                  <c:pt idx="4">
                    <c:v>38 -49</c:v>
                  </c:pt>
                  <c:pt idx="5">
                    <c:v>50 i więcej</c:v>
                  </c:pt>
                  <c:pt idx="6">
                    <c:v>bardzo dobra</c:v>
                  </c:pt>
                  <c:pt idx="7">
                    <c:v>dobra</c:v>
                  </c:pt>
                  <c:pt idx="8">
                    <c:v>przeciętne</c:v>
                  </c:pt>
                  <c:pt idx="9">
                    <c:v>zła</c:v>
                  </c:pt>
                </c:lvl>
                <c:lvl>
                  <c:pt idx="0">
                    <c:v>płeć</c:v>
                  </c:pt>
                  <c:pt idx="2">
                    <c:v>wiek</c:v>
                  </c:pt>
                  <c:pt idx="6">
                    <c:v>Sytuacja materialna</c:v>
                  </c:pt>
                </c:lvl>
              </c:multiLvlStrCache>
            </c:multiLvlStrRef>
          </c:cat>
          <c:val>
            <c:numRef>
              <c:f>'pytanie 1'!$D$5:$M$5</c:f>
              <c:numCache>
                <c:formatCode>0.0%</c:formatCode>
                <c:ptCount val="10"/>
                <c:pt idx="0">
                  <c:v>0.18099999999999999</c:v>
                </c:pt>
                <c:pt idx="1">
                  <c:v>6.5000000000000002E-2</c:v>
                </c:pt>
                <c:pt idx="2">
                  <c:v>0.19600000000000001</c:v>
                </c:pt>
                <c:pt idx="3">
                  <c:v>0.105</c:v>
                </c:pt>
                <c:pt idx="4">
                  <c:v>5.8999999999999997E-2</c:v>
                </c:pt>
                <c:pt idx="5">
                  <c:v>0.25</c:v>
                </c:pt>
                <c:pt idx="6">
                  <c:v>0</c:v>
                </c:pt>
                <c:pt idx="7">
                  <c:v>0.129</c:v>
                </c:pt>
                <c:pt idx="8">
                  <c:v>0.21299999999999999</c:v>
                </c:pt>
                <c:pt idx="9">
                  <c:v>0.33300000000000002</c:v>
                </c:pt>
              </c:numCache>
            </c:numRef>
          </c:val>
          <c:extLst>
            <c:ext xmlns:c16="http://schemas.microsoft.com/office/drawing/2014/chart" uri="{C3380CC4-5D6E-409C-BE32-E72D297353CC}">
              <c16:uniqueId val="{00000007-2A10-40FC-88D1-81DFDA401639}"/>
            </c:ext>
          </c:extLst>
        </c:ser>
        <c:ser>
          <c:idx val="2"/>
          <c:order val="2"/>
          <c:tx>
            <c:strRef>
              <c:f>'pytanie 1'!$C$6</c:f>
              <c:strCache>
                <c:ptCount val="1"/>
                <c:pt idx="0">
                  <c:v>2</c:v>
                </c:pt>
              </c:strCache>
            </c:strRef>
          </c:tx>
          <c:spPr>
            <a:solidFill>
              <a:schemeClr val="accent3"/>
            </a:solidFill>
            <a:ln>
              <a:solidFill>
                <a:schemeClr val="tx1"/>
              </a:solid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ln>
                      <a:noFill/>
                    </a:ln>
                    <a:solidFill>
                      <a:schemeClr val="tx1"/>
                    </a:solidFill>
                    <a:latin typeface="+mn-lt"/>
                    <a:ea typeface="+mn-ea"/>
                    <a:cs typeface="+mn-cs"/>
                  </a:defRPr>
                </a:pPr>
                <a:endParaRPr lang="pl-P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'pytanie 1'!$D$2:$M$3</c:f>
              <c:multiLvlStrCache>
                <c:ptCount val="10"/>
                <c:lvl>
                  <c:pt idx="0">
                    <c:v>kobieta</c:v>
                  </c:pt>
                  <c:pt idx="1">
                    <c:v>mężczyzna</c:v>
                  </c:pt>
                  <c:pt idx="2">
                    <c:v>poniżej 26</c:v>
                  </c:pt>
                  <c:pt idx="3">
                    <c:v>26-37</c:v>
                  </c:pt>
                  <c:pt idx="4">
                    <c:v>38 -49</c:v>
                  </c:pt>
                  <c:pt idx="5">
                    <c:v>50 i więcej</c:v>
                  </c:pt>
                  <c:pt idx="6">
                    <c:v>bardzo dobra</c:v>
                  </c:pt>
                  <c:pt idx="7">
                    <c:v>dobra</c:v>
                  </c:pt>
                  <c:pt idx="8">
                    <c:v>przeciętne</c:v>
                  </c:pt>
                  <c:pt idx="9">
                    <c:v>zła</c:v>
                  </c:pt>
                </c:lvl>
                <c:lvl>
                  <c:pt idx="0">
                    <c:v>płeć</c:v>
                  </c:pt>
                  <c:pt idx="2">
                    <c:v>wiek</c:v>
                  </c:pt>
                  <c:pt idx="6">
                    <c:v>Sytuacja materialna</c:v>
                  </c:pt>
                </c:lvl>
              </c:multiLvlStrCache>
            </c:multiLvlStrRef>
          </c:cat>
          <c:val>
            <c:numRef>
              <c:f>'pytanie 1'!$D$6:$M$6</c:f>
              <c:numCache>
                <c:formatCode>0.0%</c:formatCode>
                <c:ptCount val="10"/>
                <c:pt idx="0">
                  <c:v>0.191</c:v>
                </c:pt>
                <c:pt idx="1">
                  <c:v>0.19400000000000001</c:v>
                </c:pt>
                <c:pt idx="2">
                  <c:v>0.161</c:v>
                </c:pt>
                <c:pt idx="3">
                  <c:v>0.26300000000000001</c:v>
                </c:pt>
                <c:pt idx="4">
                  <c:v>0.17599999999999999</c:v>
                </c:pt>
                <c:pt idx="5">
                  <c:v>0.25</c:v>
                </c:pt>
                <c:pt idx="6">
                  <c:v>0.154</c:v>
                </c:pt>
                <c:pt idx="7">
                  <c:v>0.19400000000000001</c:v>
                </c:pt>
                <c:pt idx="8">
                  <c:v>0.191</c:v>
                </c:pt>
                <c:pt idx="9">
                  <c:v>0.33300000000000002</c:v>
                </c:pt>
              </c:numCache>
            </c:numRef>
          </c:val>
          <c:extLst>
            <c:ext xmlns:c16="http://schemas.microsoft.com/office/drawing/2014/chart" uri="{C3380CC4-5D6E-409C-BE32-E72D297353CC}">
              <c16:uniqueId val="{00000008-2A10-40FC-88D1-81DFDA401639}"/>
            </c:ext>
          </c:extLst>
        </c:ser>
        <c:ser>
          <c:idx val="3"/>
          <c:order val="3"/>
          <c:tx>
            <c:strRef>
              <c:f>'pytanie 1'!$C$7</c:f>
              <c:strCache>
                <c:ptCount val="1"/>
                <c:pt idx="0">
                  <c:v>3</c:v>
                </c:pt>
              </c:strCache>
            </c:strRef>
          </c:tx>
          <c:spPr>
            <a:solidFill>
              <a:schemeClr val="accent4"/>
            </a:solidFill>
            <a:ln>
              <a:solidFill>
                <a:schemeClr val="tx1"/>
              </a:solid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ln>
                      <a:noFill/>
                    </a:ln>
                    <a:solidFill>
                      <a:schemeClr val="tx1"/>
                    </a:solidFill>
                    <a:latin typeface="+mn-lt"/>
                    <a:ea typeface="+mn-ea"/>
                    <a:cs typeface="+mn-cs"/>
                  </a:defRPr>
                </a:pPr>
                <a:endParaRPr lang="pl-P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'pytanie 1'!$D$2:$M$3</c:f>
              <c:multiLvlStrCache>
                <c:ptCount val="10"/>
                <c:lvl>
                  <c:pt idx="0">
                    <c:v>kobieta</c:v>
                  </c:pt>
                  <c:pt idx="1">
                    <c:v>mężczyzna</c:v>
                  </c:pt>
                  <c:pt idx="2">
                    <c:v>poniżej 26</c:v>
                  </c:pt>
                  <c:pt idx="3">
                    <c:v>26-37</c:v>
                  </c:pt>
                  <c:pt idx="4">
                    <c:v>38 -49</c:v>
                  </c:pt>
                  <c:pt idx="5">
                    <c:v>50 i więcej</c:v>
                  </c:pt>
                  <c:pt idx="6">
                    <c:v>bardzo dobra</c:v>
                  </c:pt>
                  <c:pt idx="7">
                    <c:v>dobra</c:v>
                  </c:pt>
                  <c:pt idx="8">
                    <c:v>przeciętne</c:v>
                  </c:pt>
                  <c:pt idx="9">
                    <c:v>zła</c:v>
                  </c:pt>
                </c:lvl>
                <c:lvl>
                  <c:pt idx="0">
                    <c:v>płeć</c:v>
                  </c:pt>
                  <c:pt idx="2">
                    <c:v>wiek</c:v>
                  </c:pt>
                  <c:pt idx="6">
                    <c:v>Sytuacja materialna</c:v>
                  </c:pt>
                </c:lvl>
              </c:multiLvlStrCache>
            </c:multiLvlStrRef>
          </c:cat>
          <c:val>
            <c:numRef>
              <c:f>'pytanie 1'!$D$7:$M$7</c:f>
              <c:numCache>
                <c:formatCode>0.0%</c:formatCode>
                <c:ptCount val="10"/>
                <c:pt idx="0">
                  <c:v>0.128</c:v>
                </c:pt>
                <c:pt idx="1">
                  <c:v>0.129</c:v>
                </c:pt>
                <c:pt idx="2">
                  <c:v>0.161</c:v>
                </c:pt>
                <c:pt idx="3">
                  <c:v>0.105</c:v>
                </c:pt>
                <c:pt idx="4">
                  <c:v>2.9000000000000001E-2</c:v>
                </c:pt>
                <c:pt idx="5">
                  <c:v>0.25</c:v>
                </c:pt>
                <c:pt idx="6">
                  <c:v>7.6999999999999999E-2</c:v>
                </c:pt>
                <c:pt idx="7">
                  <c:v>0.14499999999999999</c:v>
                </c:pt>
                <c:pt idx="8">
                  <c:v>0.106</c:v>
                </c:pt>
                <c:pt idx="9">
                  <c:v>0.33300000000000002</c:v>
                </c:pt>
              </c:numCache>
            </c:numRef>
          </c:val>
          <c:extLst>
            <c:ext xmlns:c16="http://schemas.microsoft.com/office/drawing/2014/chart" uri="{C3380CC4-5D6E-409C-BE32-E72D297353CC}">
              <c16:uniqueId val="{00000009-2A10-40FC-88D1-81DFDA401639}"/>
            </c:ext>
          </c:extLst>
        </c:ser>
        <c:ser>
          <c:idx val="4"/>
          <c:order val="4"/>
          <c:tx>
            <c:strRef>
              <c:f>'pytanie 1'!$C$8</c:f>
              <c:strCache>
                <c:ptCount val="1"/>
                <c:pt idx="0">
                  <c:v>4</c:v>
                </c:pt>
              </c:strCache>
            </c:strRef>
          </c:tx>
          <c:spPr>
            <a:solidFill>
              <a:schemeClr val="accent5"/>
            </a:solidFill>
            <a:ln>
              <a:solidFill>
                <a:schemeClr val="tx1"/>
              </a:solidFill>
            </a:ln>
            <a:effectLst/>
          </c:spPr>
          <c:invertIfNegative val="0"/>
          <c:dLbls>
            <c:dLbl>
              <c:idx val="6"/>
              <c:delete val="1"/>
              <c:extLst>
                <c:ext xmlns:c15="http://schemas.microsoft.com/office/drawing/2012/chart" uri="{CE6537A1-D6FC-4f65-9D91-7224C49458BB}"/>
                <c:ext xmlns:c16="http://schemas.microsoft.com/office/drawing/2014/chart" uri="{C3380CC4-5D6E-409C-BE32-E72D297353CC}">
                  <c16:uniqueId val="{0000000A-2A10-40FC-88D1-81DFDA401639}"/>
                </c:ext>
              </c:extLst>
            </c:dLbl>
            <c:dLbl>
              <c:idx val="9"/>
              <c:delete val="1"/>
              <c:extLst>
                <c:ext xmlns:c15="http://schemas.microsoft.com/office/drawing/2012/chart" uri="{CE6537A1-D6FC-4f65-9D91-7224C49458BB}"/>
                <c:ext xmlns:c16="http://schemas.microsoft.com/office/drawing/2014/chart" uri="{C3380CC4-5D6E-409C-BE32-E72D297353CC}">
                  <c16:uniqueId val="{0000000B-2A10-40FC-88D1-81DFDA401639}"/>
                </c:ext>
              </c:extLst>
            </c:dLbl>
            <c:spPr>
              <a:noFill/>
              <a:ln>
                <a:noFill/>
              </a:ln>
              <a:effectLst/>
            </c:spPr>
            <c:txPr>
              <a:bodyPr rot="0" spcFirstLastPara="1" vertOverflow="ellipsis" vert="horz" wrap="square" anchor="ctr" anchorCtr="1"/>
              <a:lstStyle/>
              <a:p>
                <a:pPr>
                  <a:defRPr sz="900" b="0" i="0" u="none" strike="noStrike" kern="1200" baseline="0">
                    <a:ln>
                      <a:noFill/>
                    </a:ln>
                    <a:solidFill>
                      <a:schemeClr val="tx1"/>
                    </a:solidFill>
                    <a:latin typeface="+mn-lt"/>
                    <a:ea typeface="+mn-ea"/>
                    <a:cs typeface="+mn-cs"/>
                  </a:defRPr>
                </a:pPr>
                <a:endParaRPr lang="pl-P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'pytanie 1'!$D$2:$M$3</c:f>
              <c:multiLvlStrCache>
                <c:ptCount val="10"/>
                <c:lvl>
                  <c:pt idx="0">
                    <c:v>kobieta</c:v>
                  </c:pt>
                  <c:pt idx="1">
                    <c:v>mężczyzna</c:v>
                  </c:pt>
                  <c:pt idx="2">
                    <c:v>poniżej 26</c:v>
                  </c:pt>
                  <c:pt idx="3">
                    <c:v>26-37</c:v>
                  </c:pt>
                  <c:pt idx="4">
                    <c:v>38 -49</c:v>
                  </c:pt>
                  <c:pt idx="5">
                    <c:v>50 i więcej</c:v>
                  </c:pt>
                  <c:pt idx="6">
                    <c:v>bardzo dobra</c:v>
                  </c:pt>
                  <c:pt idx="7">
                    <c:v>dobra</c:v>
                  </c:pt>
                  <c:pt idx="8">
                    <c:v>przeciętne</c:v>
                  </c:pt>
                  <c:pt idx="9">
                    <c:v>zła</c:v>
                  </c:pt>
                </c:lvl>
                <c:lvl>
                  <c:pt idx="0">
                    <c:v>płeć</c:v>
                  </c:pt>
                  <c:pt idx="2">
                    <c:v>wiek</c:v>
                  </c:pt>
                  <c:pt idx="6">
                    <c:v>Sytuacja materialna</c:v>
                  </c:pt>
                </c:lvl>
              </c:multiLvlStrCache>
            </c:multiLvlStrRef>
          </c:cat>
          <c:val>
            <c:numRef>
              <c:f>'pytanie 1'!$D$8:$M$8</c:f>
              <c:numCache>
                <c:formatCode>0.0%</c:formatCode>
                <c:ptCount val="10"/>
                <c:pt idx="0">
                  <c:v>0.14899999999999999</c:v>
                </c:pt>
                <c:pt idx="1">
                  <c:v>0.22600000000000001</c:v>
                </c:pt>
                <c:pt idx="2">
                  <c:v>0.161</c:v>
                </c:pt>
                <c:pt idx="3">
                  <c:v>0.158</c:v>
                </c:pt>
                <c:pt idx="4">
                  <c:v>0.20599999999999999</c:v>
                </c:pt>
                <c:pt idx="5">
                  <c:v>0.125</c:v>
                </c:pt>
                <c:pt idx="6">
                  <c:v>0</c:v>
                </c:pt>
                <c:pt idx="7">
                  <c:v>0.17699999999999999</c:v>
                </c:pt>
                <c:pt idx="8">
                  <c:v>0.21299999999999999</c:v>
                </c:pt>
                <c:pt idx="9">
                  <c:v>0</c:v>
                </c:pt>
              </c:numCache>
            </c:numRef>
          </c:val>
          <c:extLst>
            <c:ext xmlns:c16="http://schemas.microsoft.com/office/drawing/2014/chart" uri="{C3380CC4-5D6E-409C-BE32-E72D297353CC}">
              <c16:uniqueId val="{0000000C-2A10-40FC-88D1-81DFDA401639}"/>
            </c:ext>
          </c:extLst>
        </c:ser>
        <c:ser>
          <c:idx val="5"/>
          <c:order val="5"/>
          <c:tx>
            <c:strRef>
              <c:f>'pytanie 1'!$C$9</c:f>
              <c:strCache>
                <c:ptCount val="1"/>
                <c:pt idx="0">
                  <c:v>5 i więcej</c:v>
                </c:pt>
              </c:strCache>
            </c:strRef>
          </c:tx>
          <c:spPr>
            <a:solidFill>
              <a:schemeClr val="accent6"/>
            </a:solidFill>
            <a:ln>
              <a:solidFill>
                <a:schemeClr val="tx1"/>
              </a:solidFill>
            </a:ln>
            <a:effectLst/>
          </c:spPr>
          <c:invertIfNegative val="0"/>
          <c:dLbls>
            <c:dLbl>
              <c:idx val="9"/>
              <c:delete val="1"/>
              <c:extLst>
                <c:ext xmlns:c15="http://schemas.microsoft.com/office/drawing/2012/chart" uri="{CE6537A1-D6FC-4f65-9D91-7224C49458BB}"/>
                <c:ext xmlns:c16="http://schemas.microsoft.com/office/drawing/2014/chart" uri="{C3380CC4-5D6E-409C-BE32-E72D297353CC}">
                  <c16:uniqueId val="{0000000D-2A10-40FC-88D1-81DFDA401639}"/>
                </c:ext>
              </c:extLst>
            </c:dLbl>
            <c:spPr>
              <a:noFill/>
              <a:ln>
                <a:noFill/>
              </a:ln>
              <a:effectLst/>
            </c:spPr>
            <c:txPr>
              <a:bodyPr rot="0" spcFirstLastPara="1" vertOverflow="ellipsis" vert="horz" wrap="square" anchor="ctr" anchorCtr="1"/>
              <a:lstStyle/>
              <a:p>
                <a:pPr>
                  <a:defRPr sz="900" b="0" i="0" u="none" strike="noStrike" kern="1200" baseline="0">
                    <a:ln>
                      <a:noFill/>
                    </a:ln>
                    <a:solidFill>
                      <a:schemeClr val="tx1"/>
                    </a:solidFill>
                    <a:latin typeface="+mn-lt"/>
                    <a:ea typeface="+mn-ea"/>
                    <a:cs typeface="+mn-cs"/>
                  </a:defRPr>
                </a:pPr>
                <a:endParaRPr lang="pl-P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'pytanie 1'!$D$2:$M$3</c:f>
              <c:multiLvlStrCache>
                <c:ptCount val="10"/>
                <c:lvl>
                  <c:pt idx="0">
                    <c:v>kobieta</c:v>
                  </c:pt>
                  <c:pt idx="1">
                    <c:v>mężczyzna</c:v>
                  </c:pt>
                  <c:pt idx="2">
                    <c:v>poniżej 26</c:v>
                  </c:pt>
                  <c:pt idx="3">
                    <c:v>26-37</c:v>
                  </c:pt>
                  <c:pt idx="4">
                    <c:v>38 -49</c:v>
                  </c:pt>
                  <c:pt idx="5">
                    <c:v>50 i więcej</c:v>
                  </c:pt>
                  <c:pt idx="6">
                    <c:v>bardzo dobra</c:v>
                  </c:pt>
                  <c:pt idx="7">
                    <c:v>dobra</c:v>
                  </c:pt>
                  <c:pt idx="8">
                    <c:v>przeciętne</c:v>
                  </c:pt>
                  <c:pt idx="9">
                    <c:v>zła</c:v>
                  </c:pt>
                </c:lvl>
                <c:lvl>
                  <c:pt idx="0">
                    <c:v>płeć</c:v>
                  </c:pt>
                  <c:pt idx="2">
                    <c:v>wiek</c:v>
                  </c:pt>
                  <c:pt idx="6">
                    <c:v>Sytuacja materialna</c:v>
                  </c:pt>
                </c:lvl>
              </c:multiLvlStrCache>
            </c:multiLvlStrRef>
          </c:cat>
          <c:val>
            <c:numRef>
              <c:f>'pytanie 1'!$D$9:$M$9</c:f>
              <c:numCache>
                <c:formatCode>0.0%</c:formatCode>
                <c:ptCount val="10"/>
                <c:pt idx="0">
                  <c:v>0.26600000000000001</c:v>
                </c:pt>
                <c:pt idx="1">
                  <c:v>0.38700000000000001</c:v>
                </c:pt>
                <c:pt idx="2">
                  <c:v>0.214</c:v>
                </c:pt>
                <c:pt idx="3">
                  <c:v>0.316</c:v>
                </c:pt>
                <c:pt idx="4">
                  <c:v>0.52900000000000003</c:v>
                </c:pt>
                <c:pt idx="5">
                  <c:v>6.3E-2</c:v>
                </c:pt>
                <c:pt idx="6">
                  <c:v>0.76900000000000002</c:v>
                </c:pt>
                <c:pt idx="7">
                  <c:v>0.28999999999999998</c:v>
                </c:pt>
                <c:pt idx="8">
                  <c:v>0.191</c:v>
                </c:pt>
                <c:pt idx="9">
                  <c:v>0</c:v>
                </c:pt>
              </c:numCache>
            </c:numRef>
          </c:val>
          <c:extLst>
            <c:ext xmlns:c16="http://schemas.microsoft.com/office/drawing/2014/chart" uri="{C3380CC4-5D6E-409C-BE32-E72D297353CC}">
              <c16:uniqueId val="{0000000E-2A10-40FC-88D1-81DFDA401639}"/>
            </c:ext>
          </c:extLst>
        </c:ser>
        <c:dLbls>
          <c:dLblPos val="ctr"/>
          <c:showLegendKey val="0"/>
          <c:showVal val="1"/>
          <c:showCatName val="0"/>
          <c:showSerName val="0"/>
          <c:showPercent val="0"/>
          <c:showBubbleSize val="0"/>
        </c:dLbls>
        <c:gapWidth val="54"/>
        <c:overlap val="100"/>
        <c:axId val="1091078736"/>
        <c:axId val="1684350432"/>
      </c:barChart>
      <c:catAx>
        <c:axId val="1091078736"/>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ln>
                  <a:noFill/>
                </a:ln>
                <a:solidFill>
                  <a:schemeClr val="tx1"/>
                </a:solidFill>
                <a:latin typeface="+mn-lt"/>
                <a:ea typeface="+mn-ea"/>
                <a:cs typeface="+mn-cs"/>
              </a:defRPr>
            </a:pPr>
            <a:endParaRPr lang="pl-PL"/>
          </a:p>
        </c:txPr>
        <c:crossAx val="1684350432"/>
        <c:crosses val="autoZero"/>
        <c:auto val="1"/>
        <c:lblAlgn val="ctr"/>
        <c:lblOffset val="100"/>
        <c:noMultiLvlLbl val="0"/>
      </c:catAx>
      <c:valAx>
        <c:axId val="1684350432"/>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ln>
                  <a:noFill/>
                </a:ln>
                <a:solidFill>
                  <a:schemeClr val="tx1"/>
                </a:solidFill>
                <a:latin typeface="+mn-lt"/>
                <a:ea typeface="+mn-ea"/>
                <a:cs typeface="+mn-cs"/>
              </a:defRPr>
            </a:pPr>
            <a:endParaRPr lang="pl-PL"/>
          </a:p>
        </c:txPr>
        <c:crossAx val="109107873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ln>
                <a:noFill/>
              </a:ln>
              <a:solidFill>
                <a:schemeClr val="tx1"/>
              </a:solidFill>
              <a:latin typeface="+mn-lt"/>
              <a:ea typeface="+mn-ea"/>
              <a:cs typeface="+mn-cs"/>
            </a:defRPr>
          </a:pPr>
          <a:endParaRPr lang="pl-PL"/>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ln>
            <a:noFill/>
          </a:ln>
          <a:solidFill>
            <a:schemeClr val="tx1"/>
          </a:solidFill>
        </a:defRPr>
      </a:pPr>
      <a:endParaRPr lang="pl-PL"/>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l-PL"/>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view3D>
      <c:rotX val="15"/>
      <c:hPercent val="63"/>
      <c:rotY val="20"/>
      <c:depthPercent val="100"/>
      <c:rAngAx val="1"/>
    </c:view3D>
    <c:floor>
      <c:thickness val="0"/>
      <c:spPr>
        <a:solidFill>
          <a:srgbClr val="C0C0C0"/>
        </a:solidFill>
        <a:ln w="3175">
          <a:solidFill>
            <a:srgbClr val="000000"/>
          </a:solidFill>
          <a:prstDash val="solid"/>
        </a:ln>
      </c:spPr>
    </c:floor>
    <c:sideWall>
      <c:thickness val="0"/>
      <c:spPr>
        <a:solidFill>
          <a:srgbClr val="FFFFFF"/>
        </a:solidFill>
        <a:ln w="12700">
          <a:solidFill>
            <a:srgbClr val="808080"/>
          </a:solidFill>
          <a:prstDash val="solid"/>
        </a:ln>
      </c:spPr>
    </c:sideWall>
    <c:backWall>
      <c:thickness val="0"/>
      <c:spPr>
        <a:solidFill>
          <a:srgbClr val="FFFFFF"/>
        </a:solidFill>
        <a:ln w="12700">
          <a:solidFill>
            <a:srgbClr val="808080"/>
          </a:solidFill>
          <a:prstDash val="solid"/>
        </a:ln>
      </c:spPr>
    </c:backWall>
    <c:plotArea>
      <c:layout>
        <c:manualLayout>
          <c:layoutTarget val="inner"/>
          <c:xMode val="edge"/>
          <c:yMode val="edge"/>
          <c:x val="7.0320579110651496E-2"/>
          <c:y val="1.6949152542372881E-2"/>
          <c:w val="0.72802481902792138"/>
          <c:h val="0.7406779661016949"/>
        </c:manualLayout>
      </c:layout>
      <c:bar3DChart>
        <c:barDir val="col"/>
        <c:grouping val="percentStacked"/>
        <c:varyColors val="0"/>
        <c:ser>
          <c:idx val="0"/>
          <c:order val="0"/>
          <c:tx>
            <c:strRef>
              <c:f>Arkusz1!$EK$273</c:f>
              <c:strCache>
                <c:ptCount val="1"/>
                <c:pt idx="0">
                  <c:v>kupię inną </c:v>
                </c:pt>
              </c:strCache>
            </c:strRef>
          </c:tx>
          <c:spPr>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lin ang="10800000" scaled="1"/>
              <a:tileRect/>
            </a:gradFill>
            <a:ln w="12700">
              <a:solidFill>
                <a:srgbClr val="000000"/>
              </a:solidFill>
              <a:prstDash val="solid"/>
            </a:ln>
          </c:spPr>
          <c:invertIfNegative val="0"/>
          <c:cat>
            <c:strRef>
              <c:f>Arkusz1!$EJ$274:$EJ$277</c:f>
              <c:strCache>
                <c:ptCount val="4"/>
                <c:pt idx="0">
                  <c:v>lojalny wobec jednej marki</c:v>
                </c:pt>
                <c:pt idx="1">
                  <c:v>lojalny wobec dwóch marek</c:v>
                </c:pt>
                <c:pt idx="2">
                  <c:v>kilka </c:v>
                </c:pt>
                <c:pt idx="3">
                  <c:v>nie przywiązuje wagi do marki</c:v>
                </c:pt>
              </c:strCache>
            </c:strRef>
          </c:cat>
          <c:val>
            <c:numRef>
              <c:f>Arkusz1!$EK$274:$EK$277</c:f>
              <c:numCache>
                <c:formatCode>General</c:formatCode>
                <c:ptCount val="4"/>
                <c:pt idx="0">
                  <c:v>25</c:v>
                </c:pt>
                <c:pt idx="1">
                  <c:v>40.476190476190474</c:v>
                </c:pt>
                <c:pt idx="2">
                  <c:v>61.797752808988761</c:v>
                </c:pt>
                <c:pt idx="3">
                  <c:v>70.370370370370367</c:v>
                </c:pt>
              </c:numCache>
            </c:numRef>
          </c:val>
          <c:extLst>
            <c:ext xmlns:c16="http://schemas.microsoft.com/office/drawing/2014/chart" uri="{C3380CC4-5D6E-409C-BE32-E72D297353CC}">
              <c16:uniqueId val="{00000000-BD95-49EA-8AA7-2944581765C8}"/>
            </c:ext>
          </c:extLst>
        </c:ser>
        <c:ser>
          <c:idx val="1"/>
          <c:order val="1"/>
          <c:tx>
            <c:strRef>
              <c:f>Arkusz1!$EL$273</c:f>
              <c:strCache>
                <c:ptCount val="1"/>
                <c:pt idx="0">
                  <c:v>poszukam w innym sklepie</c:v>
                </c:pt>
              </c:strCache>
            </c:strRef>
          </c:tx>
          <c:spPr>
            <a:solidFill>
              <a:schemeClr val="tx2">
                <a:lumMod val="50000"/>
              </a:schemeClr>
            </a:solidFill>
            <a:ln w="12700">
              <a:solidFill>
                <a:srgbClr val="000000"/>
              </a:solidFill>
              <a:prstDash val="solid"/>
            </a:ln>
          </c:spPr>
          <c:invertIfNegative val="0"/>
          <c:cat>
            <c:strRef>
              <c:f>Arkusz1!$EJ$274:$EJ$277</c:f>
              <c:strCache>
                <c:ptCount val="4"/>
                <c:pt idx="0">
                  <c:v>lojalny wobec jednej marki</c:v>
                </c:pt>
                <c:pt idx="1">
                  <c:v>lojalny wobec dwóch marek</c:v>
                </c:pt>
                <c:pt idx="2">
                  <c:v>kilka </c:v>
                </c:pt>
                <c:pt idx="3">
                  <c:v>nie przywiązuje wagi do marki</c:v>
                </c:pt>
              </c:strCache>
            </c:strRef>
          </c:cat>
          <c:val>
            <c:numRef>
              <c:f>Arkusz1!$EL$274:$EL$277</c:f>
              <c:numCache>
                <c:formatCode>General</c:formatCode>
                <c:ptCount val="4"/>
                <c:pt idx="0">
                  <c:v>75</c:v>
                </c:pt>
                <c:pt idx="1">
                  <c:v>59.523809523809526</c:v>
                </c:pt>
                <c:pt idx="2">
                  <c:v>38.202247191011232</c:v>
                </c:pt>
                <c:pt idx="3">
                  <c:v>29.629629629629626</c:v>
                </c:pt>
              </c:numCache>
            </c:numRef>
          </c:val>
          <c:extLst>
            <c:ext xmlns:c16="http://schemas.microsoft.com/office/drawing/2014/chart" uri="{C3380CC4-5D6E-409C-BE32-E72D297353CC}">
              <c16:uniqueId val="{00000001-BD95-49EA-8AA7-2944581765C8}"/>
            </c:ext>
          </c:extLst>
        </c:ser>
        <c:dLbls>
          <c:showLegendKey val="0"/>
          <c:showVal val="0"/>
          <c:showCatName val="0"/>
          <c:showSerName val="0"/>
          <c:showPercent val="0"/>
          <c:showBubbleSize val="0"/>
        </c:dLbls>
        <c:gapWidth val="150"/>
        <c:shape val="box"/>
        <c:axId val="397697832"/>
        <c:axId val="397688816"/>
        <c:axId val="0"/>
      </c:bar3DChart>
      <c:catAx>
        <c:axId val="397697832"/>
        <c:scaling>
          <c:orientation val="minMax"/>
        </c:scaling>
        <c:delete val="0"/>
        <c:axPos val="b"/>
        <c:numFmt formatCode="General" sourceLinked="1"/>
        <c:majorTickMark val="out"/>
        <c:minorTickMark val="none"/>
        <c:tickLblPos val="low"/>
        <c:spPr>
          <a:ln w="3175">
            <a:solidFill>
              <a:srgbClr val="000000"/>
            </a:solidFill>
            <a:prstDash val="solid"/>
          </a:ln>
        </c:spPr>
        <c:txPr>
          <a:bodyPr rot="0" vert="horz"/>
          <a:lstStyle/>
          <a:p>
            <a:pPr>
              <a:defRPr sz="1600" b="0" i="0" u="none" strike="noStrike" baseline="0">
                <a:solidFill>
                  <a:srgbClr val="000000"/>
                </a:solidFill>
                <a:latin typeface="Arial"/>
                <a:ea typeface="Arial"/>
                <a:cs typeface="Arial"/>
              </a:defRPr>
            </a:pPr>
            <a:endParaRPr lang="pl-PL"/>
          </a:p>
        </c:txPr>
        <c:crossAx val="397688816"/>
        <c:crosses val="autoZero"/>
        <c:auto val="1"/>
        <c:lblAlgn val="ctr"/>
        <c:lblOffset val="100"/>
        <c:tickLblSkip val="1"/>
        <c:tickMarkSkip val="1"/>
        <c:noMultiLvlLbl val="0"/>
      </c:catAx>
      <c:valAx>
        <c:axId val="397688816"/>
        <c:scaling>
          <c:orientation val="minMax"/>
        </c:scaling>
        <c:delete val="0"/>
        <c:axPos val="l"/>
        <c:majorGridlines>
          <c:spPr>
            <a:ln w="3175">
              <a:solidFill>
                <a:srgbClr val="000000"/>
              </a:solidFill>
              <a:prstDash val="solid"/>
            </a:ln>
          </c:spPr>
        </c:majorGridlines>
        <c:numFmt formatCode="0%" sourceLinked="1"/>
        <c:majorTickMark val="out"/>
        <c:minorTickMark val="none"/>
        <c:tickLblPos val="nextTo"/>
        <c:spPr>
          <a:ln w="3175">
            <a:solidFill>
              <a:srgbClr val="000000"/>
            </a:solidFill>
            <a:prstDash val="solid"/>
          </a:ln>
        </c:spPr>
        <c:txPr>
          <a:bodyPr rot="0" vert="horz"/>
          <a:lstStyle/>
          <a:p>
            <a:pPr>
              <a:defRPr sz="1600" b="0" i="0" u="none" strike="noStrike" baseline="0">
                <a:solidFill>
                  <a:srgbClr val="000000"/>
                </a:solidFill>
                <a:latin typeface="Arial"/>
                <a:ea typeface="Arial"/>
                <a:cs typeface="Arial"/>
              </a:defRPr>
            </a:pPr>
            <a:endParaRPr lang="pl-PL"/>
          </a:p>
        </c:txPr>
        <c:crossAx val="397697832"/>
        <c:crosses val="autoZero"/>
        <c:crossBetween val="between"/>
      </c:valAx>
      <c:spPr>
        <a:noFill/>
        <a:ln w="25400">
          <a:noFill/>
        </a:ln>
      </c:spPr>
    </c:plotArea>
    <c:legend>
      <c:legendPos val="r"/>
      <c:layout>
        <c:manualLayout>
          <c:xMode val="edge"/>
          <c:yMode val="edge"/>
          <c:x val="0.80219483411736314"/>
          <c:y val="0.26092271799358413"/>
          <c:w val="0.165495312010072"/>
          <c:h val="0.25643438320209971"/>
        </c:manualLayout>
      </c:layout>
      <c:overlay val="0"/>
      <c:spPr>
        <a:solidFill>
          <a:srgbClr val="FFFFFF"/>
        </a:solidFill>
        <a:ln w="3175">
          <a:solidFill>
            <a:srgbClr val="000000"/>
          </a:solidFill>
          <a:prstDash val="solid"/>
        </a:ln>
      </c:spPr>
      <c:txPr>
        <a:bodyPr/>
        <a:lstStyle/>
        <a:p>
          <a:pPr>
            <a:defRPr sz="1600" b="1" i="0" u="none" strike="noStrike" baseline="0">
              <a:solidFill>
                <a:srgbClr val="000000"/>
              </a:solidFill>
              <a:latin typeface="Arial"/>
              <a:ea typeface="Arial"/>
              <a:cs typeface="Arial"/>
            </a:defRPr>
          </a:pPr>
          <a:endParaRPr lang="pl-PL"/>
        </a:p>
      </c:txPr>
    </c:legend>
    <c:plotVisOnly val="1"/>
    <c:dispBlanksAs val="gap"/>
    <c:showDLblsOverMax val="0"/>
  </c:chart>
  <c:spPr>
    <a:noFill/>
    <a:ln w="6350">
      <a:noFill/>
    </a:ln>
  </c:spPr>
  <c:txPr>
    <a:bodyPr/>
    <a:lstStyle/>
    <a:p>
      <a:pPr>
        <a:defRPr sz="1000" b="0" i="0" u="none" strike="noStrike" baseline="0">
          <a:solidFill>
            <a:srgbClr val="000000"/>
          </a:solidFill>
          <a:latin typeface="Arial"/>
          <a:ea typeface="Arial"/>
          <a:cs typeface="Arial"/>
        </a:defRPr>
      </a:pPr>
      <a:endParaRPr lang="pl-PL"/>
    </a:p>
  </c:txPr>
  <c:externalData r:id="rId1">
    <c:autoUpdate val="0"/>
  </c:externalData>
  <c:userShapes r:id="rId2"/>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l-PL"/>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5.5587112169707846E-2"/>
          <c:y val="1.8515572486051509E-2"/>
          <c:w val="0.90072751505719006"/>
          <c:h val="0.86587436332767398"/>
        </c:manualLayout>
      </c:layout>
      <c:barChart>
        <c:barDir val="col"/>
        <c:grouping val="clustered"/>
        <c:varyColors val="0"/>
        <c:ser>
          <c:idx val="0"/>
          <c:order val="0"/>
          <c:tx>
            <c:strRef>
              <c:f>Arkusz1!$EV$282:$EV$283</c:f>
              <c:strCache>
                <c:ptCount val="2"/>
                <c:pt idx="0">
                  <c:v>zachowania</c:v>
                </c:pt>
                <c:pt idx="1">
                  <c:v>ogółem</c:v>
                </c:pt>
              </c:strCache>
            </c:strRef>
          </c:tx>
          <c:spPr>
            <a:gradFill flip="none" rotWithShape="1">
              <a:gsLst>
                <a:gs pos="0">
                  <a:schemeClr val="tx2">
                    <a:lumMod val="75000"/>
                    <a:shade val="30000"/>
                    <a:satMod val="115000"/>
                  </a:schemeClr>
                </a:gs>
                <a:gs pos="50000">
                  <a:schemeClr val="tx2">
                    <a:lumMod val="75000"/>
                    <a:shade val="67500"/>
                    <a:satMod val="115000"/>
                  </a:schemeClr>
                </a:gs>
                <a:gs pos="100000">
                  <a:schemeClr val="tx2">
                    <a:lumMod val="75000"/>
                    <a:shade val="100000"/>
                    <a:satMod val="115000"/>
                  </a:schemeClr>
                </a:gs>
              </a:gsLst>
              <a:path path="circle">
                <a:fillToRect l="50000" t="50000" r="50000" b="50000"/>
              </a:path>
              <a:tileRect/>
            </a:gradFill>
            <a:ln w="12700">
              <a:solidFill>
                <a:srgbClr val="000000"/>
              </a:solidFill>
              <a:prstDash val="solid"/>
            </a:ln>
          </c:spPr>
          <c:invertIfNegative val="0"/>
          <c:cat>
            <c:strRef>
              <c:f>Arkusz1!$EU$284:$EU$285</c:f>
              <c:strCache>
                <c:ptCount val="2"/>
                <c:pt idx="0">
                  <c:v>kupiłem pastę nie spełniającą moich oczekiwań i powiedziałem o tym znajomym</c:v>
                </c:pt>
                <c:pt idx="1">
                  <c:v>kupiłem pastę nie spełniającą moich oczekiwań i nie powiedziałem o tym znajomym</c:v>
                </c:pt>
              </c:strCache>
            </c:strRef>
          </c:cat>
          <c:val>
            <c:numRef>
              <c:f>Arkusz1!$EV$284:$EV$285</c:f>
              <c:numCache>
                <c:formatCode>0.0</c:formatCode>
                <c:ptCount val="2"/>
                <c:pt idx="0">
                  <c:v>39.615384615384613</c:v>
                </c:pt>
                <c:pt idx="1">
                  <c:v>18.846153846153847</c:v>
                </c:pt>
              </c:numCache>
            </c:numRef>
          </c:val>
          <c:extLst>
            <c:ext xmlns:c16="http://schemas.microsoft.com/office/drawing/2014/chart" uri="{C3380CC4-5D6E-409C-BE32-E72D297353CC}">
              <c16:uniqueId val="{00000000-ADB3-420E-B269-1B4671BD452D}"/>
            </c:ext>
          </c:extLst>
        </c:ser>
        <c:ser>
          <c:idx val="1"/>
          <c:order val="1"/>
          <c:tx>
            <c:strRef>
              <c:f>Arkusz1!$EW$282:$EW$283</c:f>
              <c:strCache>
                <c:ptCount val="2"/>
                <c:pt idx="0">
                  <c:v>zachowania</c:v>
                </c:pt>
                <c:pt idx="1">
                  <c:v>kobiety</c:v>
                </c:pt>
              </c:strCache>
            </c:strRef>
          </c:tx>
          <c:spPr>
            <a:gradFill flip="none" rotWithShape="1">
              <a:gsLst>
                <a:gs pos="0">
                  <a:schemeClr val="accent5">
                    <a:lumMod val="50000"/>
                    <a:shade val="30000"/>
                    <a:satMod val="115000"/>
                  </a:schemeClr>
                </a:gs>
                <a:gs pos="50000">
                  <a:schemeClr val="accent5">
                    <a:lumMod val="50000"/>
                    <a:shade val="67500"/>
                    <a:satMod val="115000"/>
                  </a:schemeClr>
                </a:gs>
                <a:gs pos="100000">
                  <a:schemeClr val="accent5">
                    <a:lumMod val="50000"/>
                    <a:shade val="100000"/>
                    <a:satMod val="115000"/>
                  </a:schemeClr>
                </a:gs>
              </a:gsLst>
              <a:lin ang="10800000" scaled="1"/>
              <a:tileRect/>
            </a:gradFill>
            <a:ln w="12700">
              <a:solidFill>
                <a:srgbClr val="000000"/>
              </a:solidFill>
              <a:prstDash val="solid"/>
            </a:ln>
          </c:spPr>
          <c:invertIfNegative val="0"/>
          <c:cat>
            <c:strRef>
              <c:f>Arkusz1!$EU$284:$EU$285</c:f>
              <c:strCache>
                <c:ptCount val="2"/>
                <c:pt idx="0">
                  <c:v>kupiłem pastę nie spełniającą moich oczekiwań i powiedziałem o tym znajomym</c:v>
                </c:pt>
                <c:pt idx="1">
                  <c:v>kupiłem pastę nie spełniającą moich oczekiwań i nie powiedziałem o tym znajomym</c:v>
                </c:pt>
              </c:strCache>
            </c:strRef>
          </c:cat>
          <c:val>
            <c:numRef>
              <c:f>Arkusz1!$EW$284:$EW$285</c:f>
              <c:numCache>
                <c:formatCode>0.0</c:formatCode>
                <c:ptCount val="2"/>
                <c:pt idx="0">
                  <c:v>43.949044585987259</c:v>
                </c:pt>
                <c:pt idx="1">
                  <c:v>19.108280254777071</c:v>
                </c:pt>
              </c:numCache>
            </c:numRef>
          </c:val>
          <c:extLst>
            <c:ext xmlns:c16="http://schemas.microsoft.com/office/drawing/2014/chart" uri="{C3380CC4-5D6E-409C-BE32-E72D297353CC}">
              <c16:uniqueId val="{00000001-ADB3-420E-B269-1B4671BD452D}"/>
            </c:ext>
          </c:extLst>
        </c:ser>
        <c:ser>
          <c:idx val="2"/>
          <c:order val="2"/>
          <c:tx>
            <c:strRef>
              <c:f>Arkusz1!$EX$282:$EX$283</c:f>
              <c:strCache>
                <c:ptCount val="2"/>
                <c:pt idx="0">
                  <c:v>zachowania</c:v>
                </c:pt>
                <c:pt idx="1">
                  <c:v>mężczyźni</c:v>
                </c:pt>
              </c:strCache>
            </c:strRef>
          </c:tx>
          <c:spPr>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lin ang="0" scaled="1"/>
              <a:tileRect/>
            </a:gradFill>
            <a:ln w="12700">
              <a:solidFill>
                <a:srgbClr val="000000"/>
              </a:solidFill>
              <a:prstDash val="solid"/>
            </a:ln>
          </c:spPr>
          <c:invertIfNegative val="0"/>
          <c:cat>
            <c:strRef>
              <c:f>Arkusz1!$EU$284:$EU$285</c:f>
              <c:strCache>
                <c:ptCount val="2"/>
                <c:pt idx="0">
                  <c:v>kupiłem pastę nie spełniającą moich oczekiwań i powiedziałem o tym znajomym</c:v>
                </c:pt>
                <c:pt idx="1">
                  <c:v>kupiłem pastę nie spełniającą moich oczekiwań i nie powiedziałem o tym znajomym</c:v>
                </c:pt>
              </c:strCache>
            </c:strRef>
          </c:cat>
          <c:val>
            <c:numRef>
              <c:f>Arkusz1!$EX$284:$EX$285</c:f>
              <c:numCache>
                <c:formatCode>0.0</c:formatCode>
                <c:ptCount val="2"/>
                <c:pt idx="0">
                  <c:v>33.009708737864081</c:v>
                </c:pt>
                <c:pt idx="1">
                  <c:v>18.446601941747574</c:v>
                </c:pt>
              </c:numCache>
            </c:numRef>
          </c:val>
          <c:extLst>
            <c:ext xmlns:c16="http://schemas.microsoft.com/office/drawing/2014/chart" uri="{C3380CC4-5D6E-409C-BE32-E72D297353CC}">
              <c16:uniqueId val="{00000002-ADB3-420E-B269-1B4671BD452D}"/>
            </c:ext>
          </c:extLst>
        </c:ser>
        <c:dLbls>
          <c:showLegendKey val="0"/>
          <c:showVal val="0"/>
          <c:showCatName val="0"/>
          <c:showSerName val="0"/>
          <c:showPercent val="0"/>
          <c:showBubbleSize val="0"/>
        </c:dLbls>
        <c:gapWidth val="150"/>
        <c:axId val="397699792"/>
        <c:axId val="397700968"/>
      </c:barChart>
      <c:catAx>
        <c:axId val="397699792"/>
        <c:scaling>
          <c:orientation val="minMax"/>
        </c:scaling>
        <c:delete val="0"/>
        <c:axPos val="b"/>
        <c:numFmt formatCode="General" sourceLinked="1"/>
        <c:majorTickMark val="out"/>
        <c:minorTickMark val="none"/>
        <c:tickLblPos val="nextTo"/>
        <c:spPr>
          <a:ln w="3175">
            <a:solidFill>
              <a:srgbClr val="000000"/>
            </a:solidFill>
            <a:prstDash val="solid"/>
          </a:ln>
        </c:spPr>
        <c:txPr>
          <a:bodyPr rot="0" vert="horz"/>
          <a:lstStyle/>
          <a:p>
            <a:pPr>
              <a:defRPr>
                <a:solidFill>
                  <a:schemeClr val="tx1"/>
                </a:solidFill>
              </a:defRPr>
            </a:pPr>
            <a:endParaRPr lang="pl-PL"/>
          </a:p>
        </c:txPr>
        <c:crossAx val="397700968"/>
        <c:crosses val="autoZero"/>
        <c:auto val="1"/>
        <c:lblAlgn val="ctr"/>
        <c:lblOffset val="100"/>
        <c:tickLblSkip val="1"/>
        <c:tickMarkSkip val="1"/>
        <c:noMultiLvlLbl val="0"/>
      </c:catAx>
      <c:valAx>
        <c:axId val="397700968"/>
        <c:scaling>
          <c:orientation val="minMax"/>
        </c:scaling>
        <c:delete val="0"/>
        <c:axPos val="l"/>
        <c:majorGridlines>
          <c:spPr>
            <a:ln w="3175">
              <a:solidFill>
                <a:srgbClr val="000000"/>
              </a:solidFill>
              <a:prstDash val="solid"/>
            </a:ln>
          </c:spPr>
        </c:majorGridlines>
        <c:numFmt formatCode="0.0" sourceLinked="1"/>
        <c:majorTickMark val="out"/>
        <c:minorTickMark val="none"/>
        <c:tickLblPos val="nextTo"/>
        <c:spPr>
          <a:ln w="3175">
            <a:solidFill>
              <a:srgbClr val="000000"/>
            </a:solidFill>
            <a:prstDash val="solid"/>
          </a:ln>
        </c:spPr>
        <c:txPr>
          <a:bodyPr rot="0" vert="horz"/>
          <a:lstStyle/>
          <a:p>
            <a:pPr>
              <a:defRPr>
                <a:solidFill>
                  <a:schemeClr val="tx1"/>
                </a:solidFill>
              </a:defRPr>
            </a:pPr>
            <a:endParaRPr lang="pl-PL"/>
          </a:p>
        </c:txPr>
        <c:crossAx val="397699792"/>
        <c:crosses val="autoZero"/>
        <c:crossBetween val="between"/>
      </c:valAx>
      <c:spPr>
        <a:solidFill>
          <a:schemeClr val="accent1">
            <a:lumMod val="60000"/>
            <a:lumOff val="40000"/>
          </a:schemeClr>
        </a:solidFill>
        <a:ln w="12700">
          <a:solidFill>
            <a:srgbClr val="808080"/>
          </a:solidFill>
          <a:prstDash val="solid"/>
        </a:ln>
      </c:spPr>
    </c:plotArea>
    <c:legend>
      <c:legendPos val="r"/>
      <c:layout>
        <c:manualLayout>
          <c:xMode val="edge"/>
          <c:yMode val="edge"/>
          <c:x val="0.59365744033568901"/>
          <c:y val="3.9127898198312597E-2"/>
          <c:w val="0.3781306863258671"/>
          <c:h val="0.2686141201875622"/>
        </c:manualLayout>
      </c:layout>
      <c:overlay val="0"/>
      <c:spPr>
        <a:solidFill>
          <a:srgbClr val="FFFFFF"/>
        </a:solidFill>
        <a:ln w="3175">
          <a:solidFill>
            <a:srgbClr val="000000"/>
          </a:solidFill>
          <a:prstDash val="solid"/>
        </a:ln>
      </c:spPr>
    </c:legend>
    <c:plotVisOnly val="1"/>
    <c:dispBlanksAs val="gap"/>
    <c:showDLblsOverMax val="0"/>
  </c:chart>
  <c:spPr>
    <a:noFill/>
    <a:ln w="6350">
      <a:noFill/>
    </a:ln>
  </c:spPr>
  <c:txPr>
    <a:bodyPr/>
    <a:lstStyle/>
    <a:p>
      <a:pPr>
        <a:defRPr sz="1800" b="0" i="0" u="none" strike="noStrike" baseline="0">
          <a:solidFill>
            <a:srgbClr val="000000"/>
          </a:solidFill>
          <a:latin typeface="Arial"/>
          <a:ea typeface="Arial"/>
          <a:cs typeface="Arial"/>
        </a:defRPr>
      </a:pPr>
      <a:endParaRPr lang="pl-PL"/>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0.05901</cdr:x>
      <cdr:y>0.01701</cdr:y>
    </cdr:from>
    <cdr:to>
      <cdr:x>0.97249</cdr:x>
      <cdr:y>0.12201</cdr:y>
    </cdr:to>
    <cdr:sp macro="" textlink="">
      <cdr:nvSpPr>
        <cdr:cNvPr id="3073" name="Rectangle 1"/>
        <cdr:cNvSpPr>
          <a:spLocks xmlns:a="http://schemas.openxmlformats.org/drawingml/2006/main" noChangeArrowheads="1"/>
        </cdr:cNvSpPr>
      </cdr:nvSpPr>
      <cdr:spPr bwMode="auto">
        <a:xfrm xmlns:a="http://schemas.openxmlformats.org/drawingml/2006/main">
          <a:off x="539587" y="116655"/>
          <a:ext cx="8352862" cy="720057"/>
        </a:xfrm>
        <a:prstGeom xmlns:a="http://schemas.openxmlformats.org/drawingml/2006/main" prst="rect">
          <a:avLst/>
        </a:prstGeom>
        <a:solidFill xmlns:a="http://schemas.openxmlformats.org/drawingml/2006/main">
          <a:srgbClr xmlns:mc="http://schemas.openxmlformats.org/markup-compatibility/2006" xmlns:a14="http://schemas.microsoft.com/office/drawing/2010/main" val="FFFFFF" mc:Ignorable="a14" a14:legacySpreadsheetColorIndex="9"/>
        </a:solidFill>
        <a:ln xmlns:a="http://schemas.openxmlformats.org/drawingml/2006/main">
          <a:noFill/>
        </a:ln>
        <a:extLst xmlns:a="http://schemas.openxmlformats.org/drawingml/2006/main">
          <a:ext uri="{91240B29-F687-4F45-9708-019B960494DF}">
            <a14:hiddenLine xmlns:a14="http://schemas.microsoft.com/office/drawing/2010/main" w="9525">
              <a:solidFill>
                <a:srgbClr xmlns:mc="http://schemas.openxmlformats.org/markup-compatibility/2006" val="000000" mc:Ignorable="a14" a14:legacySpreadsheetColorIndex="64"/>
              </a:solidFill>
              <a:miter lim="800000"/>
              <a:headEnd/>
              <a:tailEnd/>
            </a14:hiddenLine>
          </a:ext>
        </a:extLst>
      </cdr:spPr>
      <cdr:txBody>
        <a:bodyPr xmlns:a="http://schemas.openxmlformats.org/drawingml/2006/main" vertOverflow="clip" wrap="square" lIns="27432" tIns="22860" rIns="0" bIns="0" anchor="t" upright="1"/>
        <a:lstStyle xmlns:a="http://schemas.openxmlformats.org/drawingml/2006/main"/>
        <a:p xmlns:a="http://schemas.openxmlformats.org/drawingml/2006/main">
          <a:pPr algn="l" rtl="0">
            <a:defRPr sz="1000"/>
          </a:pPr>
          <a:r>
            <a:rPr lang="pl-PL" sz="1600" b="0" i="0" u="none" strike="noStrike" baseline="0" dirty="0">
              <a:solidFill>
                <a:srgbClr val="000000"/>
              </a:solidFill>
              <a:latin typeface="Arial"/>
              <a:cs typeface="Arial"/>
            </a:rPr>
            <a:t>Rys.1. Preferencje użytkowania różnych marek pasty do zębów</a:t>
          </a:r>
        </a:p>
        <a:p xmlns:a="http://schemas.openxmlformats.org/drawingml/2006/main">
          <a:pPr algn="l" rtl="0">
            <a:defRPr sz="1000"/>
          </a:pPr>
          <a:r>
            <a:rPr lang="pl-PL" sz="1600" b="0" i="0" u="none" strike="noStrike" baseline="0" dirty="0">
              <a:solidFill>
                <a:srgbClr val="000000"/>
              </a:solidFill>
              <a:latin typeface="Arial"/>
              <a:cs typeface="Arial"/>
            </a:rPr>
            <a:t>Źródło: opracowanie własne na podstawie badań ankietowych</a:t>
          </a:r>
        </a:p>
      </cdr:txBody>
    </cdr:sp>
  </cdr:relSizeAnchor>
  <cdr:relSizeAnchor xmlns:cdr="http://schemas.openxmlformats.org/drawingml/2006/chartDrawing">
    <cdr:from>
      <cdr:x>0.06475</cdr:x>
      <cdr:y>0.086</cdr:y>
    </cdr:from>
    <cdr:to>
      <cdr:x>0.091</cdr:x>
      <cdr:y>0.13075</cdr:y>
    </cdr:to>
    <cdr:sp macro="" textlink="">
      <cdr:nvSpPr>
        <cdr:cNvPr id="3074" name="Rectangle 2"/>
        <cdr:cNvSpPr>
          <a:spLocks xmlns:a="http://schemas.openxmlformats.org/drawingml/2006/main" noChangeArrowheads="1"/>
        </cdr:cNvSpPr>
      </cdr:nvSpPr>
      <cdr:spPr bwMode="auto">
        <a:xfrm xmlns:a="http://schemas.openxmlformats.org/drawingml/2006/main">
          <a:off x="597625" y="482479"/>
          <a:ext cx="242280" cy="251058"/>
        </a:xfrm>
        <a:prstGeom xmlns:a="http://schemas.openxmlformats.org/drawingml/2006/main" prst="rect">
          <a:avLst/>
        </a:prstGeom>
        <a:solidFill xmlns:a="http://schemas.openxmlformats.org/drawingml/2006/main">
          <a:srgbClr xmlns:mc="http://schemas.openxmlformats.org/markup-compatibility/2006" xmlns:a14="http://schemas.microsoft.com/office/drawing/2010/main" val="FFFFFF" mc:Ignorable="a14" a14:legacySpreadsheetColorIndex="9"/>
        </a:solidFill>
        <a:ln xmlns:a="http://schemas.openxmlformats.org/drawingml/2006/main">
          <a:noFill/>
        </a:ln>
        <a:extLst xmlns:a="http://schemas.openxmlformats.org/drawingml/2006/main">
          <a:ext uri="{91240B29-F687-4F45-9708-019B960494DF}">
            <a14:hiddenLine xmlns:a14="http://schemas.microsoft.com/office/drawing/2010/main" w="9525">
              <a:solidFill>
                <a:srgbClr xmlns:mc="http://schemas.openxmlformats.org/markup-compatibility/2006" val="000000" mc:Ignorable="a14" a14:legacySpreadsheetColorIndex="64"/>
              </a:solidFill>
              <a:miter lim="800000"/>
              <a:headEnd/>
              <a:tailEnd/>
            </a14:hiddenLine>
          </a:ext>
        </a:extLst>
      </cdr:spPr>
      <cdr:txBody>
        <a:bodyPr xmlns:a="http://schemas.openxmlformats.org/drawingml/2006/main" vertOverflow="clip" wrap="square" lIns="27432" tIns="22860" rIns="0" bIns="0" anchor="t" upright="1"/>
        <a:lstStyle xmlns:a="http://schemas.openxmlformats.org/drawingml/2006/main"/>
        <a:p xmlns:a="http://schemas.openxmlformats.org/drawingml/2006/main">
          <a:pPr algn="l" rtl="0">
            <a:defRPr sz="1000"/>
          </a:pPr>
          <a:r>
            <a:rPr lang="pl-PL" sz="1600" b="1" i="0" u="none" strike="noStrike" baseline="0" dirty="0">
              <a:solidFill>
                <a:srgbClr val="000000"/>
              </a:solidFill>
              <a:latin typeface="Arial"/>
              <a:cs typeface="Arial"/>
            </a:rPr>
            <a:t>%</a:t>
          </a:r>
        </a:p>
      </cdr:txBody>
    </cdr:sp>
  </cdr:relSizeAnchor>
</c:userShapes>
</file>

<file path=ppt/drawings/drawing2.xml><?xml version="1.0" encoding="utf-8"?>
<c:userShapes xmlns:c="http://schemas.openxmlformats.org/drawingml/2006/chart">
  <cdr:relSizeAnchor xmlns:cdr="http://schemas.openxmlformats.org/drawingml/2006/chartDrawing">
    <cdr:from>
      <cdr:x>0.05575</cdr:x>
      <cdr:y>0.84275</cdr:y>
    </cdr:from>
    <cdr:to>
      <cdr:x>0.88706</cdr:x>
      <cdr:y>1</cdr:y>
    </cdr:to>
    <cdr:sp macro="" textlink="">
      <cdr:nvSpPr>
        <cdr:cNvPr id="2049" name="Rectangle 1"/>
        <cdr:cNvSpPr>
          <a:spLocks xmlns:a="http://schemas.openxmlformats.org/drawingml/2006/main" noChangeArrowheads="1"/>
        </cdr:cNvSpPr>
      </cdr:nvSpPr>
      <cdr:spPr bwMode="auto">
        <a:xfrm xmlns:a="http://schemas.openxmlformats.org/drawingml/2006/main">
          <a:off x="513132" y="5779580"/>
          <a:ext cx="7651502" cy="1078419"/>
        </a:xfrm>
        <a:prstGeom xmlns:a="http://schemas.openxmlformats.org/drawingml/2006/main" prst="rect">
          <a:avLst/>
        </a:prstGeom>
        <a:solidFill xmlns:a="http://schemas.openxmlformats.org/drawingml/2006/main">
          <a:srgbClr xmlns:mc="http://schemas.openxmlformats.org/markup-compatibility/2006" xmlns:a14="http://schemas.microsoft.com/office/drawing/2010/main" val="FFFFFF" mc:Ignorable="a14" a14:legacySpreadsheetColorIndex="9"/>
        </a:solidFill>
        <a:ln xmlns:a="http://schemas.openxmlformats.org/drawingml/2006/main">
          <a:noFill/>
        </a:ln>
        <a:extLst xmlns:a="http://schemas.openxmlformats.org/drawingml/2006/main">
          <a:ext uri="{91240B29-F687-4F45-9708-019B960494DF}">
            <a14:hiddenLine xmlns:a14="http://schemas.microsoft.com/office/drawing/2010/main" w="9525">
              <a:solidFill>
                <a:srgbClr xmlns:mc="http://schemas.openxmlformats.org/markup-compatibility/2006" val="000000" mc:Ignorable="a14" a14:legacySpreadsheetColorIndex="64"/>
              </a:solidFill>
              <a:miter lim="800000"/>
              <a:headEnd/>
              <a:tailEnd/>
            </a14:hiddenLine>
          </a:ext>
        </a:extLst>
      </cdr:spPr>
      <cdr:txBody>
        <a:bodyPr xmlns:a="http://schemas.openxmlformats.org/drawingml/2006/main" vertOverflow="clip" wrap="square" lIns="27432" tIns="22860" rIns="0" bIns="0" anchor="t" upright="1"/>
        <a:lstStyle xmlns:a="http://schemas.openxmlformats.org/drawingml/2006/main"/>
        <a:p xmlns:a="http://schemas.openxmlformats.org/drawingml/2006/main">
          <a:pPr algn="l" rtl="0">
            <a:defRPr sz="1000"/>
          </a:pPr>
          <a:r>
            <a:rPr lang="pl-PL" sz="2000" b="0" i="0" u="none" strike="noStrike" baseline="0" dirty="0">
              <a:solidFill>
                <a:srgbClr val="000000"/>
              </a:solidFill>
              <a:latin typeface="Arial"/>
              <a:cs typeface="Arial"/>
            </a:rPr>
            <a:t>Rys.5. Ocena deklarowanej lojalności wobec marki</a:t>
          </a:r>
        </a:p>
        <a:p xmlns:a="http://schemas.openxmlformats.org/drawingml/2006/main">
          <a:pPr algn="l" rtl="0">
            <a:defRPr sz="1000"/>
          </a:pPr>
          <a:r>
            <a:rPr lang="pl-PL" sz="2000" b="0" i="0" u="none" strike="noStrike" baseline="0" dirty="0">
              <a:solidFill>
                <a:srgbClr val="000000"/>
              </a:solidFill>
              <a:latin typeface="Arial"/>
              <a:cs typeface="Arial"/>
            </a:rPr>
            <a:t>Źródło: opracowanie własne na podstawie badań ankietowych</a:t>
          </a: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nagłówka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l-PL"/>
          </a:p>
        </p:txBody>
      </p:sp>
      <p:sp>
        <p:nvSpPr>
          <p:cNvPr id="3" name="Symbol zastępczy daty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6ED1F2-775B-452A-A64B-06FF13405C1F}" type="datetimeFigureOut">
              <a:rPr lang="pl-PL" smtClean="0"/>
              <a:t>10.04.2026</a:t>
            </a:fld>
            <a:endParaRPr lang="pl-PL"/>
          </a:p>
        </p:txBody>
      </p:sp>
      <p:sp>
        <p:nvSpPr>
          <p:cNvPr id="4" name="Symbol zastępczy obrazu slajd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l-PL"/>
          </a:p>
        </p:txBody>
      </p:sp>
      <p:sp>
        <p:nvSpPr>
          <p:cNvPr id="5" name="Symbol zastępczy notatek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6" name="Symbol zastępczy stopki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l-PL"/>
          </a:p>
        </p:txBody>
      </p:sp>
      <p:sp>
        <p:nvSpPr>
          <p:cNvPr id="7" name="Symbol zastępczy numeru slajd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9074AA-B067-463D-A9CE-28D7535E3CB4}" type="slidenum">
              <a:rPr lang="pl-PL" smtClean="0"/>
              <a:t>‹#›</a:t>
            </a:fld>
            <a:endParaRPr lang="pl-PL"/>
          </a:p>
        </p:txBody>
      </p:sp>
    </p:spTree>
    <p:extLst>
      <p:ext uri="{BB962C8B-B14F-4D97-AF65-F5344CB8AC3E}">
        <p14:creationId xmlns:p14="http://schemas.microsoft.com/office/powerpoint/2010/main" val="25997424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dirty="0"/>
          </a:p>
        </p:txBody>
      </p:sp>
      <p:sp>
        <p:nvSpPr>
          <p:cNvPr id="4" name="Symbol zastępczy numeru slajdu 3"/>
          <p:cNvSpPr>
            <a:spLocks noGrp="1"/>
          </p:cNvSpPr>
          <p:nvPr>
            <p:ph type="sldNum" sz="quarter" idx="10"/>
          </p:nvPr>
        </p:nvSpPr>
        <p:spPr/>
        <p:txBody>
          <a:bodyPr/>
          <a:lstStyle/>
          <a:p>
            <a:fld id="{26A97467-5FD0-42CE-A713-1918172A44E1}" type="slidenum">
              <a:rPr lang="pl-PL" smtClean="0"/>
              <a:t>9</a:t>
            </a:fld>
            <a:endParaRPr lang="pl-PL"/>
          </a:p>
        </p:txBody>
      </p:sp>
    </p:spTree>
    <p:extLst>
      <p:ext uri="{BB962C8B-B14F-4D97-AF65-F5344CB8AC3E}">
        <p14:creationId xmlns:p14="http://schemas.microsoft.com/office/powerpoint/2010/main" val="41201583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ajd tytułowy">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pl-PL"/>
              <a:t>Kliknij, aby edytować styl</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l-PL"/>
              <a:t>Kliknij, aby edytować styl wzorca podtytułu</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dirty="0"/>
              <a:t>4/10/2026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l-PL"/>
              <a:t>Kliknij, aby edytować styl</a:t>
            </a:r>
            <a:endParaRPr lang="en-US" dirty="0"/>
          </a:p>
        </p:txBody>
      </p:sp>
      <p:sp>
        <p:nvSpPr>
          <p:cNvPr id="3" name="Content Placeholder 2"/>
          <p:cNvSpPr>
            <a:spLocks noGrp="1"/>
          </p:cNvSpPr>
          <p:nvPr>
            <p:ph idx="1"/>
          </p:nvPr>
        </p:nvSpPr>
        <p:spPr/>
        <p:txBody>
          <a:body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7" name="Date Placeholder 3"/>
          <p:cNvSpPr>
            <a:spLocks noGrp="1"/>
          </p:cNvSpPr>
          <p:nvPr>
            <p:ph type="dt" sz="half" idx="10"/>
          </p:nvPr>
        </p:nvSpPr>
        <p:spPr/>
        <p:txBody>
          <a:bodyPr/>
          <a:lstStyle/>
          <a:p>
            <a:fld id="{4509A250-FF31-4206-8172-F9D3106AACB1}" type="datetimeFigureOut">
              <a:rPr lang="en-US" dirty="0"/>
              <a:t>4/10/2026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pl-PL"/>
              <a:t>Kliknij, aby edytować styl</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l-PL"/>
              <a:t>Edytuj style wzorca tekstu</a:t>
            </a:r>
          </a:p>
        </p:txBody>
      </p:sp>
      <p:sp>
        <p:nvSpPr>
          <p:cNvPr id="4" name="Date Placeholder 3"/>
          <p:cNvSpPr>
            <a:spLocks noGrp="1"/>
          </p:cNvSpPr>
          <p:nvPr>
            <p:ph type="dt" sz="half" idx="10"/>
          </p:nvPr>
        </p:nvSpPr>
        <p:spPr/>
        <p:txBody>
          <a:bodyPr/>
          <a:lstStyle/>
          <a:p>
            <a:fld id="{9796027F-7875-4030-9381-8BD8C4F21935}" type="datetimeFigureOut">
              <a:rPr lang="en-US" dirty="0"/>
              <a:t>4/10/2026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l-PL"/>
              <a:t>Kliknij, aby edytować styl</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dirty="0"/>
              <a:t>4/10/2026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pl-PL"/>
              <a:t>Kliknij, aby edytować styl</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Edytuj style wzorca tekstu</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Edytuj style wzorca tekstu</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dirty="0"/>
              <a:t>4/10/2026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l-PL"/>
              <a:t>Kliknij, aby edytować styl</a:t>
            </a:r>
            <a:endParaRPr lang="en-US" dirty="0"/>
          </a:p>
        </p:txBody>
      </p:sp>
      <p:sp>
        <p:nvSpPr>
          <p:cNvPr id="7" name="Date Placeholder 2"/>
          <p:cNvSpPr>
            <a:spLocks noGrp="1"/>
          </p:cNvSpPr>
          <p:nvPr>
            <p:ph type="dt" sz="half" idx="10"/>
          </p:nvPr>
        </p:nvSpPr>
        <p:spPr/>
        <p:txBody>
          <a:bodyPr/>
          <a:lstStyle/>
          <a:p>
            <a:fld id="{4509A250-FF31-4206-8172-F9D3106AACB1}" type="datetimeFigureOut">
              <a:rPr lang="en-US" dirty="0"/>
              <a:t>4/10/2026</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4/10/2026</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pl-PL"/>
              <a:t>Kliknij, aby edytować styl</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Edytuj style wzorca tekstu</a:t>
            </a:r>
          </a:p>
        </p:txBody>
      </p:sp>
      <p:sp>
        <p:nvSpPr>
          <p:cNvPr id="7" name="Date Placeholder 4"/>
          <p:cNvSpPr>
            <a:spLocks noGrp="1"/>
          </p:cNvSpPr>
          <p:nvPr>
            <p:ph type="dt" sz="half" idx="10"/>
          </p:nvPr>
        </p:nvSpPr>
        <p:spPr/>
        <p:txBody>
          <a:bodyPr/>
          <a:lstStyle/>
          <a:p>
            <a:fld id="{4509A250-FF31-4206-8172-F9D3106AACB1}" type="datetimeFigureOut">
              <a:rPr lang="en-US" dirty="0"/>
              <a:t>4/10/2026</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pl-PL"/>
              <a:t>Kliknij, aby edytować styl</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l-PL"/>
              <a:t>Kliknij ikonę, aby dodać obraz</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Edytuj style wzorca tekstu</a:t>
            </a:r>
          </a:p>
        </p:txBody>
      </p:sp>
      <p:sp>
        <p:nvSpPr>
          <p:cNvPr id="5" name="Date Placeholder 4"/>
          <p:cNvSpPr>
            <a:spLocks noGrp="1"/>
          </p:cNvSpPr>
          <p:nvPr>
            <p:ph type="dt" sz="half" idx="10"/>
          </p:nvPr>
        </p:nvSpPr>
        <p:spPr/>
        <p:txBody>
          <a:bodyPr/>
          <a:lstStyle/>
          <a:p>
            <a:fld id="{4509A250-FF31-4206-8172-F9D3106AACB1}" type="datetimeFigureOut">
              <a:rPr lang="en-US" dirty="0"/>
              <a:t>4/10/2026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Obraz panoramiczny z podpisem">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pl-PL"/>
              <a:t>Kliknij, aby edytować styl</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l-PL"/>
              <a:t>Kliknij ikonę, aby dodać obraz</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Edytuj style wzorca tekstu</a:t>
            </a:r>
          </a:p>
        </p:txBody>
      </p:sp>
      <p:sp>
        <p:nvSpPr>
          <p:cNvPr id="5" name="Date Placeholder 4"/>
          <p:cNvSpPr>
            <a:spLocks noGrp="1"/>
          </p:cNvSpPr>
          <p:nvPr>
            <p:ph type="dt" sz="half" idx="10"/>
          </p:nvPr>
        </p:nvSpPr>
        <p:spPr/>
        <p:txBody>
          <a:bodyPr/>
          <a:lstStyle/>
          <a:p>
            <a:fld id="{4509A250-FF31-4206-8172-F9D3106AACB1}" type="datetimeFigureOut">
              <a:rPr lang="en-US" dirty="0"/>
              <a:t>4/10/2026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ytuł i podpis">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pl-PL"/>
              <a:t>Kliknij, aby edytować styl</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Edytuj style wzorca tekstu</a:t>
            </a:r>
          </a:p>
        </p:txBody>
      </p:sp>
      <p:sp>
        <p:nvSpPr>
          <p:cNvPr id="4" name="Date Placeholder 3"/>
          <p:cNvSpPr>
            <a:spLocks noGrp="1"/>
          </p:cNvSpPr>
          <p:nvPr>
            <p:ph type="dt" sz="half" idx="10"/>
          </p:nvPr>
        </p:nvSpPr>
        <p:spPr/>
        <p:txBody>
          <a:bodyPr/>
          <a:lstStyle/>
          <a:p>
            <a:fld id="{4509A250-FF31-4206-8172-F9D3106AACB1}" type="datetimeFigureOut">
              <a:rPr lang="en-US" dirty="0"/>
              <a:t>4/10/2026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Oferta z podpisem">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pl-PL"/>
              <a:t>Kliknij, aby edytować styl</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pl-PL"/>
              <a:t>Edytuj style wzorca tekstu</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Edytuj style wzorca tekstu</a:t>
            </a:r>
          </a:p>
        </p:txBody>
      </p:sp>
      <p:sp>
        <p:nvSpPr>
          <p:cNvPr id="4" name="Date Placeholder 3"/>
          <p:cNvSpPr>
            <a:spLocks noGrp="1"/>
          </p:cNvSpPr>
          <p:nvPr>
            <p:ph type="dt" sz="half" idx="10"/>
          </p:nvPr>
        </p:nvSpPr>
        <p:spPr/>
        <p:txBody>
          <a:bodyPr/>
          <a:lstStyle/>
          <a:p>
            <a:fld id="{4509A250-FF31-4206-8172-F9D3106AACB1}" type="datetimeFigureOut">
              <a:rPr lang="en-US" dirty="0"/>
              <a:t>4/10/2026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Karta nazwy">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pl-PL"/>
              <a:t>Kliknij, aby edytować styl</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l-PL"/>
              <a:t>Edytuj style wzorca tekstu</a:t>
            </a:r>
          </a:p>
        </p:txBody>
      </p:sp>
      <p:sp>
        <p:nvSpPr>
          <p:cNvPr id="4" name="Date Placeholder 3"/>
          <p:cNvSpPr>
            <a:spLocks noGrp="1"/>
          </p:cNvSpPr>
          <p:nvPr>
            <p:ph type="dt" sz="half" idx="10"/>
          </p:nvPr>
        </p:nvSpPr>
        <p:spPr/>
        <p:txBody>
          <a:bodyPr/>
          <a:lstStyle/>
          <a:p>
            <a:fld id="{4509A250-FF31-4206-8172-F9D3106AACB1}" type="datetimeFigureOut">
              <a:rPr lang="en-US" dirty="0"/>
              <a:t>4/10/2026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kolumn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pl-PL"/>
              <a:t>Kliknij, aby edytować styl</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Edytuj style wzorca tekstu</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Edytuj style wzorca tekstu</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Edytuj style wzorca tekstu</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Edytuj style wzorca tekstu</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Edytuj style wzorca tekstu</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Edytuj style wzorca tekstu</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4/10/2026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kolumna obraz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pl-PL"/>
              <a:t>Kliknij, aby edytować styl</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Edytuj style wzorca tekstu</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l-PL"/>
              <a:t>Kliknij ikonę, aby dodać obraz</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Edytuj style wzorca tekstu</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Edytuj style wzorca tekstu</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l-PL"/>
              <a:t>Kliknij ikonę, aby dodać obraz</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Edytuj style wzorca tekstu</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Edytuj style wzorca tekstu</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l-PL"/>
              <a:t>Kliknij ikonę, aby dodać obraz</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Edytuj style wzorca tekstu</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4/10/2026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l-PL"/>
              <a:t>Kliknij, aby edytować styl</a:t>
            </a:r>
            <a:endParaRPr lang="en-US" dirty="0"/>
          </a:p>
        </p:txBody>
      </p:sp>
      <p:sp>
        <p:nvSpPr>
          <p:cNvPr id="3" name="Vertical Text Placeholder 2"/>
          <p:cNvSpPr>
            <a:spLocks noGrp="1"/>
          </p:cNvSpPr>
          <p:nvPr>
            <p:ph type="body" orient="vert" idx="1"/>
          </p:nvPr>
        </p:nvSpPr>
        <p:spPr/>
        <p:txBody>
          <a:bodyPr vert="eaVert" anchor="t" anchorCtr="0"/>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4/10/2026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pl-PL"/>
              <a:t>Kliknij, aby edytować styl</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4/10/2026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pl-PL"/>
              <a:t>Kliknij, aby edytować styl</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AAD347D-5ACD-4C99-B74B-A9C85AD731AF}" type="datetimeFigureOut">
              <a:rPr lang="en-US" dirty="0"/>
              <a:t>4/10/2026</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64"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parenting.pl/6-zdan-ktore-powinies-powiedziec-dziecku"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s://www.naukowiec.org/dobor.html"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a:xfrm>
            <a:off x="930827" y="675724"/>
            <a:ext cx="9773676" cy="4947562"/>
          </a:xfrm>
        </p:spPr>
        <p:txBody>
          <a:bodyPr/>
          <a:lstStyle/>
          <a:p>
            <a:pPr algn="ctr"/>
            <a:r>
              <a:rPr lang="pl-PL" b="1" dirty="0">
                <a:latin typeface="+mn-lt"/>
              </a:rPr>
              <a:t>Wykład 4.</a:t>
            </a:r>
            <a:br>
              <a:rPr lang="pl-PL" b="1" dirty="0">
                <a:latin typeface="+mn-lt"/>
              </a:rPr>
            </a:br>
            <a:r>
              <a:rPr lang="pl-PL" b="1" dirty="0">
                <a:latin typeface="+mn-lt"/>
              </a:rPr>
              <a:t> </a:t>
            </a:r>
            <a:br>
              <a:rPr lang="pl-PL" b="1" dirty="0">
                <a:latin typeface="+mn-lt"/>
              </a:rPr>
            </a:br>
            <a:r>
              <a:rPr lang="pl-PL" b="1" dirty="0">
                <a:solidFill>
                  <a:schemeClr val="bg1"/>
                </a:solidFill>
                <a:latin typeface="+mn-lt"/>
              </a:rPr>
              <a:t>Zbieranie informacji, b</a:t>
            </a:r>
            <a:r>
              <a:rPr lang="pl-PL" b="1" dirty="0">
                <a:solidFill>
                  <a:schemeClr val="bg1"/>
                </a:solidFill>
                <a:latin typeface="+mn-lt"/>
                <a:cs typeface="Times New Roman" panose="02020603050405020304" pitchFamily="18" charset="0"/>
              </a:rPr>
              <a:t>adania marketingowe</a:t>
            </a:r>
            <a:br>
              <a:rPr lang="pl-PL" dirty="0">
                <a:latin typeface="Times New Roman" panose="02020603050405020304" pitchFamily="18" charset="0"/>
                <a:cs typeface="Times New Roman" panose="02020603050405020304" pitchFamily="18" charset="0"/>
              </a:rPr>
            </a:br>
            <a:endParaRPr lang="pl-PL" dirty="0"/>
          </a:p>
        </p:txBody>
      </p:sp>
    </p:spTree>
    <p:extLst>
      <p:ext uri="{BB962C8B-B14F-4D97-AF65-F5344CB8AC3E}">
        <p14:creationId xmlns:p14="http://schemas.microsoft.com/office/powerpoint/2010/main" val="7263058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a:xfrm>
            <a:off x="1775520" y="188640"/>
            <a:ext cx="8784976" cy="504056"/>
          </a:xfrm>
        </p:spPr>
        <p:txBody>
          <a:bodyPr/>
          <a:lstStyle/>
          <a:p>
            <a:pPr algn="ctr"/>
            <a:r>
              <a:rPr lang="pl-PL" sz="2400" dirty="0"/>
              <a:t>STRUKTURA SYSTEMU INFORMACJI MARKETINGOWEJ</a:t>
            </a:r>
          </a:p>
        </p:txBody>
      </p:sp>
      <p:sp>
        <p:nvSpPr>
          <p:cNvPr id="3" name="Symbol zastępczy zawartości 2"/>
          <p:cNvSpPr>
            <a:spLocks noGrp="1"/>
          </p:cNvSpPr>
          <p:nvPr>
            <p:ph idx="1"/>
          </p:nvPr>
        </p:nvSpPr>
        <p:spPr>
          <a:xfrm>
            <a:off x="328474" y="1198486"/>
            <a:ext cx="11301273" cy="5042516"/>
          </a:xfrm>
        </p:spPr>
        <p:txBody>
          <a:bodyPr>
            <a:noAutofit/>
          </a:bodyPr>
          <a:lstStyle/>
          <a:p>
            <a:pPr lvl="0"/>
            <a:r>
              <a:rPr lang="pl-PL" sz="2400" b="1" dirty="0">
                <a:solidFill>
                  <a:srgbClr val="FFFF00"/>
                </a:solidFill>
                <a:cs typeface="Times New Roman" panose="02020603050405020304" pitchFamily="18" charset="0"/>
              </a:rPr>
              <a:t>Podsystem ewidencji i rachunkowości wewnętrznej </a:t>
            </a:r>
            <a:r>
              <a:rPr lang="pl-PL" sz="2400" dirty="0">
                <a:cs typeface="Times New Roman" panose="02020603050405020304" pitchFamily="18" charset="0"/>
              </a:rPr>
              <a:t>- wszystkie dokumenty tworzone w firmie </a:t>
            </a:r>
          </a:p>
          <a:p>
            <a:pPr marL="0" indent="0">
              <a:buNone/>
            </a:pPr>
            <a:r>
              <a:rPr lang="pl-PL" sz="2400" dirty="0">
                <a:cs typeface="Times New Roman" panose="02020603050405020304" pitchFamily="18" charset="0"/>
              </a:rPr>
              <a:t>Np. zamówienia dostaw, faktury, raporty sprzedaży (miesięczne sprawozdania ze sprzedaży w przekroju produktów, klientów i obszarów sprzedaży itd., zastosowanie - analiza wpływu danej grupy produktów na obrót towarowy), sprawozdawczość statystyczna, reklamacje, zwroty towarów, wydatki reklamowe, raporty przedstawicieli handlowych - analiza stopnia koncentracji obrotu, ocena pracy sprzedawców  w danym sektorze rynku analiza penetracji pod względem terytorialnym.</a:t>
            </a:r>
          </a:p>
          <a:p>
            <a:pPr marL="0" indent="0">
              <a:buNone/>
            </a:pPr>
            <a:endParaRPr lang="pl-PL" sz="2400" dirty="0">
              <a:cs typeface="Times New Roman" panose="02020603050405020304" pitchFamily="18" charset="0"/>
            </a:endParaRPr>
          </a:p>
          <a:p>
            <a:pPr marL="0" indent="0">
              <a:buNone/>
            </a:pPr>
            <a:r>
              <a:rPr lang="pl-PL" i="1" dirty="0">
                <a:solidFill>
                  <a:srgbClr val="FFFF00"/>
                </a:solidFill>
                <a:cs typeface="Times New Roman" panose="02020603050405020304" pitchFamily="18" charset="0"/>
              </a:rPr>
              <a:t>Bardzo cenne źródło informacji, możliwości wielu analiz, robionych w czasie rzeczywistym, istotnie wspomagają procesy decyzyjne</a:t>
            </a:r>
          </a:p>
          <a:p>
            <a:pPr lvl="0">
              <a:lnSpc>
                <a:spcPct val="150000"/>
              </a:lnSpc>
            </a:pPr>
            <a:endParaRPr lang="pl-PL"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843876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ymbol zastępczy zawartości 2"/>
          <p:cNvSpPr>
            <a:spLocks noGrp="1"/>
          </p:cNvSpPr>
          <p:nvPr>
            <p:ph idx="1"/>
          </p:nvPr>
        </p:nvSpPr>
        <p:spPr>
          <a:xfrm>
            <a:off x="150920" y="1020932"/>
            <a:ext cx="11363418" cy="5360396"/>
          </a:xfrm>
        </p:spPr>
        <p:txBody>
          <a:bodyPr>
            <a:normAutofit fontScale="92500" lnSpcReduction="20000"/>
          </a:bodyPr>
          <a:lstStyle/>
          <a:p>
            <a:pPr lvl="0">
              <a:lnSpc>
                <a:spcPct val="150000"/>
              </a:lnSpc>
            </a:pPr>
            <a:r>
              <a:rPr lang="pl-PL" sz="2400" b="1" dirty="0">
                <a:solidFill>
                  <a:srgbClr val="FFFF00"/>
                </a:solidFill>
              </a:rPr>
              <a:t>Podsystem wywiadu marketingowego</a:t>
            </a:r>
            <a:r>
              <a:rPr lang="pl-PL" sz="2400" dirty="0">
                <a:solidFill>
                  <a:srgbClr val="FFFF00"/>
                </a:solidFill>
              </a:rPr>
              <a:t>- </a:t>
            </a:r>
            <a:r>
              <a:rPr lang="pl-PL" sz="2400" dirty="0"/>
              <a:t>zespół środków, które pozwalają zarządzającym być stale poinformowanym o rozwoju otoczenia marketingowego, oceniać szanse i zagrożenia przedsiębiorstwa.</a:t>
            </a:r>
          </a:p>
          <a:p>
            <a:pPr marL="0" indent="0">
              <a:lnSpc>
                <a:spcPct val="150000"/>
              </a:lnSpc>
              <a:buNone/>
            </a:pPr>
            <a:r>
              <a:rPr lang="pl-PL" sz="2400" dirty="0"/>
              <a:t>Najważniejsze środki to: kontakty z klientami, dostawcami, dystrybutorami i przedstawicielami (sprzedawca- „oko i ucho” przedsiębiorstwa), lektura prasy codziennej i specjalistycznej,  uczestnictwo w kongresach, seminariach, wystawach, konkursach, nabywanie produktów konkurencji, rozmowy z byłymi lub obecnymi pracownikami konkurencji, śledzenie kampanii reklamowych, giełda, prospekty emisyjne. </a:t>
            </a:r>
          </a:p>
          <a:p>
            <a:pPr marL="0" indent="0">
              <a:lnSpc>
                <a:spcPct val="150000"/>
              </a:lnSpc>
              <a:buNone/>
            </a:pPr>
            <a:r>
              <a:rPr lang="pl-PL" sz="2200" i="1" dirty="0">
                <a:solidFill>
                  <a:srgbClr val="FFFF00"/>
                </a:solidFill>
              </a:rPr>
              <a:t>W dużych firmach są specjalne komórki zajmujące się „białym wywiadem” . Zawsze pokusa pozyskiwania nielegalnego informacji o rynku i konkurencji</a:t>
            </a:r>
            <a:r>
              <a:rPr lang="pl-PL" sz="2400" dirty="0"/>
              <a:t>. </a:t>
            </a:r>
          </a:p>
        </p:txBody>
      </p:sp>
    </p:spTree>
    <p:extLst>
      <p:ext uri="{BB962C8B-B14F-4D97-AF65-F5344CB8AC3E}">
        <p14:creationId xmlns:p14="http://schemas.microsoft.com/office/powerpoint/2010/main" val="22010833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ymbol zastępczy zawartości 2"/>
          <p:cNvSpPr>
            <a:spLocks noGrp="1"/>
          </p:cNvSpPr>
          <p:nvPr>
            <p:ph idx="1"/>
          </p:nvPr>
        </p:nvSpPr>
        <p:spPr/>
        <p:txBody>
          <a:bodyPr>
            <a:normAutofit/>
          </a:bodyPr>
          <a:lstStyle/>
          <a:p>
            <a:pPr marL="0" indent="0" algn="ctr">
              <a:buNone/>
            </a:pPr>
            <a:r>
              <a:rPr lang="pl-PL" sz="3200" b="1" dirty="0"/>
              <a:t>„Umyj się i nie gadaj!</a:t>
            </a:r>
          </a:p>
          <a:p>
            <a:pPr marL="0" indent="0" algn="ctr">
              <a:buNone/>
            </a:pPr>
            <a:r>
              <a:rPr lang="pl-PL" sz="3200" b="1" dirty="0"/>
              <a:t>Nigdy nie wiesz kto słucha!</a:t>
            </a:r>
          </a:p>
          <a:p>
            <a:pPr marL="0" indent="0" algn="ctr">
              <a:buNone/>
            </a:pPr>
            <a:r>
              <a:rPr lang="pl-PL" sz="3200" b="1" dirty="0"/>
              <a:t>Trzymaj nasze sekrety w sekrecie.”</a:t>
            </a:r>
          </a:p>
          <a:p>
            <a:pPr marL="0" indent="0" algn="ctr">
              <a:buNone/>
            </a:pPr>
            <a:endParaRPr lang="pl-PL" sz="3200" b="1" dirty="0"/>
          </a:p>
          <a:p>
            <a:pPr marL="0" indent="0" algn="ctr">
              <a:buNone/>
            </a:pPr>
            <a:r>
              <a:rPr lang="pl-PL" b="1" i="1" dirty="0">
                <a:solidFill>
                  <a:schemeClr val="bg1"/>
                </a:solidFill>
              </a:rPr>
              <a:t>To tekst, który wisiał w toalecie jednej z firm. Ale to „Złota myśl”. Weźcie ją sobie „do serca” w Waszej przyszłej pracy. Nigdy nie wiadomo, kto słucha i jaki zrobi użytek z tego co usłyszał (w pracy czy poza nią)</a:t>
            </a:r>
          </a:p>
          <a:p>
            <a:pPr marL="0" indent="0" algn="ctr">
              <a:buNone/>
            </a:pPr>
            <a:endParaRPr lang="pl-PL" sz="3200" b="1" dirty="0"/>
          </a:p>
        </p:txBody>
      </p:sp>
    </p:spTree>
    <p:extLst>
      <p:ext uri="{BB962C8B-B14F-4D97-AF65-F5344CB8AC3E}">
        <p14:creationId xmlns:p14="http://schemas.microsoft.com/office/powerpoint/2010/main" val="10591642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ymbol zastępczy zawartości 2"/>
          <p:cNvSpPr>
            <a:spLocks noGrp="1"/>
          </p:cNvSpPr>
          <p:nvPr>
            <p:ph idx="1"/>
          </p:nvPr>
        </p:nvSpPr>
        <p:spPr>
          <a:xfrm>
            <a:off x="523783" y="332657"/>
            <a:ext cx="10955044" cy="6336703"/>
          </a:xfrm>
        </p:spPr>
        <p:txBody>
          <a:bodyPr>
            <a:normAutofit/>
          </a:bodyPr>
          <a:lstStyle/>
          <a:p>
            <a:r>
              <a:rPr lang="pl-PL" sz="2400" b="1" dirty="0">
                <a:solidFill>
                  <a:srgbClr val="FFFF00"/>
                </a:solidFill>
                <a:cs typeface="Times New Roman" panose="02020603050405020304" pitchFamily="18" charset="0"/>
              </a:rPr>
              <a:t>Podsystem badań marketingowych  </a:t>
            </a:r>
          </a:p>
          <a:p>
            <a:pPr marL="0" indent="0">
              <a:buNone/>
            </a:pPr>
            <a:r>
              <a:rPr lang="pl-PL" sz="2400" dirty="0">
                <a:cs typeface="Times New Roman" panose="02020603050405020304" pitchFamily="18" charset="0"/>
              </a:rPr>
              <a:t>Specyfika </a:t>
            </a:r>
            <a:r>
              <a:rPr lang="pl-PL" sz="2400" b="1" dirty="0">
                <a:cs typeface="Times New Roman" panose="02020603050405020304" pitchFamily="18" charset="0"/>
              </a:rPr>
              <a:t>- </a:t>
            </a:r>
            <a:r>
              <a:rPr lang="pl-PL" sz="2400" dirty="0">
                <a:cs typeface="Times New Roman" panose="02020603050405020304" pitchFamily="18" charset="0"/>
              </a:rPr>
              <a:t>służą rozwiązaniu specyficznych problemów </a:t>
            </a:r>
            <a:r>
              <a:rPr lang="pl-PL" sz="2400" dirty="0"/>
              <a:t>przedsiębiorstwa</a:t>
            </a:r>
            <a:r>
              <a:rPr lang="pl-PL" sz="2400" dirty="0">
                <a:cs typeface="Times New Roman" panose="02020603050405020304" pitchFamily="18" charset="0"/>
              </a:rPr>
              <a:t>, np. do poznania opinii potencjalnych nabywców o produkcie, ocena skuteczności reklamy itp. </a:t>
            </a:r>
            <a:r>
              <a:rPr lang="pl-PL" sz="2400" i="1" dirty="0">
                <a:solidFill>
                  <a:schemeClr val="bg1"/>
                </a:solidFill>
                <a:cs typeface="Times New Roman" panose="02020603050405020304" pitchFamily="18" charset="0"/>
              </a:rPr>
              <a:t>(zaraz o tym szerzej)</a:t>
            </a:r>
          </a:p>
          <a:p>
            <a:pPr marL="0" indent="0">
              <a:buNone/>
            </a:pPr>
            <a:endParaRPr lang="pl-PL" sz="2400" dirty="0">
              <a:cs typeface="Times New Roman" panose="02020603050405020304" pitchFamily="18" charset="0"/>
            </a:endParaRPr>
          </a:p>
          <a:p>
            <a:r>
              <a:rPr lang="pl-PL" sz="2400" b="1" dirty="0">
                <a:solidFill>
                  <a:srgbClr val="FFFF00"/>
                </a:solidFill>
                <a:cs typeface="Times New Roman" panose="02020603050405020304" pitchFamily="18" charset="0"/>
              </a:rPr>
              <a:t>Podsystem modelowania i pomocy w decyzjach marketingowych</a:t>
            </a:r>
            <a:r>
              <a:rPr lang="pl-PL" sz="2400" dirty="0">
                <a:solidFill>
                  <a:srgbClr val="FFFF00"/>
                </a:solidFill>
                <a:cs typeface="Times New Roman" panose="02020603050405020304" pitchFamily="18" charset="0"/>
              </a:rPr>
              <a:t> </a:t>
            </a:r>
            <a:r>
              <a:rPr lang="pl-PL" sz="2400" dirty="0">
                <a:cs typeface="Times New Roman" panose="02020603050405020304" pitchFamily="18" charset="0"/>
              </a:rPr>
              <a:t>-  cel - wypracowanie modeli pozwalających wyjaśniać, przewidywać, udoskonalać i kontrolować procesy rynkowe. </a:t>
            </a:r>
          </a:p>
          <a:p>
            <a:pPr marL="0" indent="0">
              <a:buNone/>
            </a:pPr>
            <a:r>
              <a:rPr lang="pl-PL" sz="2400" dirty="0">
                <a:cs typeface="Times New Roman" panose="02020603050405020304" pitchFamily="18" charset="0"/>
              </a:rPr>
              <a:t>Wykorzystanie zależy od przetworzenia zgodnie z potrzebami za pomocą technik analizy statystycznej i metod ekonometrycznych. </a:t>
            </a:r>
          </a:p>
          <a:p>
            <a:pPr marL="0" indent="0" algn="just">
              <a:buNone/>
            </a:pPr>
            <a:r>
              <a:rPr lang="pl-PL" sz="2400" dirty="0">
                <a:cs typeface="Times New Roman" panose="02020603050405020304" pitchFamily="18" charset="0"/>
              </a:rPr>
              <a:t>Podsystem obejmuje bank statystyki, banki modeli analitycznych i modeli decyzyjnych, oprogramowanie komputerowe.</a:t>
            </a:r>
          </a:p>
          <a:p>
            <a:pPr marL="0" indent="0">
              <a:buNone/>
            </a:pPr>
            <a:r>
              <a:rPr lang="pl-PL" sz="2400" dirty="0">
                <a:cs typeface="Times New Roman" panose="02020603050405020304" pitchFamily="18" charset="0"/>
              </a:rPr>
              <a:t>Współcześnie firmy oferują programy do opracowywania danych, np. automatycznego wyliczania żądanych wskaźników itp.</a:t>
            </a:r>
          </a:p>
          <a:p>
            <a:endParaRPr lang="pl-PL"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851164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a:xfrm>
            <a:off x="319598" y="266329"/>
            <a:ext cx="11088208" cy="852257"/>
          </a:xfrm>
        </p:spPr>
        <p:txBody>
          <a:bodyPr/>
          <a:lstStyle/>
          <a:p>
            <a:r>
              <a:rPr lang="pl-PL" dirty="0"/>
              <a:t>Etapy procesu badania marketingowego</a:t>
            </a:r>
          </a:p>
        </p:txBody>
      </p:sp>
      <p:sp>
        <p:nvSpPr>
          <p:cNvPr id="3" name="Symbol zastępczy zawartości 2"/>
          <p:cNvSpPr>
            <a:spLocks noGrp="1"/>
          </p:cNvSpPr>
          <p:nvPr>
            <p:ph idx="1"/>
          </p:nvPr>
        </p:nvSpPr>
        <p:spPr>
          <a:xfrm>
            <a:off x="319597" y="1412776"/>
            <a:ext cx="11390050" cy="5445224"/>
          </a:xfrm>
        </p:spPr>
        <p:txBody>
          <a:bodyPr>
            <a:normAutofit fontScale="92500" lnSpcReduction="10000"/>
          </a:bodyPr>
          <a:lstStyle/>
          <a:p>
            <a:pPr>
              <a:buFont typeface="Wingdings" panose="05000000000000000000" pitchFamily="2" charset="2"/>
              <a:buChar char="Ø"/>
            </a:pPr>
            <a:r>
              <a:rPr lang="pl-PL" sz="2800" dirty="0"/>
              <a:t>Określenie problemu badawczego;</a:t>
            </a:r>
          </a:p>
          <a:p>
            <a:pPr>
              <a:buFont typeface="Wingdings" panose="05000000000000000000" pitchFamily="2" charset="2"/>
              <a:buChar char="Ø"/>
            </a:pPr>
            <a:r>
              <a:rPr lang="pl-PL" sz="2800" dirty="0"/>
              <a:t>Sformułowanie pytań badawczych;</a:t>
            </a:r>
          </a:p>
          <a:p>
            <a:pPr>
              <a:buFont typeface="Wingdings" panose="05000000000000000000" pitchFamily="2" charset="2"/>
              <a:buChar char="Ø"/>
            </a:pPr>
            <a:r>
              <a:rPr lang="pl-PL" sz="2800" dirty="0"/>
              <a:t>Formułowanie hipotez;</a:t>
            </a:r>
          </a:p>
          <a:p>
            <a:pPr>
              <a:buFont typeface="Wingdings" panose="05000000000000000000" pitchFamily="2" charset="2"/>
              <a:buChar char="Ø"/>
            </a:pPr>
            <a:r>
              <a:rPr lang="pl-PL" sz="2800" dirty="0"/>
              <a:t>Opracowanie planu badań;</a:t>
            </a:r>
          </a:p>
          <a:p>
            <a:pPr>
              <a:buFont typeface="Wingdings" panose="05000000000000000000" pitchFamily="2" charset="2"/>
              <a:buChar char="Ø"/>
            </a:pPr>
            <a:r>
              <a:rPr lang="pl-PL" sz="2800" dirty="0"/>
              <a:t>Wybór metod i podmiotów gromadzenia informacji;</a:t>
            </a:r>
          </a:p>
          <a:p>
            <a:pPr>
              <a:buFont typeface="Wingdings" panose="05000000000000000000" pitchFamily="2" charset="2"/>
              <a:buChar char="Ø"/>
            </a:pPr>
            <a:r>
              <a:rPr lang="pl-PL" sz="2800" dirty="0"/>
              <a:t>Gromadzenie informacji;</a:t>
            </a:r>
          </a:p>
          <a:p>
            <a:pPr>
              <a:buFont typeface="Wingdings" panose="05000000000000000000" pitchFamily="2" charset="2"/>
              <a:buChar char="Ø"/>
            </a:pPr>
            <a:r>
              <a:rPr lang="pl-PL" sz="2800" dirty="0"/>
              <a:t>Rejestrowanie i przetwarzanie danych;</a:t>
            </a:r>
          </a:p>
          <a:p>
            <a:pPr>
              <a:buFont typeface="Wingdings" panose="05000000000000000000" pitchFamily="2" charset="2"/>
              <a:buChar char="Ø"/>
            </a:pPr>
            <a:r>
              <a:rPr lang="pl-PL" sz="2800" dirty="0"/>
              <a:t>Analiza i interpretacja wyników;</a:t>
            </a:r>
          </a:p>
          <a:p>
            <a:pPr>
              <a:buFont typeface="Wingdings" panose="05000000000000000000" pitchFamily="2" charset="2"/>
              <a:buChar char="Ø"/>
            </a:pPr>
            <a:r>
              <a:rPr lang="pl-PL" sz="2800" dirty="0"/>
              <a:t>Opracowanie raportu z badań.</a:t>
            </a:r>
          </a:p>
          <a:p>
            <a:pPr marL="0" indent="0">
              <a:buNone/>
            </a:pPr>
            <a:r>
              <a:rPr lang="pl-PL" sz="2200" i="1" dirty="0">
                <a:solidFill>
                  <a:srgbClr val="FFFF00"/>
                </a:solidFill>
              </a:rPr>
              <a:t>Wbrew pozorom, to bardzo ważne, aby trzymać się tego schematu. Idąc „na żywioł” można o wielu rzeczach zapomnieć lub źle skonstruować badanie</a:t>
            </a:r>
            <a:r>
              <a:rPr lang="pl-PL" sz="2800" dirty="0">
                <a:solidFill>
                  <a:srgbClr val="FFFF00"/>
                </a:solidFill>
              </a:rPr>
              <a:t>.</a:t>
            </a:r>
          </a:p>
          <a:p>
            <a:endParaRPr lang="pl-PL" dirty="0"/>
          </a:p>
        </p:txBody>
      </p:sp>
    </p:spTree>
    <p:extLst>
      <p:ext uri="{BB962C8B-B14F-4D97-AF65-F5344CB8AC3E}">
        <p14:creationId xmlns:p14="http://schemas.microsoft.com/office/powerpoint/2010/main" val="34399497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a:xfrm>
            <a:off x="2533443" y="168675"/>
            <a:ext cx="7125113" cy="740045"/>
          </a:xfrm>
        </p:spPr>
        <p:txBody>
          <a:bodyPr/>
          <a:lstStyle/>
          <a:p>
            <a:r>
              <a:rPr lang="pl-PL" sz="2400" b="1" dirty="0">
                <a:solidFill>
                  <a:srgbClr val="FFFF00"/>
                </a:solidFill>
              </a:rPr>
              <a:t>Określenie problemu badawczego</a:t>
            </a:r>
          </a:p>
        </p:txBody>
      </p:sp>
      <p:sp>
        <p:nvSpPr>
          <p:cNvPr id="3" name="Symbol zastępczy zawartości 2"/>
          <p:cNvSpPr>
            <a:spLocks noGrp="1"/>
          </p:cNvSpPr>
          <p:nvPr>
            <p:ph idx="1"/>
          </p:nvPr>
        </p:nvSpPr>
        <p:spPr>
          <a:xfrm>
            <a:off x="426129" y="1438183"/>
            <a:ext cx="11381172" cy="4900473"/>
          </a:xfrm>
        </p:spPr>
        <p:txBody>
          <a:bodyPr>
            <a:normAutofit/>
          </a:bodyPr>
          <a:lstStyle/>
          <a:p>
            <a:pPr algn="just">
              <a:buFont typeface="Wingdings" panose="05000000000000000000" pitchFamily="2" charset="2"/>
              <a:buChar char="§"/>
            </a:pPr>
            <a:r>
              <a:rPr lang="pl-PL" sz="2400" dirty="0"/>
              <a:t>Decyduje o powodzeniu badań. Trzeba odróżnić </a:t>
            </a:r>
            <a:r>
              <a:rPr lang="pl-PL" sz="2400" b="1" dirty="0">
                <a:solidFill>
                  <a:srgbClr val="FFFF00"/>
                </a:solidFill>
              </a:rPr>
              <a:t>problem</a:t>
            </a:r>
            <a:r>
              <a:rPr lang="pl-PL" sz="2400" dirty="0"/>
              <a:t> od </a:t>
            </a:r>
            <a:r>
              <a:rPr lang="pl-PL" sz="2400" b="1" dirty="0">
                <a:solidFill>
                  <a:srgbClr val="FFFF00"/>
                </a:solidFill>
              </a:rPr>
              <a:t>symptomu</a:t>
            </a:r>
            <a:r>
              <a:rPr lang="pl-PL" sz="2400" dirty="0">
                <a:solidFill>
                  <a:srgbClr val="FFFF00"/>
                </a:solidFill>
              </a:rPr>
              <a:t>. </a:t>
            </a:r>
          </a:p>
          <a:p>
            <a:pPr marL="536575" indent="0" algn="just">
              <a:buNone/>
            </a:pPr>
            <a:r>
              <a:rPr lang="pl-PL" sz="2200" dirty="0"/>
              <a:t>Np. </a:t>
            </a:r>
            <a:r>
              <a:rPr lang="pl-PL" sz="2200" i="1" dirty="0"/>
              <a:t>spadek obrotów to symptom faktycznego problemu – np. niekonkurencyjne ceny, przeciążone kanały dystrybucji, złe przygotowanie sprzedawców, przestarzałe produkty</a:t>
            </a:r>
            <a:r>
              <a:rPr lang="pl-PL" sz="2200" dirty="0"/>
              <a:t>.</a:t>
            </a:r>
          </a:p>
          <a:p>
            <a:pPr>
              <a:buFont typeface="Wingdings" panose="05000000000000000000" pitchFamily="2" charset="2"/>
              <a:buChar char="§"/>
            </a:pPr>
            <a:r>
              <a:rPr lang="pl-PL" sz="2400" dirty="0"/>
              <a:t>Następnie trzeba przygotować </a:t>
            </a:r>
            <a:r>
              <a:rPr lang="pl-PL" sz="2400" b="1" dirty="0">
                <a:solidFill>
                  <a:srgbClr val="FFFF00"/>
                </a:solidFill>
              </a:rPr>
              <a:t>pytania badawcze</a:t>
            </a:r>
            <a:r>
              <a:rPr lang="pl-PL" sz="2400" dirty="0"/>
              <a:t>. Jest to sposób i warunek dobrej komunikacji z prowadzącym badanie.</a:t>
            </a:r>
          </a:p>
          <a:p>
            <a:pPr marL="536575" indent="0">
              <a:buNone/>
            </a:pPr>
            <a:r>
              <a:rPr lang="pl-PL" sz="2200" dirty="0"/>
              <a:t> </a:t>
            </a:r>
            <a:r>
              <a:rPr lang="pl-PL" sz="2200" i="1" dirty="0"/>
              <a:t>Np. jakie są kierunki zmian w poziome życia ludności, jakie są preferencje nabywców, jakie grupy ludności są głównymi nabywcami danego produktu, jakie są ich preferencje dotyczące miejsc zakupu, itd</a:t>
            </a:r>
            <a:r>
              <a:rPr lang="pl-PL" sz="2400" i="1" dirty="0"/>
              <a:t>. </a:t>
            </a:r>
          </a:p>
        </p:txBody>
      </p:sp>
    </p:spTree>
    <p:extLst>
      <p:ext uri="{BB962C8B-B14F-4D97-AF65-F5344CB8AC3E}">
        <p14:creationId xmlns:p14="http://schemas.microsoft.com/office/powerpoint/2010/main" val="23057699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a:xfrm>
            <a:off x="2533443" y="1"/>
            <a:ext cx="7125113" cy="764704"/>
          </a:xfrm>
        </p:spPr>
        <p:txBody>
          <a:bodyPr/>
          <a:lstStyle/>
          <a:p>
            <a:r>
              <a:rPr lang="pl-PL" sz="2800" b="1" dirty="0">
                <a:solidFill>
                  <a:srgbClr val="FFFF00"/>
                </a:solidFill>
              </a:rPr>
              <a:t>Formułowanie hipotez</a:t>
            </a:r>
          </a:p>
        </p:txBody>
      </p:sp>
      <p:sp>
        <p:nvSpPr>
          <p:cNvPr id="3" name="Symbol zastępczy zawartości 2"/>
          <p:cNvSpPr>
            <a:spLocks noGrp="1"/>
          </p:cNvSpPr>
          <p:nvPr>
            <p:ph idx="1"/>
          </p:nvPr>
        </p:nvSpPr>
        <p:spPr>
          <a:xfrm>
            <a:off x="292963" y="624202"/>
            <a:ext cx="11567604" cy="6233798"/>
          </a:xfrm>
        </p:spPr>
        <p:txBody>
          <a:bodyPr>
            <a:normAutofit/>
          </a:bodyPr>
          <a:lstStyle/>
          <a:p>
            <a:pPr marL="0" indent="0">
              <a:buNone/>
            </a:pPr>
            <a:r>
              <a:rPr lang="pl-PL" sz="2400" b="1" dirty="0">
                <a:solidFill>
                  <a:srgbClr val="FFFF00"/>
                </a:solidFill>
              </a:rPr>
              <a:t>Hipoteza</a:t>
            </a:r>
            <a:r>
              <a:rPr lang="pl-PL" sz="2400" b="1" dirty="0"/>
              <a:t> </a:t>
            </a:r>
            <a:r>
              <a:rPr lang="pl-PL" sz="2400" dirty="0"/>
              <a:t>- przypuszczenie, niezupełnie pewne o występowaniu danego zjawiska, wielkości, częstotliwości, relacji do innych zjawisk, zależności między nimi. Jest to przypuszczalna odpowiedź na pytanie badawcze, tak sformułowane, aby mogło być zweryfikowane w trakcie badań. </a:t>
            </a:r>
          </a:p>
          <a:p>
            <a:r>
              <a:rPr lang="pl-PL" sz="2400" i="1" dirty="0"/>
              <a:t>Hipotezy formułuje się w oparciu o dostępną wiedzę, istniejące teorie, doświadczenie zawodowe, wcześniejsze badania.</a:t>
            </a:r>
          </a:p>
          <a:p>
            <a:r>
              <a:rPr lang="pl-PL" sz="2400" i="1" dirty="0"/>
              <a:t>Po co się to robi? Pozwalają budować strukturę problemu, wyznaczają kierunek badań i analiz</a:t>
            </a:r>
            <a:r>
              <a:rPr lang="pl-PL" sz="2400" dirty="0"/>
              <a:t>. Mogą w toku badań potwierdzić się lub nie, albo tylko częściowo się potwierdzić.(</a:t>
            </a:r>
            <a:r>
              <a:rPr lang="pl-PL" sz="2400" dirty="0">
                <a:solidFill>
                  <a:srgbClr val="FFFF00"/>
                </a:solidFill>
              </a:rPr>
              <a:t>czy z zasady powinna się potwierdzić?</a:t>
            </a:r>
            <a:r>
              <a:rPr lang="pl-PL" sz="2400" dirty="0"/>
              <a:t>)</a:t>
            </a:r>
          </a:p>
          <a:p>
            <a:r>
              <a:rPr lang="pl-PL" sz="2400" dirty="0"/>
              <a:t>Hipoteza nie może być oczywista i prosta.</a:t>
            </a:r>
          </a:p>
          <a:p>
            <a:r>
              <a:rPr lang="pl-PL" sz="2400" dirty="0"/>
              <a:t>Powinna poruszać problem główny, ale w sposób rozbudowany.</a:t>
            </a:r>
          </a:p>
          <a:p>
            <a:r>
              <a:rPr lang="pl-PL" sz="2400" dirty="0"/>
              <a:t>Zdanie oznajmiające.    </a:t>
            </a:r>
          </a:p>
          <a:p>
            <a:endParaRPr lang="pl-PL" sz="2400" dirty="0"/>
          </a:p>
        </p:txBody>
      </p:sp>
    </p:spTree>
    <p:extLst>
      <p:ext uri="{BB962C8B-B14F-4D97-AF65-F5344CB8AC3E}">
        <p14:creationId xmlns:p14="http://schemas.microsoft.com/office/powerpoint/2010/main" val="3384979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a:xfrm>
            <a:off x="2533443" y="1"/>
            <a:ext cx="7125113" cy="764704"/>
          </a:xfrm>
        </p:spPr>
        <p:txBody>
          <a:bodyPr/>
          <a:lstStyle/>
          <a:p>
            <a:r>
              <a:rPr lang="pl-PL" sz="2800" b="1" dirty="0">
                <a:solidFill>
                  <a:srgbClr val="FFFF00"/>
                </a:solidFill>
              </a:rPr>
              <a:t>Opracowanie planu badań</a:t>
            </a:r>
          </a:p>
        </p:txBody>
      </p:sp>
      <p:sp>
        <p:nvSpPr>
          <p:cNvPr id="3" name="Symbol zastępczy zawartości 2"/>
          <p:cNvSpPr>
            <a:spLocks noGrp="1"/>
          </p:cNvSpPr>
          <p:nvPr>
            <p:ph idx="1"/>
          </p:nvPr>
        </p:nvSpPr>
        <p:spPr>
          <a:xfrm>
            <a:off x="390617" y="764704"/>
            <a:ext cx="11239131" cy="5976663"/>
          </a:xfrm>
        </p:spPr>
        <p:txBody>
          <a:bodyPr>
            <a:normAutofit/>
          </a:bodyPr>
          <a:lstStyle/>
          <a:p>
            <a:pPr marL="0" indent="0">
              <a:buNone/>
            </a:pPr>
            <a:r>
              <a:rPr lang="pl-PL" dirty="0"/>
              <a:t>Wybór typu badań</a:t>
            </a:r>
          </a:p>
          <a:p>
            <a:r>
              <a:rPr lang="pl-PL" b="1" dirty="0">
                <a:solidFill>
                  <a:srgbClr val="FFFF00"/>
                </a:solidFill>
              </a:rPr>
              <a:t>eksploracyjne (poszukiwawcze)</a:t>
            </a:r>
            <a:endParaRPr lang="pl-PL" dirty="0">
              <a:solidFill>
                <a:srgbClr val="FFFF00"/>
              </a:solidFill>
            </a:endParaRPr>
          </a:p>
          <a:p>
            <a:pPr marL="0" indent="0">
              <a:buNone/>
            </a:pPr>
            <a:r>
              <a:rPr lang="pl-PL" i="1" dirty="0"/>
              <a:t>np. poszukiwanie przyczyn spadku obrotu – czy odnosi się do jednego produktu, linii produktów, całej grupy, czy dotyczy  naszego przedsiębiorstwa, czy całej branży, czy dotyczy to jednej czy więcej grup klientów, czy może jakiegoś regionu. Traktowane jako wstęp do dalszych badań.</a:t>
            </a:r>
          </a:p>
          <a:p>
            <a:r>
              <a:rPr lang="pl-PL" b="1" dirty="0">
                <a:solidFill>
                  <a:srgbClr val="FFFF00"/>
                </a:solidFill>
              </a:rPr>
              <a:t>Opisowe</a:t>
            </a:r>
            <a:r>
              <a:rPr lang="pl-PL" b="1" dirty="0"/>
              <a:t> – </a:t>
            </a:r>
            <a:r>
              <a:rPr lang="pl-PL" dirty="0"/>
              <a:t>celem jest zebranie informacji i opisywanie zjawisk i procesów rynkowych, Często wykorzystuje się tu badania panelowe, metody analizy statystycznej danych – statystyka opisowa.</a:t>
            </a:r>
          </a:p>
          <a:p>
            <a:pPr marL="0" indent="0">
              <a:buNone/>
            </a:pPr>
            <a:r>
              <a:rPr lang="pl-PL" dirty="0"/>
              <a:t> </a:t>
            </a:r>
            <a:r>
              <a:rPr lang="pl-PL" i="1" dirty="0"/>
              <a:t>np. charakterystyka populacji wykazujących określone zachowania</a:t>
            </a:r>
            <a:r>
              <a:rPr lang="pl-PL" dirty="0"/>
              <a:t>.</a:t>
            </a:r>
          </a:p>
          <a:p>
            <a:r>
              <a:rPr lang="pl-PL" dirty="0"/>
              <a:t> </a:t>
            </a:r>
            <a:r>
              <a:rPr lang="pl-PL" b="1" dirty="0" err="1">
                <a:solidFill>
                  <a:srgbClr val="FFFF00"/>
                </a:solidFill>
              </a:rPr>
              <a:t>Przyczynowo-skutkowe</a:t>
            </a:r>
            <a:r>
              <a:rPr lang="pl-PL" b="1" dirty="0"/>
              <a:t> – </a:t>
            </a:r>
            <a:r>
              <a:rPr lang="pl-PL" dirty="0"/>
              <a:t>najbardziej zaawansowane  metodycznie. Celem jest wyjaśnianie związków przyczynowo- skutkowych między zmiennymi. Bardzo ważne jest doświadczenie badacza.</a:t>
            </a:r>
          </a:p>
          <a:p>
            <a:pPr marL="0" indent="0">
              <a:buNone/>
            </a:pPr>
            <a:r>
              <a:rPr lang="pl-PL" i="1" dirty="0"/>
              <a:t>Np. wpływ wydatków reklamowych, zmiany cen na sprzedaż. </a:t>
            </a:r>
          </a:p>
        </p:txBody>
      </p:sp>
    </p:spTree>
    <p:extLst>
      <p:ext uri="{BB962C8B-B14F-4D97-AF65-F5344CB8AC3E}">
        <p14:creationId xmlns:p14="http://schemas.microsoft.com/office/powerpoint/2010/main" val="12934563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a:xfrm>
            <a:off x="2533443" y="1"/>
            <a:ext cx="7125113" cy="980728"/>
          </a:xfrm>
        </p:spPr>
        <p:txBody>
          <a:bodyPr/>
          <a:lstStyle/>
          <a:p>
            <a:r>
              <a:rPr lang="pl-PL" sz="2800" b="1" dirty="0">
                <a:solidFill>
                  <a:srgbClr val="FFFF00"/>
                </a:solidFill>
              </a:rPr>
              <a:t>Metody gromadzenia danych</a:t>
            </a:r>
          </a:p>
        </p:txBody>
      </p:sp>
      <p:sp>
        <p:nvSpPr>
          <p:cNvPr id="3" name="Symbol zastępczy zawartości 2"/>
          <p:cNvSpPr>
            <a:spLocks noGrp="1"/>
          </p:cNvSpPr>
          <p:nvPr>
            <p:ph idx="1"/>
          </p:nvPr>
        </p:nvSpPr>
        <p:spPr>
          <a:xfrm>
            <a:off x="230819" y="1074198"/>
            <a:ext cx="11594237" cy="5783802"/>
          </a:xfrm>
        </p:spPr>
        <p:txBody>
          <a:bodyPr/>
          <a:lstStyle/>
          <a:p>
            <a:r>
              <a:rPr lang="pl-PL" sz="2400" b="1" dirty="0">
                <a:solidFill>
                  <a:srgbClr val="FFFF00"/>
                </a:solidFill>
              </a:rPr>
              <a:t>Analiza danych </a:t>
            </a:r>
            <a:r>
              <a:rPr lang="pl-PL" sz="2400" b="1" u="sng" dirty="0">
                <a:solidFill>
                  <a:srgbClr val="FFFF00"/>
                </a:solidFill>
              </a:rPr>
              <a:t>wtórnych</a:t>
            </a:r>
            <a:r>
              <a:rPr lang="pl-PL" sz="2400" b="1" dirty="0">
                <a:solidFill>
                  <a:srgbClr val="FFFF00"/>
                </a:solidFill>
              </a:rPr>
              <a:t>- </a:t>
            </a:r>
            <a:r>
              <a:rPr lang="pl-PL" sz="2400" dirty="0"/>
              <a:t>zebrane w innym celu, ale dostępne dla prowadzącego badanie. Oszczędność czasu i pieniędzy.</a:t>
            </a:r>
          </a:p>
          <a:p>
            <a:pPr marL="0" indent="0">
              <a:buNone/>
            </a:pPr>
            <a:r>
              <a:rPr lang="pl-PL" sz="2400" i="1" dirty="0"/>
              <a:t>np. dokumentacje przedsiębiorstw, dane agencji badań rynkowych, firm konsultingowych, biur studiów, publikacje organów państwowych (GUS, ministerstwa, instytuty badawcze itp.). </a:t>
            </a:r>
          </a:p>
          <a:p>
            <a:r>
              <a:rPr lang="pl-PL" sz="2400" b="1" dirty="0">
                <a:solidFill>
                  <a:srgbClr val="FFFF00"/>
                </a:solidFill>
              </a:rPr>
              <a:t>Gromadzenie danych </a:t>
            </a:r>
            <a:r>
              <a:rPr lang="pl-PL" sz="2400" b="1" u="sng" dirty="0">
                <a:solidFill>
                  <a:srgbClr val="FFFF00"/>
                </a:solidFill>
              </a:rPr>
              <a:t>pierwotnych</a:t>
            </a:r>
            <a:r>
              <a:rPr lang="pl-PL" sz="2400" b="1" dirty="0"/>
              <a:t>.</a:t>
            </a:r>
          </a:p>
          <a:p>
            <a:pPr marL="0" indent="0">
              <a:buNone/>
            </a:pPr>
            <a:r>
              <a:rPr lang="pl-PL" sz="2400" b="1" dirty="0"/>
              <a:t> Metody:</a:t>
            </a:r>
            <a:endParaRPr lang="pl-PL" sz="2400" dirty="0"/>
          </a:p>
          <a:p>
            <a:pPr marL="441325" indent="0">
              <a:buNone/>
            </a:pPr>
            <a:r>
              <a:rPr lang="pl-PL" sz="2400" b="1" dirty="0"/>
              <a:t>- </a:t>
            </a:r>
            <a:r>
              <a:rPr lang="pl-PL" sz="2400" b="1" dirty="0">
                <a:solidFill>
                  <a:srgbClr val="FFFF00"/>
                </a:solidFill>
              </a:rPr>
              <a:t>Ankietowe, wywiad kwestionariuszowy</a:t>
            </a:r>
            <a:r>
              <a:rPr lang="pl-PL" sz="2400" b="1" dirty="0"/>
              <a:t>- </a:t>
            </a:r>
            <a:r>
              <a:rPr lang="pl-PL" sz="2400" dirty="0"/>
              <a:t>konstrukcja kwestionariusza, forma i rodzaj pytań, ich sekwencja</a:t>
            </a:r>
            <a:r>
              <a:rPr lang="pl-PL" dirty="0"/>
              <a:t>. </a:t>
            </a:r>
            <a:r>
              <a:rPr lang="pl-PL" dirty="0">
                <a:solidFill>
                  <a:schemeClr val="bg1"/>
                </a:solidFill>
              </a:rPr>
              <a:t>O tym już wiecie więcej z ćwiczeń</a:t>
            </a:r>
          </a:p>
          <a:p>
            <a:pPr marL="441325" indent="0">
              <a:buNone/>
            </a:pPr>
            <a:endParaRPr lang="pl-PL" dirty="0"/>
          </a:p>
        </p:txBody>
      </p:sp>
    </p:spTree>
    <p:extLst>
      <p:ext uri="{BB962C8B-B14F-4D97-AF65-F5344CB8AC3E}">
        <p14:creationId xmlns:p14="http://schemas.microsoft.com/office/powerpoint/2010/main" val="20563973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a:xfrm>
            <a:off x="435006" y="116632"/>
            <a:ext cx="10813002" cy="3600400"/>
          </a:xfrm>
        </p:spPr>
        <p:txBody>
          <a:bodyPr/>
          <a:lstStyle/>
          <a:p>
            <a:r>
              <a:rPr lang="pl-PL" sz="2800" b="1" dirty="0"/>
              <a:t>- </a:t>
            </a:r>
            <a:r>
              <a:rPr lang="pl-PL" sz="2800" b="1" dirty="0">
                <a:solidFill>
                  <a:srgbClr val="FFFF00"/>
                </a:solidFill>
              </a:rPr>
              <a:t>Obserwacje</a:t>
            </a:r>
            <a:r>
              <a:rPr lang="pl-PL" sz="2800" b="1" dirty="0"/>
              <a:t>- </a:t>
            </a:r>
            <a:r>
              <a:rPr lang="pl-PL" sz="2800" dirty="0"/>
              <a:t>wstępna lub dodatkowa metoda gromadzenia informacji. </a:t>
            </a:r>
            <a:br>
              <a:rPr lang="pl-PL" sz="2800" dirty="0"/>
            </a:br>
            <a:r>
              <a:rPr lang="pl-PL" sz="2800" dirty="0"/>
              <a:t>Może być prowadzona przez sprzedawców, badaczy z zewnątrz. </a:t>
            </a:r>
            <a:br>
              <a:rPr lang="pl-PL" sz="2800" dirty="0"/>
            </a:br>
            <a:r>
              <a:rPr lang="pl-PL" sz="2800" dirty="0"/>
              <a:t>Czasami niezastąpiona, np. pomiar preferencji dzieci. Zaleta – prostota, niski koszt. </a:t>
            </a:r>
            <a:br>
              <a:rPr lang="pl-PL" sz="2800" dirty="0"/>
            </a:br>
            <a:endParaRPr lang="pl-PL" sz="2800" dirty="0"/>
          </a:p>
        </p:txBody>
      </p:sp>
      <p:graphicFrame>
        <p:nvGraphicFramePr>
          <p:cNvPr id="4" name="Symbol zastępczy zawartości 3"/>
          <p:cNvGraphicFramePr>
            <a:graphicFrameLocks noGrp="1"/>
          </p:cNvGraphicFramePr>
          <p:nvPr>
            <p:ph idx="1"/>
            <p:extLst/>
          </p:nvPr>
        </p:nvGraphicFramePr>
        <p:xfrm>
          <a:off x="2569654" y="3068961"/>
          <a:ext cx="7124700" cy="3428999"/>
        </p:xfrm>
        <a:graphic>
          <a:graphicData uri="http://schemas.openxmlformats.org/drawingml/2006/table">
            <a:tbl>
              <a:tblPr firstRow="1" bandRow="1">
                <a:tableStyleId>{5C22544A-7EE6-4342-B048-85BDC9FD1C3A}</a:tableStyleId>
              </a:tblPr>
              <a:tblGrid>
                <a:gridCol w="3562350">
                  <a:extLst>
                    <a:ext uri="{9D8B030D-6E8A-4147-A177-3AD203B41FA5}">
                      <a16:colId xmlns:a16="http://schemas.microsoft.com/office/drawing/2014/main" val="20000"/>
                    </a:ext>
                  </a:extLst>
                </a:gridCol>
                <a:gridCol w="3562350">
                  <a:extLst>
                    <a:ext uri="{9D8B030D-6E8A-4147-A177-3AD203B41FA5}">
                      <a16:colId xmlns:a16="http://schemas.microsoft.com/office/drawing/2014/main" val="20001"/>
                    </a:ext>
                  </a:extLst>
                </a:gridCol>
              </a:tblGrid>
              <a:tr h="107156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pl-PL" dirty="0"/>
                        <a:t>Obserwacja kontrolowana</a:t>
                      </a:r>
                    </a:p>
                    <a:p>
                      <a:endParaRPr lang="pl-PL"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pl-PL" dirty="0"/>
                        <a:t>Obserwacja nie kontrolowana </a:t>
                      </a:r>
                    </a:p>
                    <a:p>
                      <a:endParaRPr lang="pl-PL" dirty="0"/>
                    </a:p>
                  </a:txBody>
                  <a:tcPr/>
                </a:tc>
                <a:extLst>
                  <a:ext uri="{0D108BD9-81ED-4DB2-BD59-A6C34878D82A}">
                    <a16:rowId xmlns:a16="http://schemas.microsoft.com/office/drawing/2014/main" val="10000"/>
                  </a:ext>
                </a:extLst>
              </a:tr>
              <a:tr h="2357437">
                <a:tc>
                  <a:txBody>
                    <a:bodyPr/>
                    <a:lstStyle/>
                    <a:p>
                      <a:pPr marL="725488" indent="-363538"/>
                      <a:r>
                        <a:rPr lang="pl-PL" b="1" dirty="0"/>
                        <a:t>Obserwacja ukryta</a:t>
                      </a:r>
                    </a:p>
                    <a:p>
                      <a:pPr marL="1166813" indent="-441325">
                        <a:tabLst>
                          <a:tab pos="1166813" algn="l"/>
                        </a:tabLst>
                      </a:pPr>
                      <a:r>
                        <a:rPr lang="pl-PL" dirty="0"/>
                        <a:t>Standaryzowana</a:t>
                      </a:r>
                    </a:p>
                    <a:p>
                      <a:pPr marL="1166813" indent="-441325">
                        <a:tabLst>
                          <a:tab pos="1166813" algn="l"/>
                        </a:tabLst>
                      </a:pPr>
                      <a:r>
                        <a:rPr lang="pl-PL" b="0" dirty="0"/>
                        <a:t>Niestandaryzowana</a:t>
                      </a:r>
                    </a:p>
                    <a:p>
                      <a:pPr marL="725488" indent="-363538"/>
                      <a:r>
                        <a:rPr lang="pl-PL" b="1" dirty="0"/>
                        <a:t>Obserwacja jawna</a:t>
                      </a:r>
                    </a:p>
                    <a:p>
                      <a:pPr marL="1166813" indent="-363538"/>
                      <a:r>
                        <a:rPr lang="pl-PL" dirty="0"/>
                        <a:t>Standaryzowana</a:t>
                      </a:r>
                    </a:p>
                    <a:p>
                      <a:pPr marL="1166813" indent="-363538"/>
                      <a:r>
                        <a:rPr lang="pl-PL" dirty="0"/>
                        <a:t>Niestandaryzowana</a:t>
                      </a:r>
                    </a:p>
                    <a:p>
                      <a:endParaRPr lang="pl-PL" dirty="0"/>
                    </a:p>
                  </a:txBody>
                  <a:tcPr/>
                </a:tc>
                <a:tc>
                  <a:txBody>
                    <a:bodyPr/>
                    <a:lstStyle/>
                    <a:p>
                      <a:pPr marL="725488" indent="-363538"/>
                      <a:r>
                        <a:rPr lang="pl-PL" b="1" dirty="0"/>
                        <a:t>Obserwacja ukryta</a:t>
                      </a:r>
                    </a:p>
                    <a:p>
                      <a:pPr marL="1166813" indent="-441325">
                        <a:tabLst>
                          <a:tab pos="1528763" algn="l"/>
                        </a:tabLst>
                      </a:pPr>
                      <a:r>
                        <a:rPr lang="pl-PL" dirty="0"/>
                        <a:t>Standaryzowana</a:t>
                      </a:r>
                    </a:p>
                    <a:p>
                      <a:pPr marL="1166813" indent="-441325">
                        <a:tabLst>
                          <a:tab pos="1528763" algn="l"/>
                        </a:tabLst>
                      </a:pPr>
                      <a:r>
                        <a:rPr lang="pl-PL" dirty="0"/>
                        <a:t>Niestandaryzowana</a:t>
                      </a:r>
                    </a:p>
                    <a:p>
                      <a:pPr marL="725488" indent="-363538"/>
                      <a:r>
                        <a:rPr lang="pl-PL" b="1" dirty="0"/>
                        <a:t>Obserwacja jawna</a:t>
                      </a:r>
                    </a:p>
                    <a:p>
                      <a:pPr marL="1166813" indent="-363538"/>
                      <a:r>
                        <a:rPr lang="pl-PL" dirty="0"/>
                        <a:t>Standaryzowana</a:t>
                      </a:r>
                    </a:p>
                    <a:p>
                      <a:pPr marL="1166813" indent="-363538"/>
                      <a:r>
                        <a:rPr lang="pl-PL" dirty="0"/>
                        <a:t>Niestandaryzowana</a:t>
                      </a:r>
                    </a:p>
                    <a:p>
                      <a:endParaRPr lang="pl-PL" dirty="0"/>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3406152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a:xfrm>
            <a:off x="1524000" y="188640"/>
            <a:ext cx="8964488" cy="504056"/>
          </a:xfrm>
        </p:spPr>
        <p:txBody>
          <a:bodyPr/>
          <a:lstStyle/>
          <a:p>
            <a:pPr marL="457200" indent="-457200">
              <a:buFont typeface="Arial" panose="020B0604020202020204" pitchFamily="34" charset="0"/>
              <a:buChar char="•"/>
            </a:pPr>
            <a:br>
              <a:rPr lang="pl-PL" sz="2400" b="1" dirty="0"/>
            </a:br>
            <a:br>
              <a:rPr lang="pl-PL" b="1" dirty="0"/>
            </a:br>
            <a:endParaRPr lang="pl-PL" dirty="0"/>
          </a:p>
        </p:txBody>
      </p:sp>
      <p:sp>
        <p:nvSpPr>
          <p:cNvPr id="3" name="Symbol zastępczy zawartości 2"/>
          <p:cNvSpPr>
            <a:spLocks noGrp="1"/>
          </p:cNvSpPr>
          <p:nvPr>
            <p:ph idx="1"/>
          </p:nvPr>
        </p:nvSpPr>
        <p:spPr>
          <a:xfrm>
            <a:off x="195309" y="1118586"/>
            <a:ext cx="11638625" cy="4722921"/>
          </a:xfrm>
        </p:spPr>
        <p:txBody>
          <a:bodyPr>
            <a:normAutofit/>
          </a:bodyPr>
          <a:lstStyle/>
          <a:p>
            <a:pPr marL="784225">
              <a:buFontTx/>
              <a:buChar char="-"/>
            </a:pPr>
            <a:r>
              <a:rPr lang="pl-PL" sz="2400" b="1" u="sng" dirty="0">
                <a:solidFill>
                  <a:srgbClr val="FFFF00"/>
                </a:solidFill>
              </a:rPr>
              <a:t>Obserwacja kontrolowana </a:t>
            </a:r>
            <a:r>
              <a:rPr lang="pl-PL" sz="2400" dirty="0"/>
              <a:t>(osoba obserwowana jest nieświadoma obserwacji, ale jednocześnie jest pod wpływem obserwatora, np. obserwator prowadzi rozmowę z ekspedientką w taki sposób, aby obserwować różne jej zachowania). </a:t>
            </a:r>
            <a:r>
              <a:rPr lang="pl-PL" sz="2400" u="sng" dirty="0">
                <a:solidFill>
                  <a:srgbClr val="FFFF00"/>
                </a:solidFill>
              </a:rPr>
              <a:t>N</a:t>
            </a:r>
            <a:r>
              <a:rPr lang="pl-PL" sz="2400" b="1" u="sng" dirty="0">
                <a:solidFill>
                  <a:srgbClr val="FFFF00"/>
                </a:solidFill>
              </a:rPr>
              <a:t>iekontrolowana</a:t>
            </a:r>
            <a:r>
              <a:rPr lang="pl-PL" sz="2400" b="1" dirty="0"/>
              <a:t> </a:t>
            </a:r>
            <a:r>
              <a:rPr lang="pl-PL" sz="2400" dirty="0"/>
              <a:t>(warunki naturalne, np. liczenie ile osób oglądających wystawę dokona zakupu a obserwator nic nie robi, aby je skłonić do zakupu).</a:t>
            </a:r>
          </a:p>
          <a:p>
            <a:pPr marL="784225">
              <a:buFontTx/>
              <a:buChar char="-"/>
            </a:pPr>
            <a:r>
              <a:rPr lang="pl-PL" sz="2400" b="1" u="sng" dirty="0">
                <a:solidFill>
                  <a:srgbClr val="FFFF00"/>
                </a:solidFill>
              </a:rPr>
              <a:t>Ukryta</a:t>
            </a:r>
            <a:r>
              <a:rPr lang="pl-PL" sz="2400" dirty="0"/>
              <a:t> „tajemniczy klient”(obserwator gra rolę klienta, czasami stosuje się lustra weneckie, przebranie, wejście do grupy osób, ukrytą kamerę). </a:t>
            </a:r>
            <a:r>
              <a:rPr lang="pl-PL" sz="2400" b="1" u="sng" dirty="0">
                <a:solidFill>
                  <a:srgbClr val="FFFF00"/>
                </a:solidFill>
              </a:rPr>
              <a:t>Jawna</a:t>
            </a:r>
            <a:r>
              <a:rPr lang="pl-PL" sz="2400" dirty="0"/>
              <a:t> – czasami konieczna, ale obserwowany zachowuje się nienaturalnie.</a:t>
            </a:r>
          </a:p>
        </p:txBody>
      </p:sp>
    </p:spTree>
    <p:extLst>
      <p:ext uri="{BB962C8B-B14F-4D97-AF65-F5344CB8AC3E}">
        <p14:creationId xmlns:p14="http://schemas.microsoft.com/office/powerpoint/2010/main" val="2626722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ymbol zastępczy zawartości 2"/>
          <p:cNvSpPr>
            <a:spLocks noGrp="1"/>
          </p:cNvSpPr>
          <p:nvPr>
            <p:ph idx="1"/>
          </p:nvPr>
        </p:nvSpPr>
        <p:spPr>
          <a:xfrm>
            <a:off x="328475" y="763480"/>
            <a:ext cx="10339526" cy="5388745"/>
          </a:xfrm>
        </p:spPr>
        <p:txBody>
          <a:bodyPr>
            <a:normAutofit/>
          </a:bodyPr>
          <a:lstStyle/>
          <a:p>
            <a:pPr>
              <a:buFontTx/>
              <a:buChar char="-"/>
            </a:pPr>
            <a:endParaRPr lang="pl-PL" sz="2400" b="1" u="sng" dirty="0"/>
          </a:p>
          <a:p>
            <a:pPr>
              <a:buFontTx/>
              <a:buChar char="-"/>
            </a:pPr>
            <a:endParaRPr lang="pl-PL" sz="2400" b="1" u="sng" dirty="0"/>
          </a:p>
          <a:p>
            <a:pPr>
              <a:buFontTx/>
              <a:buChar char="-"/>
            </a:pPr>
            <a:r>
              <a:rPr lang="pl-PL" sz="2400" b="1" u="sng" dirty="0">
                <a:solidFill>
                  <a:srgbClr val="FFFF00"/>
                </a:solidFill>
              </a:rPr>
              <a:t>Niestandaryzowana</a:t>
            </a:r>
            <a:r>
              <a:rPr lang="pl-PL" sz="2400" dirty="0"/>
              <a:t> (nie ma ograniczeń dla obserwatora pod względem zapisu wyników i sposobu prowadzenia). </a:t>
            </a:r>
            <a:r>
              <a:rPr lang="pl-PL" sz="2400" b="1" u="sng" dirty="0">
                <a:solidFill>
                  <a:srgbClr val="FFFF00"/>
                </a:solidFill>
              </a:rPr>
              <a:t>Standaryzowana</a:t>
            </a:r>
            <a:r>
              <a:rPr lang="pl-PL" sz="2400" dirty="0"/>
              <a:t> (obserwator wcześniej ma zaplanowane, jak ma przeprowadzić obserwację i opracowuje wyniki według określonego schematu.</a:t>
            </a:r>
          </a:p>
          <a:p>
            <a:pPr marL="0" indent="0">
              <a:buNone/>
            </a:pPr>
            <a:r>
              <a:rPr lang="pl-PL" sz="2400" dirty="0"/>
              <a:t>Obserwować można ludzi i rzeczy (np. skład śmieci, aby stwierdzić kto kupuje dany towar).</a:t>
            </a:r>
          </a:p>
          <a:p>
            <a:pPr marL="0" indent="0">
              <a:buNone/>
            </a:pPr>
            <a:r>
              <a:rPr lang="pl-PL" i="1" dirty="0">
                <a:solidFill>
                  <a:srgbClr val="FFFF00"/>
                </a:solidFill>
              </a:rPr>
              <a:t>Polecam metodę „Tajemniczy klient” do prac inżynierskich i magisterskich</a:t>
            </a:r>
          </a:p>
        </p:txBody>
      </p:sp>
    </p:spTree>
    <p:extLst>
      <p:ext uri="{BB962C8B-B14F-4D97-AF65-F5344CB8AC3E}">
        <p14:creationId xmlns:p14="http://schemas.microsoft.com/office/powerpoint/2010/main" val="18222459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a:xfrm>
            <a:off x="88777" y="836712"/>
            <a:ext cx="11265763" cy="2952328"/>
          </a:xfrm>
        </p:spPr>
        <p:txBody>
          <a:bodyPr/>
          <a:lstStyle/>
          <a:p>
            <a:r>
              <a:rPr lang="pl-PL" sz="2400" b="1" dirty="0">
                <a:solidFill>
                  <a:srgbClr val="FFFF00"/>
                </a:solidFill>
              </a:rPr>
              <a:t>Eksperymenty</a:t>
            </a:r>
            <a:r>
              <a:rPr lang="pl-PL" sz="2400" b="1" dirty="0"/>
              <a:t>-</a:t>
            </a:r>
            <a:r>
              <a:rPr lang="pl-PL" sz="2400" dirty="0"/>
              <a:t> oddziaływanie w wybranym segmencie rynku jednym elementem marketingu i rejestrowanie skutków. </a:t>
            </a:r>
            <a:br>
              <a:rPr lang="pl-PL" sz="2400" dirty="0"/>
            </a:br>
            <a:r>
              <a:rPr lang="pl-PL" sz="2400" dirty="0"/>
              <a:t>Eksperymentator manipuluje zmiennymi (niezależnymi) w taki sposób, aby oddziaływały one na inne zmienne (zależne), których zmiany poddawane są pomiarom. </a:t>
            </a:r>
            <a:r>
              <a:rPr lang="pl-PL" sz="2400" dirty="0">
                <a:solidFill>
                  <a:srgbClr val="FFFF00"/>
                </a:solidFill>
              </a:rPr>
              <a:t>Badanie zależności </a:t>
            </a:r>
            <a:r>
              <a:rPr lang="pl-PL" sz="2400" dirty="0" err="1">
                <a:solidFill>
                  <a:srgbClr val="FFFF00"/>
                </a:solidFill>
              </a:rPr>
              <a:t>przyczynowo-skutkowych</a:t>
            </a:r>
            <a:r>
              <a:rPr lang="pl-PL" sz="2400" dirty="0"/>
              <a:t>.</a:t>
            </a:r>
          </a:p>
        </p:txBody>
      </p:sp>
      <p:graphicFrame>
        <p:nvGraphicFramePr>
          <p:cNvPr id="4" name="Symbol zastępczy zawartości 3"/>
          <p:cNvGraphicFramePr>
            <a:graphicFrameLocks noGrp="1"/>
          </p:cNvGraphicFramePr>
          <p:nvPr>
            <p:ph idx="1"/>
            <p:extLst>
              <p:ext uri="{D42A27DB-BD31-4B8C-83A1-F6EECF244321}">
                <p14:modId xmlns:p14="http://schemas.microsoft.com/office/powerpoint/2010/main" val="2428578186"/>
              </p:ext>
            </p:extLst>
          </p:nvPr>
        </p:nvGraphicFramePr>
        <p:xfrm>
          <a:off x="1549552" y="3071727"/>
          <a:ext cx="7854724" cy="3101569"/>
        </p:xfrm>
        <a:graphic>
          <a:graphicData uri="http://schemas.openxmlformats.org/drawingml/2006/table">
            <a:tbl>
              <a:tblPr firstRow="1" bandRow="1">
                <a:tableStyleId>{00A15C55-8517-42AA-B614-E9B94910E393}</a:tableStyleId>
              </a:tblPr>
              <a:tblGrid>
                <a:gridCol w="3927591">
                  <a:extLst>
                    <a:ext uri="{9D8B030D-6E8A-4147-A177-3AD203B41FA5}">
                      <a16:colId xmlns:a16="http://schemas.microsoft.com/office/drawing/2014/main" val="20000"/>
                    </a:ext>
                  </a:extLst>
                </a:gridCol>
                <a:gridCol w="3927133">
                  <a:extLst>
                    <a:ext uri="{9D8B030D-6E8A-4147-A177-3AD203B41FA5}">
                      <a16:colId xmlns:a16="http://schemas.microsoft.com/office/drawing/2014/main" val="20001"/>
                    </a:ext>
                  </a:extLst>
                </a:gridCol>
              </a:tblGrid>
              <a:tr h="1207101">
                <a:tc>
                  <a:txBody>
                    <a:bodyPr/>
                    <a:lstStyle/>
                    <a:p>
                      <a:r>
                        <a:rPr lang="pl-PL" dirty="0"/>
                        <a:t>Eksperyment z jedną zmienną</a:t>
                      </a:r>
                    </a:p>
                  </a:txBody>
                  <a:tcPr/>
                </a:tc>
                <a:tc>
                  <a:txBody>
                    <a:bodyPr/>
                    <a:lstStyle/>
                    <a:p>
                      <a:r>
                        <a:rPr lang="pl-PL" dirty="0"/>
                        <a:t>Eksperyment z wieloma zmiennymi</a:t>
                      </a:r>
                    </a:p>
                  </a:txBody>
                  <a:tcPr/>
                </a:tc>
                <a:extLst>
                  <a:ext uri="{0D108BD9-81ED-4DB2-BD59-A6C34878D82A}">
                    <a16:rowId xmlns:a16="http://schemas.microsoft.com/office/drawing/2014/main" val="10000"/>
                  </a:ext>
                </a:extLst>
              </a:tr>
              <a:tr h="1894468">
                <a:tc>
                  <a:txBody>
                    <a:bodyPr/>
                    <a:lstStyle/>
                    <a:p>
                      <a:r>
                        <a:rPr lang="pl-PL" dirty="0"/>
                        <a:t>Eksperymenty naturalne</a:t>
                      </a:r>
                    </a:p>
                    <a:p>
                      <a:r>
                        <a:rPr lang="pl-PL" dirty="0"/>
                        <a:t>Eksperymenty</a:t>
                      </a:r>
                      <a:r>
                        <a:rPr lang="pl-PL" baseline="0" dirty="0"/>
                        <a:t> sztuczne</a:t>
                      </a:r>
                    </a:p>
                    <a:p>
                      <a:r>
                        <a:rPr lang="pl-PL" baseline="0" dirty="0"/>
                        <a:t>Eksperymenty z jednym lub serią pomiarów</a:t>
                      </a:r>
                      <a:endParaRPr lang="pl-PL" dirty="0"/>
                    </a:p>
                  </a:txBody>
                  <a:tcPr/>
                </a:tc>
                <a:tc>
                  <a:txBody>
                    <a:bodyPr/>
                    <a:lstStyle/>
                    <a:p>
                      <a:r>
                        <a:rPr lang="pl-PL" dirty="0"/>
                        <a:t>Eksperymenty losowe</a:t>
                      </a:r>
                    </a:p>
                    <a:p>
                      <a:r>
                        <a:rPr lang="pl-PL" dirty="0"/>
                        <a:t>Eksperymenty statystyczne (kwadrat łaciński)</a:t>
                      </a: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6103749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ymbol zastępczy zawartości 2"/>
          <p:cNvSpPr>
            <a:spLocks noGrp="1"/>
          </p:cNvSpPr>
          <p:nvPr>
            <p:ph idx="1"/>
          </p:nvPr>
        </p:nvSpPr>
        <p:spPr>
          <a:xfrm>
            <a:off x="266330" y="577050"/>
            <a:ext cx="11416684" cy="6010182"/>
          </a:xfrm>
        </p:spPr>
        <p:txBody>
          <a:bodyPr>
            <a:normAutofit/>
          </a:bodyPr>
          <a:lstStyle/>
          <a:p>
            <a:r>
              <a:rPr lang="pl-PL" sz="2400" dirty="0">
                <a:solidFill>
                  <a:srgbClr val="FFFF00"/>
                </a:solidFill>
              </a:rPr>
              <a:t>Z </a:t>
            </a:r>
            <a:r>
              <a:rPr lang="pl-PL" sz="2400" b="1" dirty="0">
                <a:solidFill>
                  <a:srgbClr val="FFFF00"/>
                </a:solidFill>
              </a:rPr>
              <a:t>jedną zmienną </a:t>
            </a:r>
            <a:r>
              <a:rPr lang="pl-PL" sz="2400" dirty="0"/>
              <a:t>– najprostsze,</a:t>
            </a:r>
          </a:p>
          <a:p>
            <a:r>
              <a:rPr lang="pl-PL" sz="2400" b="1" dirty="0">
                <a:solidFill>
                  <a:srgbClr val="FFFF00"/>
                </a:solidFill>
              </a:rPr>
              <a:t>Z jednym pomiarem</a:t>
            </a:r>
            <a:r>
              <a:rPr lang="pl-PL" sz="2400" dirty="0"/>
              <a:t>- np. zbadanie reakcji na reklamę następnego dnia, </a:t>
            </a:r>
            <a:r>
              <a:rPr lang="pl-PL" sz="2400" b="1" dirty="0"/>
              <a:t>z wieloma pomiarami, </a:t>
            </a:r>
            <a:r>
              <a:rPr lang="pl-PL" sz="2400" i="1" dirty="0"/>
              <a:t>np. powtarzane eksperymenty w grupach panelowych;</a:t>
            </a:r>
          </a:p>
          <a:p>
            <a:r>
              <a:rPr lang="pl-PL" sz="2400" b="1" dirty="0">
                <a:solidFill>
                  <a:srgbClr val="FFFF00"/>
                </a:solidFill>
              </a:rPr>
              <a:t>Losowe</a:t>
            </a:r>
            <a:r>
              <a:rPr lang="pl-PL" sz="2400" dirty="0"/>
              <a:t>- kilka wartości zmiennej niezależnej a jednostki do poszczególnych grup (dużych) są dobierane losowo. </a:t>
            </a:r>
          </a:p>
          <a:p>
            <a:pPr marL="361950" indent="0">
              <a:buNone/>
            </a:pPr>
            <a:r>
              <a:rPr lang="pl-PL" sz="2400" i="1" dirty="0"/>
              <a:t>Np. pomiar wpływu koloru środków reklamy pocztowej na natężenie reakcji odbiorców tej reklamy (</a:t>
            </a:r>
            <a:r>
              <a:rPr lang="pl-PL" sz="2400" i="1" dirty="0" err="1"/>
              <a:t>eye</a:t>
            </a:r>
            <a:r>
              <a:rPr lang="pl-PL" sz="2400" i="1" dirty="0"/>
              <a:t> </a:t>
            </a:r>
            <a:r>
              <a:rPr lang="pl-PL" sz="2400" i="1" dirty="0" err="1"/>
              <a:t>tracking</a:t>
            </a:r>
            <a:r>
              <a:rPr lang="pl-PL" sz="2400" i="1" dirty="0"/>
              <a:t>). </a:t>
            </a:r>
          </a:p>
          <a:p>
            <a:pPr marL="361950" indent="0">
              <a:buNone/>
            </a:pPr>
            <a:r>
              <a:rPr lang="pl-PL" sz="2400" b="1" dirty="0">
                <a:solidFill>
                  <a:srgbClr val="FFFF00"/>
                </a:solidFill>
              </a:rPr>
              <a:t>Eksperymenty naturalne i sztuczne </a:t>
            </a:r>
            <a:r>
              <a:rPr lang="pl-PL" sz="2400" dirty="0"/>
              <a:t>– zależą od warunków, w jakich są prowadzone.</a:t>
            </a:r>
          </a:p>
          <a:p>
            <a:r>
              <a:rPr lang="pl-PL" sz="2400" b="1" dirty="0">
                <a:solidFill>
                  <a:srgbClr val="FFFF00"/>
                </a:solidFill>
              </a:rPr>
              <a:t>Kwadrat łaciński</a:t>
            </a:r>
            <a:r>
              <a:rPr lang="pl-PL" sz="2400" dirty="0"/>
              <a:t>, </a:t>
            </a:r>
          </a:p>
          <a:p>
            <a:pPr marL="361950" indent="0">
              <a:buNone/>
            </a:pPr>
            <a:r>
              <a:rPr lang="pl-PL" sz="2400" i="1" dirty="0"/>
              <a:t>np. cztery sklepy, cztery dni tygodnia, cztery ceny – efekt ograniczenie liczby eksperymentów do 16 zamiast 64. </a:t>
            </a:r>
            <a:r>
              <a:rPr lang="pl-PL" i="1" dirty="0">
                <a:solidFill>
                  <a:schemeClr val="bg1"/>
                </a:solidFill>
              </a:rPr>
              <a:t>(schemat na rysunku na następnym slajdzie)</a:t>
            </a:r>
          </a:p>
          <a:p>
            <a:pPr marL="0" indent="0">
              <a:buNone/>
            </a:pPr>
            <a:endParaRPr lang="pl-PL" dirty="0"/>
          </a:p>
          <a:p>
            <a:endParaRPr lang="pl-PL" dirty="0"/>
          </a:p>
        </p:txBody>
      </p:sp>
    </p:spTree>
    <p:extLst>
      <p:ext uri="{BB962C8B-B14F-4D97-AF65-F5344CB8AC3E}">
        <p14:creationId xmlns:p14="http://schemas.microsoft.com/office/powerpoint/2010/main" val="42300333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Symbol zastępczy zawartości 4"/>
          <p:cNvGraphicFramePr>
            <a:graphicFrameLocks noGrp="1"/>
          </p:cNvGraphicFramePr>
          <p:nvPr>
            <p:ph idx="1"/>
            <p:extLst>
              <p:ext uri="{D42A27DB-BD31-4B8C-83A1-F6EECF244321}">
                <p14:modId xmlns:p14="http://schemas.microsoft.com/office/powerpoint/2010/main" val="3769488097"/>
              </p:ext>
            </p:extLst>
          </p:nvPr>
        </p:nvGraphicFramePr>
        <p:xfrm>
          <a:off x="1560503" y="334002"/>
          <a:ext cx="8169370" cy="6181783"/>
        </p:xfrm>
        <a:graphic>
          <a:graphicData uri="http://schemas.openxmlformats.org/drawingml/2006/table">
            <a:tbl>
              <a:tblPr firstRow="1" bandRow="1">
                <a:tableStyleId>{5C22544A-7EE6-4342-B048-85BDC9FD1C3A}</a:tableStyleId>
              </a:tblPr>
              <a:tblGrid>
                <a:gridCol w="1191603">
                  <a:extLst>
                    <a:ext uri="{9D8B030D-6E8A-4147-A177-3AD203B41FA5}">
                      <a16:colId xmlns:a16="http://schemas.microsoft.com/office/drawing/2014/main" val="20000"/>
                    </a:ext>
                  </a:extLst>
                </a:gridCol>
                <a:gridCol w="1557425">
                  <a:extLst>
                    <a:ext uri="{9D8B030D-6E8A-4147-A177-3AD203B41FA5}">
                      <a16:colId xmlns:a16="http://schemas.microsoft.com/office/drawing/2014/main" val="20001"/>
                    </a:ext>
                  </a:extLst>
                </a:gridCol>
                <a:gridCol w="1649038">
                  <a:extLst>
                    <a:ext uri="{9D8B030D-6E8A-4147-A177-3AD203B41FA5}">
                      <a16:colId xmlns:a16="http://schemas.microsoft.com/office/drawing/2014/main" val="20002"/>
                    </a:ext>
                  </a:extLst>
                </a:gridCol>
                <a:gridCol w="1740652">
                  <a:extLst>
                    <a:ext uri="{9D8B030D-6E8A-4147-A177-3AD203B41FA5}">
                      <a16:colId xmlns:a16="http://schemas.microsoft.com/office/drawing/2014/main" val="20003"/>
                    </a:ext>
                  </a:extLst>
                </a:gridCol>
                <a:gridCol w="2030652">
                  <a:extLst>
                    <a:ext uri="{9D8B030D-6E8A-4147-A177-3AD203B41FA5}">
                      <a16:colId xmlns:a16="http://schemas.microsoft.com/office/drawing/2014/main" val="20004"/>
                    </a:ext>
                  </a:extLst>
                </a:gridCol>
              </a:tblGrid>
              <a:tr h="1863407">
                <a:tc>
                  <a:txBody>
                    <a:bodyPr/>
                    <a:lstStyle/>
                    <a:p>
                      <a:r>
                        <a:rPr lang="pl-PL" dirty="0"/>
                        <a:t>Dzień/ sklep</a:t>
                      </a:r>
                    </a:p>
                  </a:txBody>
                  <a:tcPr/>
                </a:tc>
                <a:tc>
                  <a:txBody>
                    <a:bodyPr/>
                    <a:lstStyle/>
                    <a:p>
                      <a:r>
                        <a:rPr lang="pl-PL" sz="3200" dirty="0">
                          <a:latin typeface="Times New Roman" panose="02020603050405020304" pitchFamily="18" charset="0"/>
                          <a:cs typeface="Times New Roman" panose="02020603050405020304" pitchFamily="18" charset="0"/>
                        </a:rPr>
                        <a:t>1</a:t>
                      </a:r>
                    </a:p>
                  </a:txBody>
                  <a:tcPr/>
                </a:tc>
                <a:tc>
                  <a:txBody>
                    <a:bodyPr/>
                    <a:lstStyle/>
                    <a:p>
                      <a:r>
                        <a:rPr lang="pl-PL" sz="3200" dirty="0">
                          <a:latin typeface="Times New Roman" panose="02020603050405020304" pitchFamily="18" charset="0"/>
                          <a:cs typeface="Times New Roman" panose="02020603050405020304" pitchFamily="18" charset="0"/>
                        </a:rPr>
                        <a:t>2</a:t>
                      </a:r>
                    </a:p>
                  </a:txBody>
                  <a:tcPr/>
                </a:tc>
                <a:tc>
                  <a:txBody>
                    <a:bodyPr/>
                    <a:lstStyle/>
                    <a:p>
                      <a:r>
                        <a:rPr lang="pl-PL" sz="3200" dirty="0">
                          <a:latin typeface="Times New Roman" panose="02020603050405020304" pitchFamily="18" charset="0"/>
                          <a:cs typeface="Times New Roman" panose="02020603050405020304" pitchFamily="18" charset="0"/>
                        </a:rPr>
                        <a:t>3</a:t>
                      </a:r>
                    </a:p>
                  </a:txBody>
                  <a:tcPr/>
                </a:tc>
                <a:tc>
                  <a:txBody>
                    <a:bodyPr/>
                    <a:lstStyle/>
                    <a:p>
                      <a:r>
                        <a:rPr lang="pl-PL" sz="3200" dirty="0">
                          <a:latin typeface="Times New Roman" panose="02020603050405020304" pitchFamily="18" charset="0"/>
                          <a:cs typeface="Times New Roman" panose="02020603050405020304" pitchFamily="18" charset="0"/>
                        </a:rPr>
                        <a:t>4</a:t>
                      </a:r>
                    </a:p>
                  </a:txBody>
                  <a:tcPr/>
                </a:tc>
                <a:extLst>
                  <a:ext uri="{0D108BD9-81ED-4DB2-BD59-A6C34878D82A}">
                    <a16:rowId xmlns:a16="http://schemas.microsoft.com/office/drawing/2014/main" val="10000"/>
                  </a:ext>
                </a:extLst>
              </a:tr>
              <a:tr h="1079594">
                <a:tc>
                  <a:txBody>
                    <a:bodyPr/>
                    <a:lstStyle/>
                    <a:p>
                      <a:r>
                        <a:rPr lang="pl-PL" sz="3200" dirty="0">
                          <a:latin typeface="Times New Roman" panose="02020603050405020304" pitchFamily="18" charset="0"/>
                          <a:cs typeface="Times New Roman" panose="02020603050405020304" pitchFamily="18" charset="0"/>
                        </a:rPr>
                        <a:t>1</a:t>
                      </a:r>
                    </a:p>
                  </a:txBody>
                  <a:tcPr/>
                </a:tc>
                <a:tc>
                  <a:txBody>
                    <a:bodyPr/>
                    <a:lstStyle/>
                    <a:p>
                      <a:r>
                        <a:rPr lang="pl-PL" sz="3200" dirty="0">
                          <a:latin typeface="Times New Roman" panose="02020603050405020304" pitchFamily="18" charset="0"/>
                          <a:cs typeface="Times New Roman" panose="02020603050405020304" pitchFamily="18" charset="0"/>
                        </a:rPr>
                        <a:t>c1</a:t>
                      </a:r>
                    </a:p>
                  </a:txBody>
                  <a:tcPr/>
                </a:tc>
                <a:tc>
                  <a:txBody>
                    <a:bodyPr/>
                    <a:lstStyle/>
                    <a:p>
                      <a:r>
                        <a:rPr lang="pl-PL" sz="3200" dirty="0">
                          <a:latin typeface="Times New Roman" panose="02020603050405020304" pitchFamily="18" charset="0"/>
                          <a:cs typeface="Times New Roman" panose="02020603050405020304" pitchFamily="18" charset="0"/>
                        </a:rPr>
                        <a:t>c2</a:t>
                      </a:r>
                    </a:p>
                  </a:txBody>
                  <a:tcPr/>
                </a:tc>
                <a:tc>
                  <a:txBody>
                    <a:bodyPr/>
                    <a:lstStyle/>
                    <a:p>
                      <a:r>
                        <a:rPr lang="pl-PL" sz="3200" dirty="0">
                          <a:latin typeface="Times New Roman" panose="02020603050405020304" pitchFamily="18" charset="0"/>
                          <a:cs typeface="Times New Roman" panose="02020603050405020304" pitchFamily="18" charset="0"/>
                        </a:rPr>
                        <a:t>c3</a:t>
                      </a:r>
                    </a:p>
                  </a:txBody>
                  <a:tcPr/>
                </a:tc>
                <a:tc>
                  <a:txBody>
                    <a:bodyPr/>
                    <a:lstStyle/>
                    <a:p>
                      <a:r>
                        <a:rPr lang="pl-PL" sz="3200" dirty="0">
                          <a:latin typeface="Times New Roman" panose="02020603050405020304" pitchFamily="18" charset="0"/>
                          <a:cs typeface="Times New Roman" panose="02020603050405020304" pitchFamily="18" charset="0"/>
                        </a:rPr>
                        <a:t>c4</a:t>
                      </a:r>
                    </a:p>
                  </a:txBody>
                  <a:tcPr/>
                </a:tc>
                <a:extLst>
                  <a:ext uri="{0D108BD9-81ED-4DB2-BD59-A6C34878D82A}">
                    <a16:rowId xmlns:a16="http://schemas.microsoft.com/office/drawing/2014/main" val="10001"/>
                  </a:ext>
                </a:extLst>
              </a:tr>
              <a:tr h="1079594">
                <a:tc>
                  <a:txBody>
                    <a:bodyPr/>
                    <a:lstStyle/>
                    <a:p>
                      <a:r>
                        <a:rPr lang="pl-PL" sz="3200" dirty="0">
                          <a:latin typeface="Times New Roman" panose="02020603050405020304" pitchFamily="18" charset="0"/>
                          <a:cs typeface="Times New Roman" panose="02020603050405020304" pitchFamily="18" charset="0"/>
                        </a:rPr>
                        <a:t>2</a:t>
                      </a:r>
                    </a:p>
                  </a:txBody>
                  <a:tcPr/>
                </a:tc>
                <a:tc>
                  <a:txBody>
                    <a:bodyPr/>
                    <a:lstStyle/>
                    <a:p>
                      <a:r>
                        <a:rPr lang="pl-PL" sz="3200" dirty="0">
                          <a:latin typeface="Times New Roman" panose="02020603050405020304" pitchFamily="18" charset="0"/>
                          <a:cs typeface="Times New Roman" panose="02020603050405020304" pitchFamily="18" charset="0"/>
                        </a:rPr>
                        <a:t>c2</a:t>
                      </a:r>
                    </a:p>
                  </a:txBody>
                  <a:tcPr/>
                </a:tc>
                <a:tc>
                  <a:txBody>
                    <a:bodyPr/>
                    <a:lstStyle/>
                    <a:p>
                      <a:r>
                        <a:rPr lang="pl-PL" sz="3200" dirty="0">
                          <a:latin typeface="Times New Roman" panose="02020603050405020304" pitchFamily="18" charset="0"/>
                          <a:cs typeface="Times New Roman" panose="02020603050405020304" pitchFamily="18" charset="0"/>
                        </a:rPr>
                        <a:t>c3</a:t>
                      </a:r>
                    </a:p>
                  </a:txBody>
                  <a:tcPr/>
                </a:tc>
                <a:tc>
                  <a:txBody>
                    <a:bodyPr/>
                    <a:lstStyle/>
                    <a:p>
                      <a:r>
                        <a:rPr lang="pl-PL" sz="3200" dirty="0">
                          <a:latin typeface="Times New Roman" panose="02020603050405020304" pitchFamily="18" charset="0"/>
                          <a:cs typeface="Times New Roman" panose="02020603050405020304" pitchFamily="18" charset="0"/>
                        </a:rPr>
                        <a:t>c4</a:t>
                      </a:r>
                    </a:p>
                  </a:txBody>
                  <a:tcPr/>
                </a:tc>
                <a:tc>
                  <a:txBody>
                    <a:bodyPr/>
                    <a:lstStyle/>
                    <a:p>
                      <a:r>
                        <a:rPr lang="pl-PL" sz="3200" dirty="0">
                          <a:latin typeface="Times New Roman" panose="02020603050405020304" pitchFamily="18" charset="0"/>
                          <a:cs typeface="Times New Roman" panose="02020603050405020304" pitchFamily="18" charset="0"/>
                        </a:rPr>
                        <a:t>c1</a:t>
                      </a:r>
                    </a:p>
                  </a:txBody>
                  <a:tcPr/>
                </a:tc>
                <a:extLst>
                  <a:ext uri="{0D108BD9-81ED-4DB2-BD59-A6C34878D82A}">
                    <a16:rowId xmlns:a16="http://schemas.microsoft.com/office/drawing/2014/main" val="10002"/>
                  </a:ext>
                </a:extLst>
              </a:tr>
              <a:tr h="1079594">
                <a:tc>
                  <a:txBody>
                    <a:bodyPr/>
                    <a:lstStyle/>
                    <a:p>
                      <a:r>
                        <a:rPr lang="pl-PL" sz="3200" dirty="0">
                          <a:latin typeface="Times New Roman" panose="02020603050405020304" pitchFamily="18" charset="0"/>
                          <a:cs typeface="Times New Roman" panose="02020603050405020304" pitchFamily="18" charset="0"/>
                        </a:rPr>
                        <a:t>3</a:t>
                      </a:r>
                    </a:p>
                  </a:txBody>
                  <a:tcPr/>
                </a:tc>
                <a:tc>
                  <a:txBody>
                    <a:bodyPr/>
                    <a:lstStyle/>
                    <a:p>
                      <a:r>
                        <a:rPr lang="pl-PL" sz="3200" dirty="0">
                          <a:latin typeface="Times New Roman" panose="02020603050405020304" pitchFamily="18" charset="0"/>
                          <a:cs typeface="Times New Roman" panose="02020603050405020304" pitchFamily="18" charset="0"/>
                        </a:rPr>
                        <a:t>c3</a:t>
                      </a:r>
                    </a:p>
                  </a:txBody>
                  <a:tcPr/>
                </a:tc>
                <a:tc>
                  <a:txBody>
                    <a:bodyPr/>
                    <a:lstStyle/>
                    <a:p>
                      <a:r>
                        <a:rPr lang="pl-PL" sz="3200" dirty="0">
                          <a:latin typeface="Times New Roman" panose="02020603050405020304" pitchFamily="18" charset="0"/>
                          <a:cs typeface="Times New Roman" panose="02020603050405020304" pitchFamily="18" charset="0"/>
                        </a:rPr>
                        <a:t>c4</a:t>
                      </a:r>
                    </a:p>
                  </a:txBody>
                  <a:tcPr/>
                </a:tc>
                <a:tc>
                  <a:txBody>
                    <a:bodyPr/>
                    <a:lstStyle/>
                    <a:p>
                      <a:r>
                        <a:rPr lang="pl-PL" sz="3200" dirty="0">
                          <a:latin typeface="Times New Roman" panose="02020603050405020304" pitchFamily="18" charset="0"/>
                          <a:cs typeface="Times New Roman" panose="02020603050405020304" pitchFamily="18" charset="0"/>
                        </a:rPr>
                        <a:t>c1</a:t>
                      </a:r>
                    </a:p>
                  </a:txBody>
                  <a:tcPr/>
                </a:tc>
                <a:tc>
                  <a:txBody>
                    <a:bodyPr/>
                    <a:lstStyle/>
                    <a:p>
                      <a:r>
                        <a:rPr lang="pl-PL" sz="3200" dirty="0">
                          <a:latin typeface="Times New Roman" panose="02020603050405020304" pitchFamily="18" charset="0"/>
                          <a:cs typeface="Times New Roman" panose="02020603050405020304" pitchFamily="18" charset="0"/>
                        </a:rPr>
                        <a:t>c2</a:t>
                      </a:r>
                    </a:p>
                  </a:txBody>
                  <a:tcPr/>
                </a:tc>
                <a:extLst>
                  <a:ext uri="{0D108BD9-81ED-4DB2-BD59-A6C34878D82A}">
                    <a16:rowId xmlns:a16="http://schemas.microsoft.com/office/drawing/2014/main" val="10003"/>
                  </a:ext>
                </a:extLst>
              </a:tr>
              <a:tr h="1079594">
                <a:tc>
                  <a:txBody>
                    <a:bodyPr/>
                    <a:lstStyle/>
                    <a:p>
                      <a:r>
                        <a:rPr lang="pl-PL" sz="3200" dirty="0">
                          <a:latin typeface="Times New Roman" panose="02020603050405020304" pitchFamily="18" charset="0"/>
                          <a:cs typeface="Times New Roman" panose="02020603050405020304" pitchFamily="18" charset="0"/>
                        </a:rPr>
                        <a:t>4</a:t>
                      </a:r>
                    </a:p>
                  </a:txBody>
                  <a:tcPr/>
                </a:tc>
                <a:tc>
                  <a:txBody>
                    <a:bodyPr/>
                    <a:lstStyle/>
                    <a:p>
                      <a:r>
                        <a:rPr lang="pl-PL" sz="3200" dirty="0">
                          <a:latin typeface="Times New Roman" panose="02020603050405020304" pitchFamily="18" charset="0"/>
                          <a:cs typeface="Times New Roman" panose="02020603050405020304" pitchFamily="18" charset="0"/>
                        </a:rPr>
                        <a:t>c4</a:t>
                      </a:r>
                    </a:p>
                  </a:txBody>
                  <a:tcPr/>
                </a:tc>
                <a:tc>
                  <a:txBody>
                    <a:bodyPr/>
                    <a:lstStyle/>
                    <a:p>
                      <a:r>
                        <a:rPr lang="pl-PL" sz="3200" dirty="0">
                          <a:latin typeface="Times New Roman" panose="02020603050405020304" pitchFamily="18" charset="0"/>
                          <a:cs typeface="Times New Roman" panose="02020603050405020304" pitchFamily="18" charset="0"/>
                        </a:rPr>
                        <a:t>c1</a:t>
                      </a:r>
                    </a:p>
                  </a:txBody>
                  <a:tcPr/>
                </a:tc>
                <a:tc>
                  <a:txBody>
                    <a:bodyPr/>
                    <a:lstStyle/>
                    <a:p>
                      <a:r>
                        <a:rPr lang="pl-PL" sz="3200" dirty="0">
                          <a:latin typeface="Times New Roman" panose="02020603050405020304" pitchFamily="18" charset="0"/>
                          <a:cs typeface="Times New Roman" panose="02020603050405020304" pitchFamily="18" charset="0"/>
                        </a:rPr>
                        <a:t>c2</a:t>
                      </a:r>
                    </a:p>
                  </a:txBody>
                  <a:tcPr/>
                </a:tc>
                <a:tc>
                  <a:txBody>
                    <a:bodyPr/>
                    <a:lstStyle/>
                    <a:p>
                      <a:r>
                        <a:rPr lang="pl-PL" sz="3200" dirty="0">
                          <a:latin typeface="Times New Roman" panose="02020603050405020304" pitchFamily="18" charset="0"/>
                          <a:cs typeface="Times New Roman" panose="02020603050405020304" pitchFamily="18" charset="0"/>
                        </a:rPr>
                        <a:t>c3</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8961514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ymbol zastępczy zawartości 2"/>
          <p:cNvSpPr>
            <a:spLocks noGrp="1"/>
          </p:cNvSpPr>
          <p:nvPr>
            <p:ph idx="1"/>
          </p:nvPr>
        </p:nvSpPr>
        <p:spPr>
          <a:xfrm>
            <a:off x="399495" y="577049"/>
            <a:ext cx="11319029" cy="5779364"/>
          </a:xfrm>
        </p:spPr>
        <p:txBody>
          <a:bodyPr>
            <a:normAutofit/>
          </a:bodyPr>
          <a:lstStyle/>
          <a:p>
            <a:pPr>
              <a:buFontTx/>
              <a:buChar char="-"/>
            </a:pPr>
            <a:r>
              <a:rPr lang="pl-PL" sz="2400" b="1" dirty="0">
                <a:solidFill>
                  <a:srgbClr val="FFFF00"/>
                </a:solidFill>
              </a:rPr>
              <a:t>Badania jakościowe</a:t>
            </a:r>
            <a:r>
              <a:rPr lang="pl-PL" sz="2400" dirty="0">
                <a:solidFill>
                  <a:srgbClr val="FFFF00"/>
                </a:solidFill>
              </a:rPr>
              <a:t> </a:t>
            </a:r>
            <a:r>
              <a:rPr lang="pl-PL" sz="2400" dirty="0"/>
              <a:t>– dorobek psychologii. Mają na celu poznanie motywacji konsumentów. </a:t>
            </a:r>
          </a:p>
          <a:p>
            <a:pPr marL="361950" indent="0">
              <a:buNone/>
            </a:pPr>
            <a:r>
              <a:rPr lang="pl-PL" sz="2400" i="1" dirty="0"/>
              <a:t>Wykorzystanie - reakcje konsumentów na przekazy reklamowe, znaki towarowe, nowe produkty, opakowania. </a:t>
            </a:r>
          </a:p>
          <a:p>
            <a:pPr marL="0" indent="0">
              <a:buNone/>
            </a:pPr>
            <a:r>
              <a:rPr lang="pl-PL" sz="2400" dirty="0"/>
              <a:t>Podstawowe formy: </a:t>
            </a:r>
          </a:p>
          <a:p>
            <a:pPr marL="725488" indent="-363538">
              <a:buFontTx/>
              <a:buChar char="-"/>
            </a:pPr>
            <a:r>
              <a:rPr lang="pl-PL" sz="2400" b="1" dirty="0">
                <a:solidFill>
                  <a:srgbClr val="FFFF00"/>
                </a:solidFill>
              </a:rPr>
              <a:t>wywiady grupowe </a:t>
            </a:r>
            <a:r>
              <a:rPr lang="pl-PL" sz="2400" dirty="0"/>
              <a:t>- głębinowe i zogniskowane </a:t>
            </a:r>
          </a:p>
          <a:p>
            <a:pPr marL="361950" indent="0">
              <a:buNone/>
            </a:pPr>
            <a:r>
              <a:rPr lang="pl-PL" sz="2400" dirty="0"/>
              <a:t>(</a:t>
            </a:r>
            <a:r>
              <a:rPr lang="pl-PL" sz="2400" i="1" dirty="0"/>
              <a:t>6-8 osób, nagrywanie dyskusji kontrolowanej przez moderatora, dyskusja swobodna lub cały czas nakierowywana na konkretny temat);</a:t>
            </a:r>
          </a:p>
          <a:p>
            <a:pPr marL="725488" indent="-363538">
              <a:buFontTx/>
              <a:buChar char="-"/>
            </a:pPr>
            <a:r>
              <a:rPr lang="pl-PL" sz="2400" b="1" dirty="0">
                <a:solidFill>
                  <a:srgbClr val="FFFF00"/>
                </a:solidFill>
              </a:rPr>
              <a:t>techniki projekcyjne </a:t>
            </a:r>
            <a:r>
              <a:rPr lang="pl-PL" sz="2400" b="1" dirty="0"/>
              <a:t>-</a:t>
            </a:r>
            <a:r>
              <a:rPr lang="pl-PL" sz="2400" dirty="0"/>
              <a:t> przeniesienie własnych cech na oceniane osoby lub rzeczy; </a:t>
            </a:r>
          </a:p>
          <a:p>
            <a:pPr marL="725488" indent="-363538">
              <a:buFontTx/>
              <a:buChar char="-"/>
            </a:pPr>
            <a:r>
              <a:rPr lang="pl-PL" sz="2400" b="1" dirty="0">
                <a:solidFill>
                  <a:srgbClr val="FFFF00"/>
                </a:solidFill>
              </a:rPr>
              <a:t>testy skojarzeń słownych </a:t>
            </a:r>
            <a:r>
              <a:rPr lang="pl-PL" sz="2400" dirty="0"/>
              <a:t>(wywołanie u badanych natychmiastowego skojarzenia z danym słowem). </a:t>
            </a:r>
          </a:p>
        </p:txBody>
      </p:sp>
    </p:spTree>
    <p:extLst>
      <p:ext uri="{BB962C8B-B14F-4D97-AF65-F5344CB8AC3E}">
        <p14:creationId xmlns:p14="http://schemas.microsoft.com/office/powerpoint/2010/main" val="42099449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encrypted-tbn2.gstatic.com/images?q=tbn:ANd9GcSTaMC-828nwkeBxLSeTh1asvrKpmqXwocPvXVIlTf5v3hhWgWW9w"/>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87315" y="1"/>
            <a:ext cx="11273950" cy="67120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66079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45996458-3819-4547-8513-1EFF6B76BD56}"/>
              </a:ext>
            </a:extLst>
          </p:cNvPr>
          <p:cNvSpPr>
            <a:spLocks noGrp="1"/>
          </p:cNvSpPr>
          <p:nvPr>
            <p:ph type="title"/>
          </p:nvPr>
        </p:nvSpPr>
        <p:spPr/>
        <p:txBody>
          <a:bodyPr/>
          <a:lstStyle/>
          <a:p>
            <a:endParaRPr lang="pl-PL"/>
          </a:p>
        </p:txBody>
      </p:sp>
      <p:pic>
        <p:nvPicPr>
          <p:cNvPr id="1026" name="Picture 2" descr="Co zobaczyłeś najpierw? Ten szybki test wiele o tobie powie">
            <a:extLst>
              <a:ext uri="{FF2B5EF4-FFF2-40B4-BE49-F238E27FC236}">
                <a16:creationId xmlns:a16="http://schemas.microsoft.com/office/drawing/2014/main" id="{D1D11EBE-0989-43FA-8DC9-1DD9CDFB10B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39187" y="492790"/>
            <a:ext cx="10025546" cy="61434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84278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6770CFE9-7EE7-492B-95EB-61A82B8C719C}"/>
              </a:ext>
            </a:extLst>
          </p:cNvPr>
          <p:cNvSpPr>
            <a:spLocks noGrp="1"/>
          </p:cNvSpPr>
          <p:nvPr>
            <p:ph idx="1"/>
          </p:nvPr>
        </p:nvSpPr>
        <p:spPr>
          <a:xfrm>
            <a:off x="295674" y="1100564"/>
            <a:ext cx="11164441" cy="5147835"/>
          </a:xfrm>
        </p:spPr>
        <p:txBody>
          <a:bodyPr/>
          <a:lstStyle/>
          <a:p>
            <a:pPr marL="0" indent="0">
              <a:buNone/>
            </a:pPr>
            <a:r>
              <a:rPr lang="pl-PL" b="1" dirty="0"/>
              <a:t>Małpa na drzewie</a:t>
            </a:r>
            <a:endParaRPr lang="pl-PL" dirty="0"/>
          </a:p>
          <a:p>
            <a:r>
              <a:rPr lang="pl-PL" dirty="0"/>
              <a:t>Jeżeli na obrazku dostrzegasz małpę na drzewie, to sugeruje to, że jesteś osobą niezwykle kreatywną. Twoja głowa pełna jest fantastycznych pomysłów, które z entuzjazmem wprowadzasz w życie. Potrafisz rozwiązać każdy problem, ponieważ </a:t>
            </a:r>
            <a:r>
              <a:rPr lang="pl-PL" b="1" dirty="0"/>
              <a:t>myślisz nieszablonowo i dostrzegasz więcej</a:t>
            </a:r>
            <a:r>
              <a:rPr lang="pl-PL" dirty="0"/>
              <a:t>. Podejmujesz decyzje z pełną świadomością, że mają one wpływ na twój rozwój osobisty.</a:t>
            </a:r>
          </a:p>
          <a:p>
            <a:r>
              <a:rPr lang="pl-PL" dirty="0"/>
              <a:t>Łatwo nawiązujesz kontakty, ale zdarza ci się zbyt mało czasu poświęcać przyjaciołom. Musisz popracować nad organizacją swojego życia codziennego, ponieważ często masz wrażenie, że nie masz na nic czasu. </a:t>
            </a:r>
            <a:r>
              <a:rPr lang="pl-PL" b="1" dirty="0"/>
              <a:t>Wyjdź czasem ze swojej bańki i rozejrzyj się</a:t>
            </a:r>
            <a:r>
              <a:rPr lang="pl-PL" dirty="0"/>
              <a:t>, co dzieje się wokół.</a:t>
            </a:r>
          </a:p>
          <a:p>
            <a:endParaRPr lang="pl-PL" dirty="0"/>
          </a:p>
        </p:txBody>
      </p:sp>
    </p:spTree>
    <p:extLst>
      <p:ext uri="{BB962C8B-B14F-4D97-AF65-F5344CB8AC3E}">
        <p14:creationId xmlns:p14="http://schemas.microsoft.com/office/powerpoint/2010/main" val="18441295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C458E31B-66EB-4D0E-B10D-8FE527B7DFD1}"/>
              </a:ext>
            </a:extLst>
          </p:cNvPr>
          <p:cNvSpPr>
            <a:spLocks noGrp="1"/>
          </p:cNvSpPr>
          <p:nvPr>
            <p:ph idx="1"/>
          </p:nvPr>
        </p:nvSpPr>
        <p:spPr>
          <a:xfrm>
            <a:off x="542070" y="897974"/>
            <a:ext cx="10644274" cy="5350425"/>
          </a:xfrm>
        </p:spPr>
        <p:txBody>
          <a:bodyPr/>
          <a:lstStyle/>
          <a:p>
            <a:pPr marL="0" indent="0">
              <a:buNone/>
            </a:pPr>
            <a:r>
              <a:rPr lang="pl-PL" b="1" dirty="0"/>
              <a:t>Głowa tygrysa</a:t>
            </a:r>
            <a:endParaRPr lang="pl-PL" dirty="0"/>
          </a:p>
          <a:p>
            <a:r>
              <a:rPr lang="pl-PL" dirty="0"/>
              <a:t>Jeśli jako pierwsze zauważyłeś głowę tygrysa, to może to oznaczać, że </a:t>
            </a:r>
            <a:r>
              <a:rPr lang="pl-PL" b="1" dirty="0"/>
              <a:t>jesteś osobą praktyczną, dysponującą zdolnościami analitycznymi</a:t>
            </a:r>
            <a:r>
              <a:rPr lang="pl-PL" dirty="0"/>
              <a:t> i wykazującą dużą wyrozumiałość. Zadania wykonujesz od początku do końca. Czasem zbyt skupiasz się na tym, aby wszystko poszło zgodnie z twoim planem. Powinieneś czasem pozwolić innym na </a:t>
            </a:r>
            <a:r>
              <a:rPr lang="pl-PL" dirty="0">
                <a:hlinkClick r:id="rId2"/>
              </a:rPr>
              <a:t>wyrażenie swojego zdania</a:t>
            </a:r>
            <a:r>
              <a:rPr lang="pl-PL" dirty="0"/>
              <a:t> i wysłuchać ich sugestii. Nie przepadasz za niespodziankami, zawsze dążysz do osiągnięcia swojego celu i nigdy się nie poddajesz.</a:t>
            </a:r>
          </a:p>
          <a:p>
            <a:endParaRPr lang="pl-PL" dirty="0"/>
          </a:p>
        </p:txBody>
      </p:sp>
    </p:spTree>
    <p:extLst>
      <p:ext uri="{BB962C8B-B14F-4D97-AF65-F5344CB8AC3E}">
        <p14:creationId xmlns:p14="http://schemas.microsoft.com/office/powerpoint/2010/main" val="24138629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a:xfrm>
            <a:off x="2533443" y="1"/>
            <a:ext cx="7125113" cy="908720"/>
          </a:xfrm>
        </p:spPr>
        <p:txBody>
          <a:bodyPr/>
          <a:lstStyle/>
          <a:p>
            <a:r>
              <a:rPr lang="pl-PL" sz="2800" dirty="0"/>
              <a:t>Analizowanie i interpretowanie danych</a:t>
            </a:r>
          </a:p>
        </p:txBody>
      </p:sp>
      <p:sp>
        <p:nvSpPr>
          <p:cNvPr id="3" name="Symbol zastępczy zawartości 2"/>
          <p:cNvSpPr>
            <a:spLocks noGrp="1"/>
          </p:cNvSpPr>
          <p:nvPr>
            <p:ph idx="1"/>
          </p:nvPr>
        </p:nvSpPr>
        <p:spPr>
          <a:xfrm>
            <a:off x="346229" y="764705"/>
            <a:ext cx="11176987" cy="5976663"/>
          </a:xfrm>
        </p:spPr>
        <p:txBody>
          <a:bodyPr>
            <a:normAutofit/>
          </a:bodyPr>
          <a:lstStyle/>
          <a:p>
            <a:pPr marL="0" indent="0">
              <a:buNone/>
            </a:pPr>
            <a:r>
              <a:rPr lang="pl-PL" dirty="0"/>
              <a:t>Etapy</a:t>
            </a:r>
          </a:p>
          <a:p>
            <a:r>
              <a:rPr lang="pl-PL" u="sng" dirty="0"/>
              <a:t>Zebrane dane trzeba </a:t>
            </a:r>
            <a:r>
              <a:rPr lang="pl-PL" u="sng" dirty="0">
                <a:solidFill>
                  <a:srgbClr val="FFFF00"/>
                </a:solidFill>
              </a:rPr>
              <a:t>sprawdzić pod kątem kompletności, logiczności</a:t>
            </a:r>
            <a:r>
              <a:rPr lang="pl-PL" u="sng" dirty="0"/>
              <a:t>, czy zostały zgromadzone zgodnie z instrukcją</a:t>
            </a:r>
            <a:r>
              <a:rPr lang="pl-PL" dirty="0"/>
              <a:t>. </a:t>
            </a:r>
          </a:p>
          <a:p>
            <a:pPr marL="361950" indent="0" algn="just">
              <a:buNone/>
            </a:pPr>
            <a:r>
              <a:rPr lang="pl-PL" i="1" dirty="0"/>
              <a:t>Efekt – uzupełnianie, poprawa ich czytelności, sprawdzenie zawartości merytorycznej. Należy się upewnić co do kompletnej zawartości i przygotowaniu danych do dalszej transformacji</a:t>
            </a:r>
            <a:r>
              <a:rPr lang="pl-PL" dirty="0"/>
              <a:t>. </a:t>
            </a:r>
          </a:p>
          <a:p>
            <a:r>
              <a:rPr lang="pl-PL" u="sng" dirty="0"/>
              <a:t>Zastosować </a:t>
            </a:r>
            <a:r>
              <a:rPr lang="pl-PL" u="sng" dirty="0">
                <a:solidFill>
                  <a:srgbClr val="FFFF00"/>
                </a:solidFill>
              </a:rPr>
              <a:t>metody analizy statystycznej danych.</a:t>
            </a:r>
            <a:r>
              <a:rPr lang="pl-PL" u="sng" dirty="0"/>
              <a:t>  </a:t>
            </a:r>
          </a:p>
          <a:p>
            <a:r>
              <a:rPr lang="pl-PL" u="sng" dirty="0">
                <a:solidFill>
                  <a:srgbClr val="FFFF00"/>
                </a:solidFill>
              </a:rPr>
              <a:t>Interpretacja </a:t>
            </a:r>
            <a:r>
              <a:rPr lang="pl-PL" u="sng" dirty="0"/>
              <a:t>uzyskanych wyników, </a:t>
            </a:r>
          </a:p>
          <a:p>
            <a:pPr marL="361950" indent="0" algn="just">
              <a:buNone/>
            </a:pPr>
            <a:r>
              <a:rPr lang="pl-PL" i="1" dirty="0"/>
              <a:t>metody postępowania: </a:t>
            </a:r>
          </a:p>
          <a:p>
            <a:pPr marL="361950" indent="0" algn="just">
              <a:buNone/>
            </a:pPr>
            <a:r>
              <a:rPr lang="pl-PL" b="1" i="1" dirty="0">
                <a:solidFill>
                  <a:srgbClr val="FFFF00"/>
                </a:solidFill>
              </a:rPr>
              <a:t>indukcja </a:t>
            </a:r>
            <a:r>
              <a:rPr lang="pl-PL" i="1" dirty="0"/>
              <a:t>(uogólnienia na podstawie zgromadzonych danych), </a:t>
            </a:r>
          </a:p>
          <a:p>
            <a:pPr marL="361950" indent="0" algn="just">
              <a:buNone/>
            </a:pPr>
            <a:r>
              <a:rPr lang="pl-PL" b="1" i="1" dirty="0">
                <a:solidFill>
                  <a:srgbClr val="FFFF00"/>
                </a:solidFill>
              </a:rPr>
              <a:t>analogia</a:t>
            </a:r>
            <a:r>
              <a:rPr lang="pl-PL" i="1" dirty="0"/>
              <a:t> (od ogółu do szczegółu, przetworzenie twierdzeń dotyczących jednego zjawiska na inne na podstawie ich podobieństwa), </a:t>
            </a:r>
          </a:p>
          <a:p>
            <a:pPr marL="361950" indent="0" algn="just">
              <a:buNone/>
            </a:pPr>
            <a:r>
              <a:rPr lang="pl-PL" b="1" i="1" dirty="0">
                <a:solidFill>
                  <a:srgbClr val="FFFF00"/>
                </a:solidFill>
              </a:rPr>
              <a:t>dedukcja</a:t>
            </a:r>
            <a:r>
              <a:rPr lang="pl-PL" i="1" dirty="0"/>
              <a:t> (wnioskowanie pośrednie, nie na podstawie obserwacji rzeczywistości, jej rezultatem są modele, schematy).</a:t>
            </a:r>
          </a:p>
        </p:txBody>
      </p:sp>
    </p:spTree>
    <p:extLst>
      <p:ext uri="{BB962C8B-B14F-4D97-AF65-F5344CB8AC3E}">
        <p14:creationId xmlns:p14="http://schemas.microsoft.com/office/powerpoint/2010/main" val="23001154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sz="2800" b="1" dirty="0"/>
              <a:t>Sporządzanie raportu z badań</a:t>
            </a:r>
          </a:p>
        </p:txBody>
      </p:sp>
      <p:sp>
        <p:nvSpPr>
          <p:cNvPr id="3" name="Symbol zastępczy zawartości 2"/>
          <p:cNvSpPr>
            <a:spLocks noGrp="1"/>
          </p:cNvSpPr>
          <p:nvPr>
            <p:ph idx="1"/>
          </p:nvPr>
        </p:nvSpPr>
        <p:spPr>
          <a:xfrm>
            <a:off x="235444" y="1600200"/>
            <a:ext cx="11783167" cy="4258599"/>
          </a:xfrm>
        </p:spPr>
        <p:txBody>
          <a:bodyPr>
            <a:normAutofit/>
          </a:bodyPr>
          <a:lstStyle/>
          <a:p>
            <a:pPr>
              <a:buFont typeface="Wingdings" panose="05000000000000000000" pitchFamily="2" charset="2"/>
              <a:buChar char="§"/>
            </a:pPr>
            <a:r>
              <a:rPr lang="pl-PL" sz="2400" dirty="0"/>
              <a:t>Prezentacja wyników pod kątem oczekiwań decydentów. </a:t>
            </a:r>
          </a:p>
          <a:p>
            <a:pPr marL="0" indent="0">
              <a:buNone/>
            </a:pPr>
            <a:endParaRPr lang="pl-PL" sz="2400" dirty="0"/>
          </a:p>
          <a:p>
            <a:pPr>
              <a:buFont typeface="Wingdings" panose="05000000000000000000" pitchFamily="2" charset="2"/>
              <a:buChar char="§"/>
            </a:pPr>
            <a:r>
              <a:rPr lang="pl-PL" sz="2400" dirty="0"/>
              <a:t>Dobór formy, aby precyzyjnie poinformować o odkryciach badawczych.</a:t>
            </a:r>
          </a:p>
          <a:p>
            <a:pPr marL="0" indent="0">
              <a:buNone/>
            </a:pPr>
            <a:r>
              <a:rPr lang="pl-PL" sz="2400" dirty="0"/>
              <a:t>Formy tekstowe, tabelaryczne, graficzne. Podstawowy cel – komunikatywność, wnikliwość, rzetelność, maksymalne pogłębienie wnioskowania, poszukiwanie interakcji, związków. </a:t>
            </a:r>
          </a:p>
        </p:txBody>
      </p:sp>
    </p:spTree>
    <p:extLst>
      <p:ext uri="{BB962C8B-B14F-4D97-AF65-F5344CB8AC3E}">
        <p14:creationId xmlns:p14="http://schemas.microsoft.com/office/powerpoint/2010/main" val="42168365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a:xfrm>
            <a:off x="2504038" y="548680"/>
            <a:ext cx="7595006" cy="1008112"/>
          </a:xfrm>
        </p:spPr>
        <p:txBody>
          <a:bodyPr/>
          <a:lstStyle/>
          <a:p>
            <a:pPr algn="just"/>
            <a:r>
              <a:rPr lang="pl-PL" sz="2800" b="1" dirty="0">
                <a:solidFill>
                  <a:srgbClr val="FFFF00"/>
                </a:solidFill>
                <a:latin typeface="+mn-lt"/>
              </a:rPr>
              <a:t>Organizacja badań marketingowych</a:t>
            </a:r>
          </a:p>
        </p:txBody>
      </p:sp>
      <p:sp>
        <p:nvSpPr>
          <p:cNvPr id="3" name="Symbol zastępczy zawartości 2"/>
          <p:cNvSpPr>
            <a:spLocks noGrp="1"/>
          </p:cNvSpPr>
          <p:nvPr>
            <p:ph idx="1"/>
          </p:nvPr>
        </p:nvSpPr>
        <p:spPr>
          <a:xfrm>
            <a:off x="692458" y="2348880"/>
            <a:ext cx="10582183" cy="4353879"/>
          </a:xfrm>
        </p:spPr>
        <p:txBody>
          <a:bodyPr/>
          <a:lstStyle/>
          <a:p>
            <a:pPr marL="0" indent="0">
              <a:buNone/>
            </a:pPr>
            <a:r>
              <a:rPr lang="pl-PL" sz="2400" dirty="0"/>
              <a:t>Problemy do rozstrzygnięcia:</a:t>
            </a:r>
          </a:p>
          <a:p>
            <a:r>
              <a:rPr lang="pl-PL" sz="2400" dirty="0">
                <a:solidFill>
                  <a:srgbClr val="FFFF00"/>
                </a:solidFill>
              </a:rPr>
              <a:t>Kto</a:t>
            </a:r>
            <a:r>
              <a:rPr lang="pl-PL" sz="2400" dirty="0"/>
              <a:t> będzie je prowadził- wykonawca zewnętrzny (agencje badawcze – bardziej wyspecjalizowane, dysponują odpowiednimi narzędziami, przygotowani metodycznie ale bardzo kosztowne), własne służby badawcze – zdecydowanie tańsze.</a:t>
            </a:r>
          </a:p>
          <a:p>
            <a:endParaRPr lang="pl-PL" dirty="0"/>
          </a:p>
        </p:txBody>
      </p:sp>
    </p:spTree>
    <p:extLst>
      <p:ext uri="{BB962C8B-B14F-4D97-AF65-F5344CB8AC3E}">
        <p14:creationId xmlns:p14="http://schemas.microsoft.com/office/powerpoint/2010/main" val="1228839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a:xfrm>
            <a:off x="1649760" y="32672"/>
            <a:ext cx="8784975" cy="924475"/>
          </a:xfrm>
        </p:spPr>
        <p:txBody>
          <a:bodyPr/>
          <a:lstStyle/>
          <a:p>
            <a:pPr marL="457200" indent="-457200">
              <a:buFont typeface="Arial" panose="020B0604020202020204" pitchFamily="34" charset="0"/>
              <a:buChar char="•"/>
            </a:pPr>
            <a:r>
              <a:rPr lang="pl-PL" dirty="0">
                <a:solidFill>
                  <a:srgbClr val="FFFF00"/>
                </a:solidFill>
              </a:rPr>
              <a:t>Ustalenie próby badawczej</a:t>
            </a:r>
          </a:p>
        </p:txBody>
      </p:sp>
      <p:sp>
        <p:nvSpPr>
          <p:cNvPr id="3" name="Symbol zastępczy zawartości 2"/>
          <p:cNvSpPr>
            <a:spLocks noGrp="1"/>
          </p:cNvSpPr>
          <p:nvPr>
            <p:ph idx="1"/>
          </p:nvPr>
        </p:nvSpPr>
        <p:spPr>
          <a:xfrm>
            <a:off x="372862" y="1473693"/>
            <a:ext cx="11185863" cy="5195668"/>
          </a:xfrm>
        </p:spPr>
        <p:txBody>
          <a:bodyPr>
            <a:normAutofit/>
          </a:bodyPr>
          <a:lstStyle/>
          <a:p>
            <a:pPr marL="0" indent="0">
              <a:buNone/>
            </a:pPr>
            <a:r>
              <a:rPr lang="pl-PL" sz="2400" b="1" dirty="0"/>
              <a:t>Próba -</a:t>
            </a:r>
            <a:r>
              <a:rPr lang="pl-PL" sz="2400" dirty="0"/>
              <a:t> część populacji wybrana do badań w celu reprezentowania całości populacji. </a:t>
            </a:r>
          </a:p>
          <a:p>
            <a:pPr marL="0" indent="0">
              <a:buNone/>
            </a:pPr>
            <a:r>
              <a:rPr lang="pl-PL" sz="2400" dirty="0"/>
              <a:t>Powinna mieć walor reprezentatywności, co zależy od sposobu jej ustalenia.</a:t>
            </a:r>
          </a:p>
          <a:p>
            <a:pPr marL="0" indent="0">
              <a:buNone/>
            </a:pPr>
            <a:r>
              <a:rPr lang="pl-PL" sz="2400" dirty="0"/>
              <a:t>Ustalenie próby wymaga podjęcia trzech decyzji:</a:t>
            </a:r>
          </a:p>
          <a:p>
            <a:pPr>
              <a:buFont typeface="Wingdings" panose="05000000000000000000" pitchFamily="2" charset="2"/>
              <a:buChar char="v"/>
            </a:pPr>
            <a:r>
              <a:rPr lang="pl-PL" sz="2400" b="1" u="sng" dirty="0"/>
              <a:t>Kto</a:t>
            </a:r>
            <a:r>
              <a:rPr lang="pl-PL" sz="2400" dirty="0"/>
              <a:t> powinien być poddany badaniu? </a:t>
            </a:r>
          </a:p>
          <a:p>
            <a:pPr>
              <a:buFont typeface="Wingdings" panose="05000000000000000000" pitchFamily="2" charset="2"/>
              <a:buChar char="v"/>
            </a:pPr>
            <a:r>
              <a:rPr lang="pl-PL" sz="2400" b="1" u="sng" dirty="0"/>
              <a:t>Ile</a:t>
            </a:r>
            <a:r>
              <a:rPr lang="pl-PL" sz="2400" dirty="0"/>
              <a:t> osób przebadać? (</a:t>
            </a:r>
            <a:r>
              <a:rPr lang="pl-PL" sz="2400" dirty="0">
                <a:hlinkClick r:id="rId2"/>
              </a:rPr>
              <a:t>Kalkulator doboru próby (naukowiec.org)</a:t>
            </a:r>
            <a:endParaRPr lang="pl-PL" sz="2400" dirty="0"/>
          </a:p>
          <a:p>
            <a:pPr>
              <a:buFont typeface="Wingdings" panose="05000000000000000000" pitchFamily="2" charset="2"/>
              <a:buChar char="v"/>
            </a:pPr>
            <a:r>
              <a:rPr lang="pl-PL" sz="2400" b="1" u="sng" dirty="0"/>
              <a:t>Jak</a:t>
            </a:r>
            <a:r>
              <a:rPr lang="pl-PL" sz="2400" dirty="0"/>
              <a:t> wybrać osoby do próby? </a:t>
            </a:r>
          </a:p>
        </p:txBody>
      </p:sp>
    </p:spTree>
    <p:extLst>
      <p:ext uri="{BB962C8B-B14F-4D97-AF65-F5344CB8AC3E}">
        <p14:creationId xmlns:p14="http://schemas.microsoft.com/office/powerpoint/2010/main" val="34492789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Symbol zastępczy zawartości 3"/>
          <p:cNvGraphicFramePr>
            <a:graphicFrameLocks noGrp="1"/>
          </p:cNvGraphicFramePr>
          <p:nvPr>
            <p:ph idx="1"/>
            <p:extLst/>
          </p:nvPr>
        </p:nvGraphicFramePr>
        <p:xfrm>
          <a:off x="1538368" y="673310"/>
          <a:ext cx="9022129" cy="739467"/>
        </p:xfrm>
        <a:graphic>
          <a:graphicData uri="http://schemas.openxmlformats.org/drawingml/2006/table">
            <a:tbl>
              <a:tblPr>
                <a:tableStyleId>{5C22544A-7EE6-4342-B048-85BDC9FD1C3A}</a:tableStyleId>
              </a:tblPr>
              <a:tblGrid>
                <a:gridCol w="2177251">
                  <a:extLst>
                    <a:ext uri="{9D8B030D-6E8A-4147-A177-3AD203B41FA5}">
                      <a16:colId xmlns:a16="http://schemas.microsoft.com/office/drawing/2014/main" val="20000"/>
                    </a:ext>
                  </a:extLst>
                </a:gridCol>
                <a:gridCol w="6844878">
                  <a:extLst>
                    <a:ext uri="{9D8B030D-6E8A-4147-A177-3AD203B41FA5}">
                      <a16:colId xmlns:a16="http://schemas.microsoft.com/office/drawing/2014/main" val="20001"/>
                    </a:ext>
                  </a:extLst>
                </a:gridCol>
              </a:tblGrid>
              <a:tr h="739467">
                <a:tc>
                  <a:txBody>
                    <a:bodyPr/>
                    <a:lstStyle/>
                    <a:p>
                      <a:pPr algn="ctr" hangingPunct="0">
                        <a:spcAft>
                          <a:spcPts val="0"/>
                        </a:spcAft>
                      </a:pPr>
                      <a:r>
                        <a:rPr lang="pl-PL" sz="1600" dirty="0">
                          <a:effectLst/>
                        </a:rPr>
                        <a:t>n = 1/(</a:t>
                      </a:r>
                      <a:r>
                        <a:rPr lang="pl-PL" sz="1600" dirty="0">
                          <a:effectLst/>
                          <a:sym typeface="Symbol" panose="05050102010706020507" pitchFamily="18" charset="2"/>
                        </a:rPr>
                        <a:t></a:t>
                      </a:r>
                      <a:r>
                        <a:rPr lang="pl-PL" sz="1600" dirty="0">
                          <a:effectLst/>
                        </a:rPr>
                        <a:t>2 + 1/N)</a:t>
                      </a:r>
                    </a:p>
                    <a:p>
                      <a:pPr hangingPunct="0">
                        <a:spcAft>
                          <a:spcPts val="0"/>
                        </a:spcAft>
                      </a:pPr>
                      <a:r>
                        <a:rPr lang="pl-PL" sz="1600" dirty="0">
                          <a:effectLst/>
                        </a:rPr>
                        <a:t> </a:t>
                      </a:r>
                      <a:endParaRPr lang="pl-PL" sz="16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44450" marR="44450" marT="0" marB="0" anchor="ctr"/>
                </a:tc>
                <a:tc>
                  <a:txBody>
                    <a:bodyPr/>
                    <a:lstStyle/>
                    <a:p>
                      <a:pPr hangingPunct="0">
                        <a:spcAft>
                          <a:spcPts val="0"/>
                        </a:spcAft>
                      </a:pPr>
                      <a:r>
                        <a:rPr lang="pl-PL" sz="1600" dirty="0">
                          <a:effectLst/>
                        </a:rPr>
                        <a:t>n - wielkość próby</a:t>
                      </a:r>
                    </a:p>
                    <a:p>
                      <a:pPr hangingPunct="0">
                        <a:spcAft>
                          <a:spcPts val="0"/>
                        </a:spcAft>
                      </a:pPr>
                      <a:r>
                        <a:rPr lang="pl-PL" sz="1600" dirty="0">
                          <a:effectLst/>
                          <a:sym typeface="Symbol" panose="05050102010706020507" pitchFamily="18" charset="2"/>
                        </a:rPr>
                        <a:t></a:t>
                      </a:r>
                      <a:r>
                        <a:rPr lang="pl-PL" sz="1600" dirty="0">
                          <a:effectLst/>
                        </a:rPr>
                        <a:t> - zaplanowana wielkość błędu (na którą się godzimy)</a:t>
                      </a:r>
                    </a:p>
                    <a:p>
                      <a:pPr hangingPunct="0">
                        <a:spcAft>
                          <a:spcPts val="0"/>
                        </a:spcAft>
                      </a:pPr>
                      <a:r>
                        <a:rPr lang="pl-PL" sz="1600" dirty="0">
                          <a:effectLst/>
                        </a:rPr>
                        <a:t>N - wielkość populacji</a:t>
                      </a:r>
                      <a:endParaRPr lang="pl-PL" sz="16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44450" marR="44450" marT="0" marB="0" anchor="ctr"/>
                </a:tc>
                <a:extLst>
                  <a:ext uri="{0D108BD9-81ED-4DB2-BD59-A6C34878D82A}">
                    <a16:rowId xmlns:a16="http://schemas.microsoft.com/office/drawing/2014/main" val="10000"/>
                  </a:ext>
                </a:extLst>
              </a:tr>
            </a:tbl>
          </a:graphicData>
        </a:graphic>
      </p:graphicFrame>
      <p:sp>
        <p:nvSpPr>
          <p:cNvPr id="5" name="Rectangle 1"/>
          <p:cNvSpPr>
            <a:spLocks noChangeArrowheads="1"/>
          </p:cNvSpPr>
          <p:nvPr/>
        </p:nvSpPr>
        <p:spPr bwMode="auto">
          <a:xfrm>
            <a:off x="1538367" y="116633"/>
            <a:ext cx="873829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lang="pl-PL" altLang="pl-PL" sz="2400"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rPr>
              <a:t>Zależność wielkości próby od założonego błędu i wielkości populacji</a:t>
            </a:r>
            <a:endParaRPr lang="pl-PL" altLang="pl-PL" sz="2400" dirty="0">
              <a:solidFill>
                <a:srgbClr val="FFFF00"/>
              </a:solidFill>
            </a:endParaRPr>
          </a:p>
          <a:p>
            <a:pPr defTabSz="914400" eaLnBrk="0" fontAlgn="base" hangingPunct="0">
              <a:spcBef>
                <a:spcPct val="0"/>
              </a:spcBef>
              <a:spcAft>
                <a:spcPct val="0"/>
              </a:spcAft>
            </a:pPr>
            <a:endParaRPr lang="pl-PL" altLang="pl-PL" sz="2400" dirty="0">
              <a:latin typeface="Arial" panose="020B0604020202020204" pitchFamily="34" charset="0"/>
            </a:endParaRPr>
          </a:p>
        </p:txBody>
      </p:sp>
      <p:graphicFrame>
        <p:nvGraphicFramePr>
          <p:cNvPr id="6" name="Tabela 5"/>
          <p:cNvGraphicFramePr>
            <a:graphicFrameLocks noGrp="1"/>
          </p:cNvGraphicFramePr>
          <p:nvPr>
            <p:extLst/>
          </p:nvPr>
        </p:nvGraphicFramePr>
        <p:xfrm>
          <a:off x="1538366" y="1628800"/>
          <a:ext cx="4559212" cy="2520280"/>
        </p:xfrm>
        <a:graphic>
          <a:graphicData uri="http://schemas.openxmlformats.org/drawingml/2006/table">
            <a:tbl>
              <a:tblPr>
                <a:tableStyleId>{5C22544A-7EE6-4342-B048-85BDC9FD1C3A}</a:tableStyleId>
              </a:tblPr>
              <a:tblGrid>
                <a:gridCol w="549993">
                  <a:extLst>
                    <a:ext uri="{9D8B030D-6E8A-4147-A177-3AD203B41FA5}">
                      <a16:colId xmlns:a16="http://schemas.microsoft.com/office/drawing/2014/main" val="20000"/>
                    </a:ext>
                  </a:extLst>
                </a:gridCol>
                <a:gridCol w="949650">
                  <a:extLst>
                    <a:ext uri="{9D8B030D-6E8A-4147-A177-3AD203B41FA5}">
                      <a16:colId xmlns:a16="http://schemas.microsoft.com/office/drawing/2014/main" val="20001"/>
                    </a:ext>
                  </a:extLst>
                </a:gridCol>
                <a:gridCol w="632604">
                  <a:extLst>
                    <a:ext uri="{9D8B030D-6E8A-4147-A177-3AD203B41FA5}">
                      <a16:colId xmlns:a16="http://schemas.microsoft.com/office/drawing/2014/main" val="20002"/>
                    </a:ext>
                  </a:extLst>
                </a:gridCol>
                <a:gridCol w="211364">
                  <a:extLst>
                    <a:ext uri="{9D8B030D-6E8A-4147-A177-3AD203B41FA5}">
                      <a16:colId xmlns:a16="http://schemas.microsoft.com/office/drawing/2014/main" val="20003"/>
                    </a:ext>
                  </a:extLst>
                </a:gridCol>
                <a:gridCol w="527666">
                  <a:extLst>
                    <a:ext uri="{9D8B030D-6E8A-4147-A177-3AD203B41FA5}">
                      <a16:colId xmlns:a16="http://schemas.microsoft.com/office/drawing/2014/main" val="20004"/>
                    </a:ext>
                  </a:extLst>
                </a:gridCol>
                <a:gridCol w="1054587">
                  <a:extLst>
                    <a:ext uri="{9D8B030D-6E8A-4147-A177-3AD203B41FA5}">
                      <a16:colId xmlns:a16="http://schemas.microsoft.com/office/drawing/2014/main" val="20005"/>
                    </a:ext>
                  </a:extLst>
                </a:gridCol>
                <a:gridCol w="633348">
                  <a:extLst>
                    <a:ext uri="{9D8B030D-6E8A-4147-A177-3AD203B41FA5}">
                      <a16:colId xmlns:a16="http://schemas.microsoft.com/office/drawing/2014/main" val="20006"/>
                    </a:ext>
                  </a:extLst>
                </a:gridCol>
              </a:tblGrid>
              <a:tr h="216276">
                <a:tc>
                  <a:txBody>
                    <a:bodyPr/>
                    <a:lstStyle/>
                    <a:p>
                      <a:pPr algn="ctr" hangingPunct="0">
                        <a:spcAft>
                          <a:spcPts val="0"/>
                        </a:spcAft>
                      </a:pPr>
                      <a:r>
                        <a:rPr lang="pl-PL" sz="900" dirty="0">
                          <a:effectLst/>
                        </a:rPr>
                        <a:t>Błąd</a:t>
                      </a:r>
                      <a:endParaRPr lang="pl-PL" sz="14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Populacja</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Próba</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 </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Błąd</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Populacja</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Próba</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extLst>
                  <a:ext uri="{0D108BD9-81ED-4DB2-BD59-A6C34878D82A}">
                    <a16:rowId xmlns:a16="http://schemas.microsoft.com/office/drawing/2014/main" val="10000"/>
                  </a:ext>
                </a:extLst>
              </a:tr>
              <a:tr h="216276">
                <a:tc>
                  <a:txBody>
                    <a:bodyPr/>
                    <a:lstStyle/>
                    <a:p>
                      <a:pPr algn="ctr" hangingPunct="0">
                        <a:spcAft>
                          <a:spcPts val="0"/>
                        </a:spcAft>
                      </a:pPr>
                      <a:r>
                        <a:rPr lang="pl-PL" sz="900">
                          <a:effectLst/>
                        </a:rPr>
                        <a:t>10%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effectLst/>
                        </a:rPr>
                        <a:t>500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83</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 </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6%</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effectLst/>
                        </a:rPr>
                        <a:t>500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179</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extLst>
                  <a:ext uri="{0D108BD9-81ED-4DB2-BD59-A6C34878D82A}">
                    <a16:rowId xmlns:a16="http://schemas.microsoft.com/office/drawing/2014/main" val="10001"/>
                  </a:ext>
                </a:extLst>
              </a:tr>
              <a:tr h="216276">
                <a:tc>
                  <a:txBody>
                    <a:bodyPr/>
                    <a:lstStyle/>
                    <a:p>
                      <a:pPr algn="ctr" hangingPunct="0">
                        <a:spcAft>
                          <a:spcPts val="0"/>
                        </a:spcAft>
                      </a:pPr>
                      <a:r>
                        <a:rPr lang="pl-PL" sz="900">
                          <a:effectLst/>
                        </a:rPr>
                        <a:t>10%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effectLst/>
                        </a:rPr>
                        <a:t>1 000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91</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 </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6%</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effectLst/>
                        </a:rPr>
                        <a:t>1 000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217</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extLst>
                  <a:ext uri="{0D108BD9-81ED-4DB2-BD59-A6C34878D82A}">
                    <a16:rowId xmlns:a16="http://schemas.microsoft.com/office/drawing/2014/main" val="10002"/>
                  </a:ext>
                </a:extLst>
              </a:tr>
              <a:tr h="141244">
                <a:tc>
                  <a:txBody>
                    <a:bodyPr/>
                    <a:lstStyle/>
                    <a:p>
                      <a:pPr algn="ctr" hangingPunct="0">
                        <a:spcAft>
                          <a:spcPts val="0"/>
                        </a:spcAft>
                      </a:pPr>
                      <a:r>
                        <a:rPr lang="pl-PL" sz="900">
                          <a:effectLst/>
                        </a:rPr>
                        <a:t> </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effectLst/>
                        </a:rPr>
                        <a:t> </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 </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 </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 </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effectLst/>
                        </a:rPr>
                        <a:t> </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 </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extLst>
                  <a:ext uri="{0D108BD9-81ED-4DB2-BD59-A6C34878D82A}">
                    <a16:rowId xmlns:a16="http://schemas.microsoft.com/office/drawing/2014/main" val="10003"/>
                  </a:ext>
                </a:extLst>
              </a:tr>
              <a:tr h="216276">
                <a:tc>
                  <a:txBody>
                    <a:bodyPr/>
                    <a:lstStyle/>
                    <a:p>
                      <a:pPr algn="ctr" hangingPunct="0">
                        <a:spcAft>
                          <a:spcPts val="0"/>
                        </a:spcAft>
                      </a:pPr>
                      <a:r>
                        <a:rPr lang="pl-PL" sz="900" dirty="0">
                          <a:effectLst/>
                        </a:rPr>
                        <a:t>10%</a:t>
                      </a:r>
                      <a:endParaRPr lang="pl-PL" sz="14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effectLst/>
                        </a:rPr>
                        <a:t>2 000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95</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 </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6%</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effectLst/>
                        </a:rPr>
                        <a:t>2 000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244</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extLst>
                  <a:ext uri="{0D108BD9-81ED-4DB2-BD59-A6C34878D82A}">
                    <a16:rowId xmlns:a16="http://schemas.microsoft.com/office/drawing/2014/main" val="10004"/>
                  </a:ext>
                </a:extLst>
              </a:tr>
              <a:tr h="216276">
                <a:tc>
                  <a:txBody>
                    <a:bodyPr/>
                    <a:lstStyle/>
                    <a:p>
                      <a:pPr algn="ctr" hangingPunct="0">
                        <a:spcAft>
                          <a:spcPts val="0"/>
                        </a:spcAft>
                      </a:pPr>
                      <a:r>
                        <a:rPr lang="pl-PL" sz="900">
                          <a:effectLst/>
                        </a:rPr>
                        <a:t>10%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effectLst/>
                        </a:rPr>
                        <a:t>3 000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97</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 </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6%</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effectLst/>
                        </a:rPr>
                        <a:t>3 000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254</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extLst>
                  <a:ext uri="{0D108BD9-81ED-4DB2-BD59-A6C34878D82A}">
                    <a16:rowId xmlns:a16="http://schemas.microsoft.com/office/drawing/2014/main" val="10005"/>
                  </a:ext>
                </a:extLst>
              </a:tr>
              <a:tr h="216276">
                <a:tc>
                  <a:txBody>
                    <a:bodyPr/>
                    <a:lstStyle/>
                    <a:p>
                      <a:pPr algn="ctr" hangingPunct="0">
                        <a:spcAft>
                          <a:spcPts val="0"/>
                        </a:spcAft>
                      </a:pPr>
                      <a:r>
                        <a:rPr lang="pl-PL" sz="900">
                          <a:effectLst/>
                        </a:rPr>
                        <a:t>10%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effectLst/>
                        </a:rPr>
                        <a:t>4 000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98</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 </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6%</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effectLst/>
                        </a:rPr>
                        <a:t>4 000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260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extLst>
                  <a:ext uri="{0D108BD9-81ED-4DB2-BD59-A6C34878D82A}">
                    <a16:rowId xmlns:a16="http://schemas.microsoft.com/office/drawing/2014/main" val="10006"/>
                  </a:ext>
                </a:extLst>
              </a:tr>
              <a:tr h="216276">
                <a:tc>
                  <a:txBody>
                    <a:bodyPr/>
                    <a:lstStyle/>
                    <a:p>
                      <a:pPr algn="ctr" hangingPunct="0">
                        <a:spcAft>
                          <a:spcPts val="0"/>
                        </a:spcAft>
                      </a:pPr>
                      <a:r>
                        <a:rPr lang="pl-PL" sz="900">
                          <a:effectLst/>
                        </a:rPr>
                        <a:t>10%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effectLst/>
                        </a:rPr>
                        <a:t>5 000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98</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 </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6%</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effectLst/>
                        </a:rPr>
                        <a:t>5 000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263</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extLst>
                  <a:ext uri="{0D108BD9-81ED-4DB2-BD59-A6C34878D82A}">
                    <a16:rowId xmlns:a16="http://schemas.microsoft.com/office/drawing/2014/main" val="10007"/>
                  </a:ext>
                </a:extLst>
              </a:tr>
              <a:tr h="216276">
                <a:tc>
                  <a:txBody>
                    <a:bodyPr/>
                    <a:lstStyle/>
                    <a:p>
                      <a:pPr algn="ctr" hangingPunct="0">
                        <a:spcAft>
                          <a:spcPts val="0"/>
                        </a:spcAft>
                      </a:pPr>
                      <a:r>
                        <a:rPr lang="pl-PL" sz="900">
                          <a:effectLst/>
                        </a:rPr>
                        <a:t>10%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effectLst/>
                        </a:rPr>
                        <a:t>10 000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99</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 </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6%</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effectLst/>
                        </a:rPr>
                        <a:t>10 000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270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extLst>
                  <a:ext uri="{0D108BD9-81ED-4DB2-BD59-A6C34878D82A}">
                    <a16:rowId xmlns:a16="http://schemas.microsoft.com/office/drawing/2014/main" val="10008"/>
                  </a:ext>
                </a:extLst>
              </a:tr>
              <a:tr h="216276">
                <a:tc>
                  <a:txBody>
                    <a:bodyPr/>
                    <a:lstStyle/>
                    <a:p>
                      <a:pPr algn="ctr" hangingPunct="0">
                        <a:spcAft>
                          <a:spcPts val="0"/>
                        </a:spcAft>
                      </a:pPr>
                      <a:r>
                        <a:rPr lang="pl-PL" sz="900">
                          <a:effectLst/>
                        </a:rPr>
                        <a:t>10%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effectLst/>
                        </a:rPr>
                        <a:t>100 000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100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 </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6%</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effectLst/>
                        </a:rPr>
                        <a:t>100 000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277</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extLst>
                  <a:ext uri="{0D108BD9-81ED-4DB2-BD59-A6C34878D82A}">
                    <a16:rowId xmlns:a16="http://schemas.microsoft.com/office/drawing/2014/main" val="10009"/>
                  </a:ext>
                </a:extLst>
              </a:tr>
              <a:tr h="216276">
                <a:tc>
                  <a:txBody>
                    <a:bodyPr/>
                    <a:lstStyle/>
                    <a:p>
                      <a:pPr algn="ctr" hangingPunct="0">
                        <a:spcAft>
                          <a:spcPts val="0"/>
                        </a:spcAft>
                      </a:pPr>
                      <a:r>
                        <a:rPr lang="pl-PL" sz="900">
                          <a:effectLst/>
                        </a:rPr>
                        <a:t>10%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effectLst/>
                        </a:rPr>
                        <a:t>1 000 000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100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 </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6%</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effectLst/>
                        </a:rPr>
                        <a:t>1 000 000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278</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extLst>
                  <a:ext uri="{0D108BD9-81ED-4DB2-BD59-A6C34878D82A}">
                    <a16:rowId xmlns:a16="http://schemas.microsoft.com/office/drawing/2014/main" val="10010"/>
                  </a:ext>
                </a:extLst>
              </a:tr>
              <a:tr h="216276">
                <a:tc>
                  <a:txBody>
                    <a:bodyPr/>
                    <a:lstStyle/>
                    <a:p>
                      <a:pPr algn="ctr" hangingPunct="0">
                        <a:spcAft>
                          <a:spcPts val="0"/>
                        </a:spcAft>
                      </a:pPr>
                      <a:r>
                        <a:rPr lang="pl-PL" sz="900">
                          <a:effectLst/>
                        </a:rPr>
                        <a:t>10%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effectLst/>
                        </a:rPr>
                        <a:t>20 000 000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100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 </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6%</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effectLst/>
                        </a:rPr>
                        <a:t>20 000 000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dirty="0">
                          <a:effectLst/>
                        </a:rPr>
                        <a:t>278</a:t>
                      </a:r>
                      <a:endParaRPr lang="pl-PL" sz="14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extLst>
                  <a:ext uri="{0D108BD9-81ED-4DB2-BD59-A6C34878D82A}">
                    <a16:rowId xmlns:a16="http://schemas.microsoft.com/office/drawing/2014/main" val="10011"/>
                  </a:ext>
                </a:extLst>
              </a:tr>
            </a:tbl>
          </a:graphicData>
        </a:graphic>
      </p:graphicFrame>
      <p:graphicFrame>
        <p:nvGraphicFramePr>
          <p:cNvPr id="7" name="Tabela 6"/>
          <p:cNvGraphicFramePr>
            <a:graphicFrameLocks noGrp="1"/>
          </p:cNvGraphicFramePr>
          <p:nvPr>
            <p:extLst/>
          </p:nvPr>
        </p:nvGraphicFramePr>
        <p:xfrm>
          <a:off x="1538368" y="4352394"/>
          <a:ext cx="4558421" cy="2316966"/>
        </p:xfrm>
        <a:graphic>
          <a:graphicData uri="http://schemas.openxmlformats.org/drawingml/2006/table">
            <a:tbl>
              <a:tblPr>
                <a:tableStyleId>{5C22544A-7EE6-4342-B048-85BDC9FD1C3A}</a:tableStyleId>
              </a:tblPr>
              <a:tblGrid>
                <a:gridCol w="549898">
                  <a:extLst>
                    <a:ext uri="{9D8B030D-6E8A-4147-A177-3AD203B41FA5}">
                      <a16:colId xmlns:a16="http://schemas.microsoft.com/office/drawing/2014/main" val="20000"/>
                    </a:ext>
                  </a:extLst>
                </a:gridCol>
                <a:gridCol w="949485">
                  <a:extLst>
                    <a:ext uri="{9D8B030D-6E8A-4147-A177-3AD203B41FA5}">
                      <a16:colId xmlns:a16="http://schemas.microsoft.com/office/drawing/2014/main" val="20001"/>
                    </a:ext>
                  </a:extLst>
                </a:gridCol>
                <a:gridCol w="632494">
                  <a:extLst>
                    <a:ext uri="{9D8B030D-6E8A-4147-A177-3AD203B41FA5}">
                      <a16:colId xmlns:a16="http://schemas.microsoft.com/office/drawing/2014/main" val="20002"/>
                    </a:ext>
                  </a:extLst>
                </a:gridCol>
                <a:gridCol w="211327">
                  <a:extLst>
                    <a:ext uri="{9D8B030D-6E8A-4147-A177-3AD203B41FA5}">
                      <a16:colId xmlns:a16="http://schemas.microsoft.com/office/drawing/2014/main" val="20003"/>
                    </a:ext>
                  </a:extLst>
                </a:gridCol>
                <a:gridCol w="527575">
                  <a:extLst>
                    <a:ext uri="{9D8B030D-6E8A-4147-A177-3AD203B41FA5}">
                      <a16:colId xmlns:a16="http://schemas.microsoft.com/office/drawing/2014/main" val="20004"/>
                    </a:ext>
                  </a:extLst>
                </a:gridCol>
                <a:gridCol w="1054404">
                  <a:extLst>
                    <a:ext uri="{9D8B030D-6E8A-4147-A177-3AD203B41FA5}">
                      <a16:colId xmlns:a16="http://schemas.microsoft.com/office/drawing/2014/main" val="20005"/>
                    </a:ext>
                  </a:extLst>
                </a:gridCol>
                <a:gridCol w="633238">
                  <a:extLst>
                    <a:ext uri="{9D8B030D-6E8A-4147-A177-3AD203B41FA5}">
                      <a16:colId xmlns:a16="http://schemas.microsoft.com/office/drawing/2014/main" val="20006"/>
                    </a:ext>
                  </a:extLst>
                </a:gridCol>
              </a:tblGrid>
              <a:tr h="213442">
                <a:tc>
                  <a:txBody>
                    <a:bodyPr/>
                    <a:lstStyle/>
                    <a:p>
                      <a:pPr algn="ctr" hangingPunct="0">
                        <a:spcAft>
                          <a:spcPts val="0"/>
                        </a:spcAft>
                      </a:pPr>
                      <a:r>
                        <a:rPr lang="pl-PL" sz="900" dirty="0">
                          <a:effectLst/>
                        </a:rPr>
                        <a:t>Błąd</a:t>
                      </a:r>
                      <a:endParaRPr lang="pl-PL" sz="14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Populacja</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Próba</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 </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Błąd</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Populacja</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Próba</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extLst>
                  <a:ext uri="{0D108BD9-81ED-4DB2-BD59-A6C34878D82A}">
                    <a16:rowId xmlns:a16="http://schemas.microsoft.com/office/drawing/2014/main" val="10000"/>
                  </a:ext>
                </a:extLst>
              </a:tr>
              <a:tr h="213442">
                <a:tc>
                  <a:txBody>
                    <a:bodyPr/>
                    <a:lstStyle/>
                    <a:p>
                      <a:pPr algn="ctr" hangingPunct="0">
                        <a:spcAft>
                          <a:spcPts val="0"/>
                        </a:spcAft>
                      </a:pPr>
                      <a:r>
                        <a:rPr lang="pl-PL" sz="900">
                          <a:effectLst/>
                        </a:rPr>
                        <a:t>5%</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effectLst/>
                        </a:rPr>
                        <a:t>500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222</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 </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4%</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effectLst/>
                        </a:rPr>
                        <a:t>500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278</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extLst>
                  <a:ext uri="{0D108BD9-81ED-4DB2-BD59-A6C34878D82A}">
                    <a16:rowId xmlns:a16="http://schemas.microsoft.com/office/drawing/2014/main" val="10001"/>
                  </a:ext>
                </a:extLst>
              </a:tr>
              <a:tr h="213442">
                <a:tc>
                  <a:txBody>
                    <a:bodyPr/>
                    <a:lstStyle/>
                    <a:p>
                      <a:pPr algn="ctr" hangingPunct="0">
                        <a:spcAft>
                          <a:spcPts val="0"/>
                        </a:spcAft>
                      </a:pPr>
                      <a:r>
                        <a:rPr lang="pl-PL" sz="900">
                          <a:effectLst/>
                        </a:rPr>
                        <a:t>5%</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effectLst/>
                        </a:rPr>
                        <a:t>1 000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286</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 </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4%</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effectLst/>
                        </a:rPr>
                        <a:t>1 000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385</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extLst>
                  <a:ext uri="{0D108BD9-81ED-4DB2-BD59-A6C34878D82A}">
                    <a16:rowId xmlns:a16="http://schemas.microsoft.com/office/drawing/2014/main" val="10002"/>
                  </a:ext>
                </a:extLst>
              </a:tr>
              <a:tr h="213442">
                <a:tc>
                  <a:txBody>
                    <a:bodyPr/>
                    <a:lstStyle/>
                    <a:p>
                      <a:pPr algn="ctr" hangingPunct="0">
                        <a:spcAft>
                          <a:spcPts val="0"/>
                        </a:spcAft>
                      </a:pPr>
                      <a:r>
                        <a:rPr lang="pl-PL" sz="900">
                          <a:effectLst/>
                        </a:rPr>
                        <a:t>5%</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effectLst/>
                        </a:rPr>
                        <a:t>2 000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333</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 </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4%</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effectLst/>
                        </a:rPr>
                        <a:t>2 000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476</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extLst>
                  <a:ext uri="{0D108BD9-81ED-4DB2-BD59-A6C34878D82A}">
                    <a16:rowId xmlns:a16="http://schemas.microsoft.com/office/drawing/2014/main" val="10003"/>
                  </a:ext>
                </a:extLst>
              </a:tr>
              <a:tr h="213442">
                <a:tc>
                  <a:txBody>
                    <a:bodyPr/>
                    <a:lstStyle/>
                    <a:p>
                      <a:pPr algn="ctr" hangingPunct="0">
                        <a:spcAft>
                          <a:spcPts val="0"/>
                        </a:spcAft>
                      </a:pPr>
                      <a:r>
                        <a:rPr lang="pl-PL" sz="900">
                          <a:effectLst/>
                        </a:rPr>
                        <a:t>5%</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effectLst/>
                        </a:rPr>
                        <a:t>3 000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353</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 </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4%</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effectLst/>
                        </a:rPr>
                        <a:t>3 000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517</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extLst>
                  <a:ext uri="{0D108BD9-81ED-4DB2-BD59-A6C34878D82A}">
                    <a16:rowId xmlns:a16="http://schemas.microsoft.com/office/drawing/2014/main" val="10004"/>
                  </a:ext>
                </a:extLst>
              </a:tr>
              <a:tr h="213442">
                <a:tc>
                  <a:txBody>
                    <a:bodyPr/>
                    <a:lstStyle/>
                    <a:p>
                      <a:pPr algn="ctr" hangingPunct="0">
                        <a:spcAft>
                          <a:spcPts val="0"/>
                        </a:spcAft>
                      </a:pPr>
                      <a:r>
                        <a:rPr lang="pl-PL" sz="900">
                          <a:effectLst/>
                        </a:rPr>
                        <a:t>5%</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effectLst/>
                        </a:rPr>
                        <a:t>4 000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364</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 </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4%</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effectLst/>
                        </a:rPr>
                        <a:t>4 000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dirty="0">
                          <a:effectLst/>
                        </a:rPr>
                        <a:t>541</a:t>
                      </a:r>
                      <a:endParaRPr lang="pl-PL" sz="14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extLst>
                  <a:ext uri="{0D108BD9-81ED-4DB2-BD59-A6C34878D82A}">
                    <a16:rowId xmlns:a16="http://schemas.microsoft.com/office/drawing/2014/main" val="10005"/>
                  </a:ext>
                </a:extLst>
              </a:tr>
              <a:tr h="213442">
                <a:tc>
                  <a:txBody>
                    <a:bodyPr/>
                    <a:lstStyle/>
                    <a:p>
                      <a:pPr algn="ctr" hangingPunct="0">
                        <a:spcAft>
                          <a:spcPts val="0"/>
                        </a:spcAft>
                      </a:pPr>
                      <a:r>
                        <a:rPr lang="pl-PL" sz="900">
                          <a:effectLst/>
                        </a:rPr>
                        <a:t>5%</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effectLst/>
                        </a:rPr>
                        <a:t>5 000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370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 </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4%</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effectLst/>
                        </a:rPr>
                        <a:t>5 000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556</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extLst>
                  <a:ext uri="{0D108BD9-81ED-4DB2-BD59-A6C34878D82A}">
                    <a16:rowId xmlns:a16="http://schemas.microsoft.com/office/drawing/2014/main" val="10006"/>
                  </a:ext>
                </a:extLst>
              </a:tr>
              <a:tr h="213442">
                <a:tc>
                  <a:txBody>
                    <a:bodyPr/>
                    <a:lstStyle/>
                    <a:p>
                      <a:pPr algn="ctr" hangingPunct="0">
                        <a:spcAft>
                          <a:spcPts val="0"/>
                        </a:spcAft>
                      </a:pPr>
                      <a:r>
                        <a:rPr lang="pl-PL" sz="900">
                          <a:effectLst/>
                        </a:rPr>
                        <a:t>5%</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effectLst/>
                        </a:rPr>
                        <a:t>10 000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385</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 </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4%</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effectLst/>
                        </a:rPr>
                        <a:t>10 000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588</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extLst>
                  <a:ext uri="{0D108BD9-81ED-4DB2-BD59-A6C34878D82A}">
                    <a16:rowId xmlns:a16="http://schemas.microsoft.com/office/drawing/2014/main" val="10007"/>
                  </a:ext>
                </a:extLst>
              </a:tr>
              <a:tr h="182546">
                <a:tc>
                  <a:txBody>
                    <a:bodyPr/>
                    <a:lstStyle/>
                    <a:p>
                      <a:pPr algn="ctr" hangingPunct="0">
                        <a:spcAft>
                          <a:spcPts val="0"/>
                        </a:spcAft>
                      </a:pPr>
                      <a:r>
                        <a:rPr lang="pl-PL" sz="900">
                          <a:effectLst/>
                        </a:rPr>
                        <a:t>5%</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effectLst/>
                        </a:rPr>
                        <a:t>100 000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398</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 </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4%</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effectLst/>
                        </a:rPr>
                        <a:t>100 000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621</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extLst>
                  <a:ext uri="{0D108BD9-81ED-4DB2-BD59-A6C34878D82A}">
                    <a16:rowId xmlns:a16="http://schemas.microsoft.com/office/drawing/2014/main" val="10008"/>
                  </a:ext>
                </a:extLst>
              </a:tr>
              <a:tr h="213442">
                <a:tc>
                  <a:txBody>
                    <a:bodyPr/>
                    <a:lstStyle/>
                    <a:p>
                      <a:pPr algn="ctr" hangingPunct="0">
                        <a:spcAft>
                          <a:spcPts val="0"/>
                        </a:spcAft>
                      </a:pPr>
                      <a:r>
                        <a:rPr lang="pl-PL" sz="900">
                          <a:effectLst/>
                        </a:rPr>
                        <a:t>5%</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effectLst/>
                        </a:rPr>
                        <a:t>1 000 000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400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dirty="0">
                          <a:effectLst/>
                        </a:rPr>
                        <a:t> </a:t>
                      </a:r>
                      <a:endParaRPr lang="pl-PL" sz="14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4%</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effectLst/>
                        </a:rPr>
                        <a:t>1 000 000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625</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extLst>
                  <a:ext uri="{0D108BD9-81ED-4DB2-BD59-A6C34878D82A}">
                    <a16:rowId xmlns:a16="http://schemas.microsoft.com/office/drawing/2014/main" val="10009"/>
                  </a:ext>
                </a:extLst>
              </a:tr>
              <a:tr h="213442">
                <a:tc>
                  <a:txBody>
                    <a:bodyPr/>
                    <a:lstStyle/>
                    <a:p>
                      <a:pPr algn="ctr" hangingPunct="0">
                        <a:spcAft>
                          <a:spcPts val="0"/>
                        </a:spcAft>
                      </a:pPr>
                      <a:r>
                        <a:rPr lang="pl-PL" sz="900">
                          <a:effectLst/>
                        </a:rPr>
                        <a:t>5%</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effectLst/>
                        </a:rPr>
                        <a:t>20 000 000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400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 </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4%</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effectLst/>
                        </a:rPr>
                        <a:t>20 000 000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dirty="0">
                          <a:effectLst/>
                        </a:rPr>
                        <a:t>625</a:t>
                      </a:r>
                      <a:endParaRPr lang="pl-PL" sz="14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extLst>
                  <a:ext uri="{0D108BD9-81ED-4DB2-BD59-A6C34878D82A}">
                    <a16:rowId xmlns:a16="http://schemas.microsoft.com/office/drawing/2014/main" val="10010"/>
                  </a:ext>
                </a:extLst>
              </a:tr>
            </a:tbl>
          </a:graphicData>
        </a:graphic>
      </p:graphicFrame>
      <p:graphicFrame>
        <p:nvGraphicFramePr>
          <p:cNvPr id="8" name="Tabela 7"/>
          <p:cNvGraphicFramePr>
            <a:graphicFrameLocks noGrp="1"/>
          </p:cNvGraphicFramePr>
          <p:nvPr>
            <p:extLst/>
          </p:nvPr>
        </p:nvGraphicFramePr>
        <p:xfrm>
          <a:off x="6360173" y="1628800"/>
          <a:ext cx="4200322" cy="2520276"/>
        </p:xfrm>
        <a:graphic>
          <a:graphicData uri="http://schemas.openxmlformats.org/drawingml/2006/table">
            <a:tbl>
              <a:tblPr>
                <a:tableStyleId>{5C22544A-7EE6-4342-B048-85BDC9FD1C3A}</a:tableStyleId>
              </a:tblPr>
              <a:tblGrid>
                <a:gridCol w="506699">
                  <a:extLst>
                    <a:ext uri="{9D8B030D-6E8A-4147-A177-3AD203B41FA5}">
                      <a16:colId xmlns:a16="http://schemas.microsoft.com/office/drawing/2014/main" val="20000"/>
                    </a:ext>
                  </a:extLst>
                </a:gridCol>
                <a:gridCol w="874896">
                  <a:extLst>
                    <a:ext uri="{9D8B030D-6E8A-4147-A177-3AD203B41FA5}">
                      <a16:colId xmlns:a16="http://schemas.microsoft.com/office/drawing/2014/main" val="20001"/>
                    </a:ext>
                  </a:extLst>
                </a:gridCol>
                <a:gridCol w="582807">
                  <a:extLst>
                    <a:ext uri="{9D8B030D-6E8A-4147-A177-3AD203B41FA5}">
                      <a16:colId xmlns:a16="http://schemas.microsoft.com/office/drawing/2014/main" val="20002"/>
                    </a:ext>
                  </a:extLst>
                </a:gridCol>
                <a:gridCol w="194726">
                  <a:extLst>
                    <a:ext uri="{9D8B030D-6E8A-4147-A177-3AD203B41FA5}">
                      <a16:colId xmlns:a16="http://schemas.microsoft.com/office/drawing/2014/main" val="20003"/>
                    </a:ext>
                  </a:extLst>
                </a:gridCol>
                <a:gridCol w="486129">
                  <a:extLst>
                    <a:ext uri="{9D8B030D-6E8A-4147-A177-3AD203B41FA5}">
                      <a16:colId xmlns:a16="http://schemas.microsoft.com/office/drawing/2014/main" val="20004"/>
                    </a:ext>
                  </a:extLst>
                </a:gridCol>
                <a:gridCol w="971573">
                  <a:extLst>
                    <a:ext uri="{9D8B030D-6E8A-4147-A177-3AD203B41FA5}">
                      <a16:colId xmlns:a16="http://schemas.microsoft.com/office/drawing/2014/main" val="20005"/>
                    </a:ext>
                  </a:extLst>
                </a:gridCol>
                <a:gridCol w="583492">
                  <a:extLst>
                    <a:ext uri="{9D8B030D-6E8A-4147-A177-3AD203B41FA5}">
                      <a16:colId xmlns:a16="http://schemas.microsoft.com/office/drawing/2014/main" val="20006"/>
                    </a:ext>
                  </a:extLst>
                </a:gridCol>
              </a:tblGrid>
              <a:tr h="229116">
                <a:tc>
                  <a:txBody>
                    <a:bodyPr/>
                    <a:lstStyle/>
                    <a:p>
                      <a:pPr algn="ctr" hangingPunct="0">
                        <a:spcAft>
                          <a:spcPts val="0"/>
                        </a:spcAft>
                      </a:pPr>
                      <a:r>
                        <a:rPr lang="pl-PL" sz="900" dirty="0">
                          <a:effectLst/>
                        </a:rPr>
                        <a:t>Błąd</a:t>
                      </a:r>
                      <a:endParaRPr lang="pl-PL" sz="14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Populacja</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Próba</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 </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Błąd</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Populacja</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Próba</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extLst>
                  <a:ext uri="{0D108BD9-81ED-4DB2-BD59-A6C34878D82A}">
                    <a16:rowId xmlns:a16="http://schemas.microsoft.com/office/drawing/2014/main" val="10000"/>
                  </a:ext>
                </a:extLst>
              </a:tr>
              <a:tr h="229116">
                <a:tc>
                  <a:txBody>
                    <a:bodyPr/>
                    <a:lstStyle/>
                    <a:p>
                      <a:pPr algn="ctr" hangingPunct="0">
                        <a:spcAft>
                          <a:spcPts val="0"/>
                        </a:spcAft>
                      </a:pPr>
                      <a:r>
                        <a:rPr lang="pl-PL" sz="900">
                          <a:effectLst/>
                        </a:rPr>
                        <a:t>3%</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effectLst/>
                        </a:rPr>
                        <a:t>500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107950" algn="r" hangingPunct="0">
                        <a:spcAft>
                          <a:spcPts val="0"/>
                        </a:spcAft>
                      </a:pPr>
                      <a:r>
                        <a:rPr lang="pl-PL" sz="900">
                          <a:effectLst/>
                        </a:rPr>
                        <a:t>345</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 </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2%</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effectLst/>
                        </a:rPr>
                        <a:t>500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107950" algn="r" hangingPunct="0">
                        <a:spcAft>
                          <a:spcPts val="0"/>
                        </a:spcAft>
                      </a:pPr>
                      <a:r>
                        <a:rPr lang="pl-PL" sz="900">
                          <a:effectLst/>
                        </a:rPr>
                        <a:t>417</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extLst>
                  <a:ext uri="{0D108BD9-81ED-4DB2-BD59-A6C34878D82A}">
                    <a16:rowId xmlns:a16="http://schemas.microsoft.com/office/drawing/2014/main" val="10001"/>
                  </a:ext>
                </a:extLst>
              </a:tr>
              <a:tr h="229116">
                <a:tc>
                  <a:txBody>
                    <a:bodyPr/>
                    <a:lstStyle/>
                    <a:p>
                      <a:pPr algn="ctr" hangingPunct="0">
                        <a:spcAft>
                          <a:spcPts val="0"/>
                        </a:spcAft>
                      </a:pPr>
                      <a:r>
                        <a:rPr lang="pl-PL" sz="900">
                          <a:effectLst/>
                        </a:rPr>
                        <a:t>3%</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effectLst/>
                        </a:rPr>
                        <a:t>1 000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107950" algn="r" hangingPunct="0">
                        <a:spcAft>
                          <a:spcPts val="0"/>
                        </a:spcAft>
                      </a:pPr>
                      <a:r>
                        <a:rPr lang="pl-PL" sz="900">
                          <a:effectLst/>
                        </a:rPr>
                        <a:t>526</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 </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2%</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effectLst/>
                        </a:rPr>
                        <a:t>1 000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107950" algn="r" hangingPunct="0">
                        <a:spcAft>
                          <a:spcPts val="0"/>
                        </a:spcAft>
                      </a:pPr>
                      <a:r>
                        <a:rPr lang="pl-PL" sz="900">
                          <a:effectLst/>
                        </a:rPr>
                        <a:t>714</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extLst>
                  <a:ext uri="{0D108BD9-81ED-4DB2-BD59-A6C34878D82A}">
                    <a16:rowId xmlns:a16="http://schemas.microsoft.com/office/drawing/2014/main" val="10002"/>
                  </a:ext>
                </a:extLst>
              </a:tr>
              <a:tr h="229116">
                <a:tc>
                  <a:txBody>
                    <a:bodyPr/>
                    <a:lstStyle/>
                    <a:p>
                      <a:pPr algn="ctr" hangingPunct="0">
                        <a:spcAft>
                          <a:spcPts val="0"/>
                        </a:spcAft>
                      </a:pPr>
                      <a:r>
                        <a:rPr lang="pl-PL" sz="900">
                          <a:effectLst/>
                        </a:rPr>
                        <a:t>3%</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effectLst/>
                        </a:rPr>
                        <a:t>2 000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107950" algn="r" hangingPunct="0">
                        <a:spcAft>
                          <a:spcPts val="0"/>
                        </a:spcAft>
                      </a:pPr>
                      <a:r>
                        <a:rPr lang="pl-PL" sz="900">
                          <a:effectLst/>
                        </a:rPr>
                        <a:t>714</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 </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2%</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effectLst/>
                        </a:rPr>
                        <a:t>2 000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107950" algn="r" hangingPunct="0">
                        <a:spcAft>
                          <a:spcPts val="0"/>
                        </a:spcAft>
                      </a:pPr>
                      <a:r>
                        <a:rPr lang="pl-PL" sz="900">
                          <a:effectLst/>
                        </a:rPr>
                        <a:t>1111</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extLst>
                  <a:ext uri="{0D108BD9-81ED-4DB2-BD59-A6C34878D82A}">
                    <a16:rowId xmlns:a16="http://schemas.microsoft.com/office/drawing/2014/main" val="10003"/>
                  </a:ext>
                </a:extLst>
              </a:tr>
              <a:tr h="229116">
                <a:tc>
                  <a:txBody>
                    <a:bodyPr/>
                    <a:lstStyle/>
                    <a:p>
                      <a:pPr algn="ctr" hangingPunct="0">
                        <a:spcAft>
                          <a:spcPts val="0"/>
                        </a:spcAft>
                      </a:pPr>
                      <a:r>
                        <a:rPr lang="pl-PL" sz="900">
                          <a:effectLst/>
                        </a:rPr>
                        <a:t>3%</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effectLst/>
                        </a:rPr>
                        <a:t>3 000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107950" algn="r" hangingPunct="0">
                        <a:spcAft>
                          <a:spcPts val="0"/>
                        </a:spcAft>
                      </a:pPr>
                      <a:r>
                        <a:rPr lang="pl-PL" sz="900">
                          <a:effectLst/>
                        </a:rPr>
                        <a:t>811</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 </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2%</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effectLst/>
                        </a:rPr>
                        <a:t>3 000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107950" algn="r" hangingPunct="0">
                        <a:spcAft>
                          <a:spcPts val="0"/>
                        </a:spcAft>
                      </a:pPr>
                      <a:r>
                        <a:rPr lang="pl-PL" sz="900" dirty="0">
                          <a:effectLst/>
                        </a:rPr>
                        <a:t>1364</a:t>
                      </a:r>
                      <a:endParaRPr lang="pl-PL" sz="14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extLst>
                  <a:ext uri="{0D108BD9-81ED-4DB2-BD59-A6C34878D82A}">
                    <a16:rowId xmlns:a16="http://schemas.microsoft.com/office/drawing/2014/main" val="10004"/>
                  </a:ext>
                </a:extLst>
              </a:tr>
              <a:tr h="229116">
                <a:tc>
                  <a:txBody>
                    <a:bodyPr/>
                    <a:lstStyle/>
                    <a:p>
                      <a:pPr algn="ctr" hangingPunct="0">
                        <a:spcAft>
                          <a:spcPts val="0"/>
                        </a:spcAft>
                      </a:pPr>
                      <a:r>
                        <a:rPr lang="pl-PL" sz="900">
                          <a:effectLst/>
                        </a:rPr>
                        <a:t>3%</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effectLst/>
                        </a:rPr>
                        <a:t>4 000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107950" algn="r" hangingPunct="0">
                        <a:spcAft>
                          <a:spcPts val="0"/>
                        </a:spcAft>
                      </a:pPr>
                      <a:r>
                        <a:rPr lang="pl-PL" sz="900">
                          <a:effectLst/>
                        </a:rPr>
                        <a:t>870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 </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2%</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effectLst/>
                        </a:rPr>
                        <a:t>4 000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107950" algn="r" hangingPunct="0">
                        <a:spcAft>
                          <a:spcPts val="0"/>
                        </a:spcAft>
                      </a:pPr>
                      <a:r>
                        <a:rPr lang="pl-PL" sz="900">
                          <a:effectLst/>
                        </a:rPr>
                        <a:t>1538</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extLst>
                  <a:ext uri="{0D108BD9-81ED-4DB2-BD59-A6C34878D82A}">
                    <a16:rowId xmlns:a16="http://schemas.microsoft.com/office/drawing/2014/main" val="10005"/>
                  </a:ext>
                </a:extLst>
              </a:tr>
              <a:tr h="229116">
                <a:tc>
                  <a:txBody>
                    <a:bodyPr/>
                    <a:lstStyle/>
                    <a:p>
                      <a:pPr algn="ctr" hangingPunct="0">
                        <a:spcAft>
                          <a:spcPts val="0"/>
                        </a:spcAft>
                      </a:pPr>
                      <a:r>
                        <a:rPr lang="pl-PL" sz="900">
                          <a:effectLst/>
                        </a:rPr>
                        <a:t>3%</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effectLst/>
                        </a:rPr>
                        <a:t>5 000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107950" algn="r" hangingPunct="0">
                        <a:spcAft>
                          <a:spcPts val="0"/>
                        </a:spcAft>
                      </a:pPr>
                      <a:r>
                        <a:rPr lang="pl-PL" sz="900">
                          <a:effectLst/>
                        </a:rPr>
                        <a:t>909</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 </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2%</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effectLst/>
                        </a:rPr>
                        <a:t>5 000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107950" algn="r" hangingPunct="0">
                        <a:spcAft>
                          <a:spcPts val="0"/>
                        </a:spcAft>
                      </a:pPr>
                      <a:r>
                        <a:rPr lang="pl-PL" sz="900">
                          <a:effectLst/>
                        </a:rPr>
                        <a:t>1667</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extLst>
                  <a:ext uri="{0D108BD9-81ED-4DB2-BD59-A6C34878D82A}">
                    <a16:rowId xmlns:a16="http://schemas.microsoft.com/office/drawing/2014/main" val="10006"/>
                  </a:ext>
                </a:extLst>
              </a:tr>
              <a:tr h="229116">
                <a:tc>
                  <a:txBody>
                    <a:bodyPr/>
                    <a:lstStyle/>
                    <a:p>
                      <a:pPr algn="ctr" hangingPunct="0">
                        <a:spcAft>
                          <a:spcPts val="0"/>
                        </a:spcAft>
                      </a:pPr>
                      <a:r>
                        <a:rPr lang="pl-PL" sz="900">
                          <a:effectLst/>
                        </a:rPr>
                        <a:t>3%</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effectLst/>
                        </a:rPr>
                        <a:t>10 000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107950" algn="r" hangingPunct="0">
                        <a:spcAft>
                          <a:spcPts val="0"/>
                        </a:spcAft>
                      </a:pPr>
                      <a:r>
                        <a:rPr lang="pl-PL" sz="900">
                          <a:effectLst/>
                        </a:rPr>
                        <a:t>1000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 </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2%</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effectLst/>
                        </a:rPr>
                        <a:t>10 000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107950" algn="r" hangingPunct="0">
                        <a:spcAft>
                          <a:spcPts val="0"/>
                        </a:spcAft>
                      </a:pPr>
                      <a:r>
                        <a:rPr lang="pl-PL" sz="900">
                          <a:effectLst/>
                        </a:rPr>
                        <a:t>2000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extLst>
                  <a:ext uri="{0D108BD9-81ED-4DB2-BD59-A6C34878D82A}">
                    <a16:rowId xmlns:a16="http://schemas.microsoft.com/office/drawing/2014/main" val="10007"/>
                  </a:ext>
                </a:extLst>
              </a:tr>
              <a:tr h="229116">
                <a:tc>
                  <a:txBody>
                    <a:bodyPr/>
                    <a:lstStyle/>
                    <a:p>
                      <a:pPr algn="ctr" hangingPunct="0">
                        <a:spcAft>
                          <a:spcPts val="0"/>
                        </a:spcAft>
                      </a:pPr>
                      <a:r>
                        <a:rPr lang="pl-PL" sz="900">
                          <a:effectLst/>
                        </a:rPr>
                        <a:t>3%</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effectLst/>
                        </a:rPr>
                        <a:t>100 000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107950" algn="r" hangingPunct="0">
                        <a:spcAft>
                          <a:spcPts val="0"/>
                        </a:spcAft>
                      </a:pPr>
                      <a:r>
                        <a:rPr lang="pl-PL" sz="900">
                          <a:effectLst/>
                        </a:rPr>
                        <a:t>1099</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 </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2%</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effectLst/>
                        </a:rPr>
                        <a:t>100 000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107950" algn="r" hangingPunct="0">
                        <a:spcAft>
                          <a:spcPts val="0"/>
                        </a:spcAft>
                      </a:pPr>
                      <a:r>
                        <a:rPr lang="pl-PL" sz="900">
                          <a:effectLst/>
                        </a:rPr>
                        <a:t>2439</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extLst>
                  <a:ext uri="{0D108BD9-81ED-4DB2-BD59-A6C34878D82A}">
                    <a16:rowId xmlns:a16="http://schemas.microsoft.com/office/drawing/2014/main" val="10008"/>
                  </a:ext>
                </a:extLst>
              </a:tr>
              <a:tr h="229116">
                <a:tc>
                  <a:txBody>
                    <a:bodyPr/>
                    <a:lstStyle/>
                    <a:p>
                      <a:pPr algn="ctr" hangingPunct="0">
                        <a:spcAft>
                          <a:spcPts val="0"/>
                        </a:spcAft>
                      </a:pPr>
                      <a:r>
                        <a:rPr lang="pl-PL" sz="900">
                          <a:effectLst/>
                        </a:rPr>
                        <a:t>3%</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effectLst/>
                        </a:rPr>
                        <a:t>1 000 000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107950" algn="r" hangingPunct="0">
                        <a:spcAft>
                          <a:spcPts val="0"/>
                        </a:spcAft>
                      </a:pPr>
                      <a:r>
                        <a:rPr lang="pl-PL" sz="900">
                          <a:effectLst/>
                        </a:rPr>
                        <a:t>1110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 </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2%</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effectLst/>
                        </a:rPr>
                        <a:t>1 000 000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107950" algn="r" hangingPunct="0">
                        <a:spcAft>
                          <a:spcPts val="0"/>
                        </a:spcAft>
                      </a:pPr>
                      <a:r>
                        <a:rPr lang="pl-PL" sz="900">
                          <a:effectLst/>
                        </a:rPr>
                        <a:t>2494</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extLst>
                  <a:ext uri="{0D108BD9-81ED-4DB2-BD59-A6C34878D82A}">
                    <a16:rowId xmlns:a16="http://schemas.microsoft.com/office/drawing/2014/main" val="10009"/>
                  </a:ext>
                </a:extLst>
              </a:tr>
              <a:tr h="229116">
                <a:tc>
                  <a:txBody>
                    <a:bodyPr/>
                    <a:lstStyle/>
                    <a:p>
                      <a:pPr algn="ctr" hangingPunct="0">
                        <a:spcAft>
                          <a:spcPts val="0"/>
                        </a:spcAft>
                      </a:pPr>
                      <a:r>
                        <a:rPr lang="pl-PL" sz="900">
                          <a:effectLst/>
                        </a:rPr>
                        <a:t>3%</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effectLst/>
                        </a:rPr>
                        <a:t>20 000 000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107950" algn="r" hangingPunct="0">
                        <a:spcAft>
                          <a:spcPts val="0"/>
                        </a:spcAft>
                      </a:pPr>
                      <a:r>
                        <a:rPr lang="pl-PL" sz="900">
                          <a:effectLst/>
                        </a:rPr>
                        <a:t>1111</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 </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effectLst/>
                        </a:rPr>
                        <a:t>2%</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effectLst/>
                        </a:rPr>
                        <a:t>20 000 000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107950" algn="r" hangingPunct="0">
                        <a:spcAft>
                          <a:spcPts val="0"/>
                        </a:spcAft>
                      </a:pPr>
                      <a:r>
                        <a:rPr lang="pl-PL" sz="900" dirty="0">
                          <a:effectLst/>
                        </a:rPr>
                        <a:t>2500</a:t>
                      </a:r>
                      <a:endParaRPr lang="pl-PL" sz="14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extLst>
                  <a:ext uri="{0D108BD9-81ED-4DB2-BD59-A6C34878D82A}">
                    <a16:rowId xmlns:a16="http://schemas.microsoft.com/office/drawing/2014/main" val="10010"/>
                  </a:ext>
                </a:extLst>
              </a:tr>
            </a:tbl>
          </a:graphicData>
        </a:graphic>
      </p:graphicFrame>
      <p:graphicFrame>
        <p:nvGraphicFramePr>
          <p:cNvPr id="9" name="Tabela 8"/>
          <p:cNvGraphicFramePr>
            <a:graphicFrameLocks noGrp="1"/>
          </p:cNvGraphicFramePr>
          <p:nvPr>
            <p:extLst/>
          </p:nvPr>
        </p:nvGraphicFramePr>
        <p:xfrm>
          <a:off x="6407471" y="4293097"/>
          <a:ext cx="4153025" cy="2448270"/>
        </p:xfrm>
        <a:graphic>
          <a:graphicData uri="http://schemas.openxmlformats.org/drawingml/2006/table">
            <a:tbl>
              <a:tblPr>
                <a:tableStyleId>{5C22544A-7EE6-4342-B048-85BDC9FD1C3A}</a:tableStyleId>
              </a:tblPr>
              <a:tblGrid>
                <a:gridCol w="500994">
                  <a:extLst>
                    <a:ext uri="{9D8B030D-6E8A-4147-A177-3AD203B41FA5}">
                      <a16:colId xmlns:a16="http://schemas.microsoft.com/office/drawing/2014/main" val="20000"/>
                    </a:ext>
                  </a:extLst>
                </a:gridCol>
                <a:gridCol w="865044">
                  <a:extLst>
                    <a:ext uri="{9D8B030D-6E8A-4147-A177-3AD203B41FA5}">
                      <a16:colId xmlns:a16="http://schemas.microsoft.com/office/drawing/2014/main" val="20001"/>
                    </a:ext>
                  </a:extLst>
                </a:gridCol>
                <a:gridCol w="576244">
                  <a:extLst>
                    <a:ext uri="{9D8B030D-6E8A-4147-A177-3AD203B41FA5}">
                      <a16:colId xmlns:a16="http://schemas.microsoft.com/office/drawing/2014/main" val="20002"/>
                    </a:ext>
                  </a:extLst>
                </a:gridCol>
                <a:gridCol w="192533">
                  <a:extLst>
                    <a:ext uri="{9D8B030D-6E8A-4147-A177-3AD203B41FA5}">
                      <a16:colId xmlns:a16="http://schemas.microsoft.com/office/drawing/2014/main" val="20003"/>
                    </a:ext>
                  </a:extLst>
                </a:gridCol>
                <a:gridCol w="480655">
                  <a:extLst>
                    <a:ext uri="{9D8B030D-6E8A-4147-A177-3AD203B41FA5}">
                      <a16:colId xmlns:a16="http://schemas.microsoft.com/office/drawing/2014/main" val="20004"/>
                    </a:ext>
                  </a:extLst>
                </a:gridCol>
                <a:gridCol w="960633">
                  <a:extLst>
                    <a:ext uri="{9D8B030D-6E8A-4147-A177-3AD203B41FA5}">
                      <a16:colId xmlns:a16="http://schemas.microsoft.com/office/drawing/2014/main" val="20005"/>
                    </a:ext>
                  </a:extLst>
                </a:gridCol>
                <a:gridCol w="576922">
                  <a:extLst>
                    <a:ext uri="{9D8B030D-6E8A-4147-A177-3AD203B41FA5}">
                      <a16:colId xmlns:a16="http://schemas.microsoft.com/office/drawing/2014/main" val="20006"/>
                    </a:ext>
                  </a:extLst>
                </a:gridCol>
              </a:tblGrid>
              <a:tr h="222570">
                <a:tc>
                  <a:txBody>
                    <a:bodyPr/>
                    <a:lstStyle/>
                    <a:p>
                      <a:pPr algn="ctr" hangingPunct="0">
                        <a:spcAft>
                          <a:spcPts val="0"/>
                        </a:spcAft>
                      </a:pPr>
                      <a:r>
                        <a:rPr lang="pl-PL" sz="9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Błąd</a:t>
                      </a:r>
                      <a:endParaRPr lang="pl-PL" sz="14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solidFill>
                            <a:srgbClr val="000000"/>
                          </a:solidFill>
                          <a:effectLst/>
                          <a:latin typeface="Arial" panose="020B0604020202020204" pitchFamily="34" charset="0"/>
                          <a:ea typeface="Times New Roman" panose="02020603050405020304" pitchFamily="18" charset="0"/>
                          <a:cs typeface="Arial" panose="020B0604020202020204" pitchFamily="34" charset="0"/>
                        </a:rPr>
                        <a:t>Populacja</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solidFill>
                            <a:srgbClr val="000000"/>
                          </a:solidFill>
                          <a:effectLst/>
                          <a:latin typeface="Arial" panose="020B0604020202020204" pitchFamily="34" charset="0"/>
                          <a:ea typeface="Times New Roman" panose="02020603050405020304" pitchFamily="18" charset="0"/>
                          <a:cs typeface="Arial" panose="020B0604020202020204" pitchFamily="34" charset="0"/>
                        </a:rPr>
                        <a:t>Próba</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solidFill>
                            <a:srgbClr val="000000"/>
                          </a:solidFill>
                          <a:effectLst/>
                          <a:latin typeface="Arial" panose="020B0604020202020204" pitchFamily="34" charset="0"/>
                          <a:ea typeface="Times New Roman" panose="02020603050405020304" pitchFamily="18" charset="0"/>
                          <a:cs typeface="Arial" panose="020B0604020202020204" pitchFamily="34" charset="0"/>
                        </a:rPr>
                        <a:t>Błąd</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solidFill>
                            <a:srgbClr val="000000"/>
                          </a:solidFill>
                          <a:effectLst/>
                          <a:latin typeface="Arial" panose="020B0604020202020204" pitchFamily="34" charset="0"/>
                          <a:ea typeface="Times New Roman" panose="02020603050405020304" pitchFamily="18" charset="0"/>
                          <a:cs typeface="Arial" panose="020B0604020202020204" pitchFamily="34" charset="0"/>
                        </a:rPr>
                        <a:t>Populacja</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solidFill>
                            <a:srgbClr val="000000"/>
                          </a:solidFill>
                          <a:effectLst/>
                          <a:latin typeface="Arial" panose="020B0604020202020204" pitchFamily="34" charset="0"/>
                          <a:ea typeface="Times New Roman" panose="02020603050405020304" pitchFamily="18" charset="0"/>
                          <a:cs typeface="Arial" panose="020B0604020202020204" pitchFamily="34" charset="0"/>
                        </a:rPr>
                        <a:t>Próba</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extLst>
                  <a:ext uri="{0D108BD9-81ED-4DB2-BD59-A6C34878D82A}">
                    <a16:rowId xmlns:a16="http://schemas.microsoft.com/office/drawing/2014/main" val="10000"/>
                  </a:ext>
                </a:extLst>
              </a:tr>
              <a:tr h="222570">
                <a:tc>
                  <a:txBody>
                    <a:bodyPr/>
                    <a:lstStyle/>
                    <a:p>
                      <a:pPr algn="ctr" hangingPunct="0">
                        <a:spcAft>
                          <a:spcPts val="0"/>
                        </a:spcAft>
                      </a:pPr>
                      <a:r>
                        <a:rPr lang="pl-PL" sz="9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solidFill>
                            <a:srgbClr val="000000"/>
                          </a:solidFill>
                          <a:effectLst/>
                          <a:latin typeface="Arial" panose="020B0604020202020204" pitchFamily="34" charset="0"/>
                          <a:ea typeface="Times New Roman" panose="02020603050405020304" pitchFamily="18" charset="0"/>
                          <a:cs typeface="Arial" panose="020B0604020202020204" pitchFamily="34" charset="0"/>
                        </a:rPr>
                        <a:t>500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107950" algn="r" hangingPunct="0">
                        <a:spcAft>
                          <a:spcPts val="0"/>
                        </a:spcAft>
                      </a:pPr>
                      <a:r>
                        <a:rPr lang="pl-PL" sz="900">
                          <a:solidFill>
                            <a:srgbClr val="000000"/>
                          </a:solidFill>
                          <a:effectLst/>
                          <a:latin typeface="Arial" panose="020B0604020202020204" pitchFamily="34" charset="0"/>
                          <a:ea typeface="Times New Roman" panose="02020603050405020304" pitchFamily="18" charset="0"/>
                          <a:cs typeface="Arial" panose="020B0604020202020204" pitchFamily="34" charset="0"/>
                        </a:rPr>
                        <a:t>476</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solidFill>
                            <a:srgbClr val="000000"/>
                          </a:solidFill>
                          <a:effectLst/>
                          <a:latin typeface="Arial" panose="020B0604020202020204" pitchFamily="34" charset="0"/>
                          <a:ea typeface="Times New Roman" panose="02020603050405020304" pitchFamily="18" charset="0"/>
                          <a:cs typeface="Arial" panose="020B0604020202020204" pitchFamily="34" charset="0"/>
                        </a:rPr>
                        <a:t>0,5%</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solidFill>
                            <a:srgbClr val="000000"/>
                          </a:solidFill>
                          <a:effectLst/>
                          <a:latin typeface="Arial" panose="020B0604020202020204" pitchFamily="34" charset="0"/>
                          <a:ea typeface="Times New Roman" panose="02020603050405020304" pitchFamily="18" charset="0"/>
                          <a:cs typeface="Arial" panose="020B0604020202020204" pitchFamily="34" charset="0"/>
                        </a:rPr>
                        <a:t>500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107950" algn="r" hangingPunct="0">
                        <a:spcAft>
                          <a:spcPts val="0"/>
                        </a:spcAft>
                      </a:pPr>
                      <a:r>
                        <a:rPr lang="pl-PL" sz="900">
                          <a:solidFill>
                            <a:srgbClr val="000000"/>
                          </a:solidFill>
                          <a:effectLst/>
                          <a:latin typeface="Arial" panose="020B0604020202020204" pitchFamily="34" charset="0"/>
                          <a:ea typeface="Times New Roman" panose="02020603050405020304" pitchFamily="18" charset="0"/>
                          <a:cs typeface="Arial" panose="020B0604020202020204" pitchFamily="34" charset="0"/>
                        </a:rPr>
                        <a:t>494</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extLst>
                  <a:ext uri="{0D108BD9-81ED-4DB2-BD59-A6C34878D82A}">
                    <a16:rowId xmlns:a16="http://schemas.microsoft.com/office/drawing/2014/main" val="10001"/>
                  </a:ext>
                </a:extLst>
              </a:tr>
              <a:tr h="222570">
                <a:tc>
                  <a:txBody>
                    <a:bodyPr/>
                    <a:lstStyle/>
                    <a:p>
                      <a:pPr algn="ctr" hangingPunct="0">
                        <a:spcAft>
                          <a:spcPts val="0"/>
                        </a:spcAft>
                      </a:pPr>
                      <a:r>
                        <a:rPr lang="pl-PL" sz="9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1 000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107950" algn="r" hangingPunct="0">
                        <a:spcAft>
                          <a:spcPts val="0"/>
                        </a:spcAft>
                      </a:pPr>
                      <a:r>
                        <a:rPr lang="pl-PL" sz="900">
                          <a:solidFill>
                            <a:srgbClr val="000000"/>
                          </a:solidFill>
                          <a:effectLst/>
                          <a:latin typeface="Arial" panose="020B0604020202020204" pitchFamily="34" charset="0"/>
                          <a:ea typeface="Times New Roman" panose="02020603050405020304" pitchFamily="18" charset="0"/>
                          <a:cs typeface="Arial" panose="020B0604020202020204" pitchFamily="34" charset="0"/>
                        </a:rPr>
                        <a:t>909</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solidFill>
                            <a:srgbClr val="000000"/>
                          </a:solidFill>
                          <a:effectLst/>
                          <a:latin typeface="Arial" panose="020B0604020202020204" pitchFamily="34" charset="0"/>
                          <a:ea typeface="Times New Roman" panose="02020603050405020304" pitchFamily="18" charset="0"/>
                          <a:cs typeface="Arial" panose="020B0604020202020204" pitchFamily="34" charset="0"/>
                        </a:rPr>
                        <a:t>0,5%</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1 000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107950" algn="r" hangingPunct="0">
                        <a:spcAft>
                          <a:spcPts val="0"/>
                        </a:spcAft>
                      </a:pPr>
                      <a:r>
                        <a:rPr lang="pl-PL" sz="900">
                          <a:solidFill>
                            <a:srgbClr val="000000"/>
                          </a:solidFill>
                          <a:effectLst/>
                          <a:latin typeface="Arial" panose="020B0604020202020204" pitchFamily="34" charset="0"/>
                          <a:ea typeface="Times New Roman" panose="02020603050405020304" pitchFamily="18" charset="0"/>
                          <a:cs typeface="Arial" panose="020B0604020202020204" pitchFamily="34" charset="0"/>
                        </a:rPr>
                        <a:t>976</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extLst>
                  <a:ext uri="{0D108BD9-81ED-4DB2-BD59-A6C34878D82A}">
                    <a16:rowId xmlns:a16="http://schemas.microsoft.com/office/drawing/2014/main" val="10002"/>
                  </a:ext>
                </a:extLst>
              </a:tr>
              <a:tr h="222570">
                <a:tc>
                  <a:txBody>
                    <a:bodyPr/>
                    <a:lstStyle/>
                    <a:p>
                      <a:pPr algn="ctr" hangingPunct="0">
                        <a:spcAft>
                          <a:spcPts val="0"/>
                        </a:spcAft>
                      </a:pPr>
                      <a:r>
                        <a:rPr lang="pl-PL" sz="9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solidFill>
                            <a:srgbClr val="000000"/>
                          </a:solidFill>
                          <a:effectLst/>
                          <a:latin typeface="Arial" panose="020B0604020202020204" pitchFamily="34" charset="0"/>
                          <a:ea typeface="Times New Roman" panose="02020603050405020304" pitchFamily="18" charset="0"/>
                          <a:cs typeface="Arial" panose="020B0604020202020204" pitchFamily="34" charset="0"/>
                        </a:rPr>
                        <a:t>2 000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107950" algn="r" hangingPunct="0">
                        <a:spcAft>
                          <a:spcPts val="0"/>
                        </a:spcAft>
                      </a:pPr>
                      <a:r>
                        <a:rPr lang="pl-PL" sz="9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1667</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solidFill>
                            <a:srgbClr val="000000"/>
                          </a:solidFill>
                          <a:effectLst/>
                          <a:latin typeface="Arial" panose="020B0604020202020204" pitchFamily="34" charset="0"/>
                          <a:ea typeface="Times New Roman" panose="02020603050405020304" pitchFamily="18" charset="0"/>
                          <a:cs typeface="Arial" panose="020B0604020202020204" pitchFamily="34" charset="0"/>
                        </a:rPr>
                        <a:t>0,5%</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solidFill>
                            <a:srgbClr val="000000"/>
                          </a:solidFill>
                          <a:effectLst/>
                          <a:latin typeface="Arial" panose="020B0604020202020204" pitchFamily="34" charset="0"/>
                          <a:ea typeface="Times New Roman" panose="02020603050405020304" pitchFamily="18" charset="0"/>
                          <a:cs typeface="Arial" panose="020B0604020202020204" pitchFamily="34" charset="0"/>
                        </a:rPr>
                        <a:t>2 000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107950" algn="r" hangingPunct="0">
                        <a:spcAft>
                          <a:spcPts val="0"/>
                        </a:spcAft>
                      </a:pPr>
                      <a:r>
                        <a:rPr lang="pl-PL" sz="9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1905</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extLst>
                  <a:ext uri="{0D108BD9-81ED-4DB2-BD59-A6C34878D82A}">
                    <a16:rowId xmlns:a16="http://schemas.microsoft.com/office/drawing/2014/main" val="10003"/>
                  </a:ext>
                </a:extLst>
              </a:tr>
              <a:tr h="222570">
                <a:tc>
                  <a:txBody>
                    <a:bodyPr/>
                    <a:lstStyle/>
                    <a:p>
                      <a:pPr algn="ctr" hangingPunct="0">
                        <a:spcAft>
                          <a:spcPts val="0"/>
                        </a:spcAft>
                      </a:pPr>
                      <a:r>
                        <a:rPr lang="pl-PL" sz="9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solidFill>
                            <a:srgbClr val="000000"/>
                          </a:solidFill>
                          <a:effectLst/>
                          <a:latin typeface="Arial" panose="020B0604020202020204" pitchFamily="34" charset="0"/>
                          <a:ea typeface="Times New Roman" panose="02020603050405020304" pitchFamily="18" charset="0"/>
                          <a:cs typeface="Arial" panose="020B0604020202020204" pitchFamily="34" charset="0"/>
                        </a:rPr>
                        <a:t>3 000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107950" algn="r" hangingPunct="0">
                        <a:spcAft>
                          <a:spcPts val="0"/>
                        </a:spcAft>
                      </a:pPr>
                      <a:r>
                        <a:rPr lang="pl-PL" sz="900">
                          <a:solidFill>
                            <a:srgbClr val="000000"/>
                          </a:solidFill>
                          <a:effectLst/>
                          <a:latin typeface="Arial" panose="020B0604020202020204" pitchFamily="34" charset="0"/>
                          <a:ea typeface="Times New Roman" panose="02020603050405020304" pitchFamily="18" charset="0"/>
                          <a:cs typeface="Arial" panose="020B0604020202020204" pitchFamily="34" charset="0"/>
                        </a:rPr>
                        <a:t>2308</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solidFill>
                            <a:srgbClr val="000000"/>
                          </a:solidFill>
                          <a:effectLst/>
                          <a:latin typeface="Arial" panose="020B0604020202020204" pitchFamily="34" charset="0"/>
                          <a:ea typeface="Times New Roman" panose="02020603050405020304" pitchFamily="18" charset="0"/>
                          <a:cs typeface="Arial" panose="020B0604020202020204" pitchFamily="34" charset="0"/>
                        </a:rPr>
                        <a:t>0,5%</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solidFill>
                            <a:srgbClr val="000000"/>
                          </a:solidFill>
                          <a:effectLst/>
                          <a:latin typeface="Arial" panose="020B0604020202020204" pitchFamily="34" charset="0"/>
                          <a:ea typeface="Times New Roman" panose="02020603050405020304" pitchFamily="18" charset="0"/>
                          <a:cs typeface="Arial" panose="020B0604020202020204" pitchFamily="34" charset="0"/>
                        </a:rPr>
                        <a:t>3 000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107950" algn="r" hangingPunct="0">
                        <a:spcAft>
                          <a:spcPts val="0"/>
                        </a:spcAft>
                      </a:pPr>
                      <a:r>
                        <a:rPr lang="pl-PL" sz="900">
                          <a:solidFill>
                            <a:srgbClr val="000000"/>
                          </a:solidFill>
                          <a:effectLst/>
                          <a:latin typeface="Arial" panose="020B0604020202020204" pitchFamily="34" charset="0"/>
                          <a:ea typeface="Times New Roman" panose="02020603050405020304" pitchFamily="18" charset="0"/>
                          <a:cs typeface="Arial" panose="020B0604020202020204" pitchFamily="34" charset="0"/>
                        </a:rPr>
                        <a:t>2791</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extLst>
                  <a:ext uri="{0D108BD9-81ED-4DB2-BD59-A6C34878D82A}">
                    <a16:rowId xmlns:a16="http://schemas.microsoft.com/office/drawing/2014/main" val="10004"/>
                  </a:ext>
                </a:extLst>
              </a:tr>
              <a:tr h="222570">
                <a:tc>
                  <a:txBody>
                    <a:bodyPr/>
                    <a:lstStyle/>
                    <a:p>
                      <a:pPr algn="ctr" hangingPunct="0">
                        <a:spcAft>
                          <a:spcPts val="0"/>
                        </a:spcAft>
                      </a:pPr>
                      <a:r>
                        <a:rPr lang="pl-PL" sz="9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solidFill>
                            <a:srgbClr val="000000"/>
                          </a:solidFill>
                          <a:effectLst/>
                          <a:latin typeface="Arial" panose="020B0604020202020204" pitchFamily="34" charset="0"/>
                          <a:ea typeface="Times New Roman" panose="02020603050405020304" pitchFamily="18" charset="0"/>
                          <a:cs typeface="Arial" panose="020B0604020202020204" pitchFamily="34" charset="0"/>
                        </a:rPr>
                        <a:t>4 000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107950" algn="r" hangingPunct="0">
                        <a:spcAft>
                          <a:spcPts val="0"/>
                        </a:spcAft>
                      </a:pPr>
                      <a:r>
                        <a:rPr lang="pl-PL" sz="900">
                          <a:solidFill>
                            <a:srgbClr val="000000"/>
                          </a:solidFill>
                          <a:effectLst/>
                          <a:latin typeface="Arial" panose="020B0604020202020204" pitchFamily="34" charset="0"/>
                          <a:ea typeface="Times New Roman" panose="02020603050405020304" pitchFamily="18" charset="0"/>
                          <a:cs typeface="Arial" panose="020B0604020202020204" pitchFamily="34" charset="0"/>
                        </a:rPr>
                        <a:t>2857</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solidFill>
                            <a:srgbClr val="000000"/>
                          </a:solidFill>
                          <a:effectLst/>
                          <a:latin typeface="Arial" panose="020B0604020202020204" pitchFamily="34" charset="0"/>
                          <a:ea typeface="Times New Roman" panose="02020603050405020304" pitchFamily="18" charset="0"/>
                          <a:cs typeface="Arial" panose="020B0604020202020204" pitchFamily="34" charset="0"/>
                        </a:rPr>
                        <a:t>0,5%</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solidFill>
                            <a:srgbClr val="000000"/>
                          </a:solidFill>
                          <a:effectLst/>
                          <a:latin typeface="Arial" panose="020B0604020202020204" pitchFamily="34" charset="0"/>
                          <a:ea typeface="Times New Roman" panose="02020603050405020304" pitchFamily="18" charset="0"/>
                          <a:cs typeface="Arial" panose="020B0604020202020204" pitchFamily="34" charset="0"/>
                        </a:rPr>
                        <a:t>4 000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107950" algn="r" hangingPunct="0">
                        <a:spcAft>
                          <a:spcPts val="0"/>
                        </a:spcAft>
                      </a:pPr>
                      <a:r>
                        <a:rPr lang="pl-PL" sz="900">
                          <a:solidFill>
                            <a:srgbClr val="000000"/>
                          </a:solidFill>
                          <a:effectLst/>
                          <a:latin typeface="Arial" panose="020B0604020202020204" pitchFamily="34" charset="0"/>
                          <a:ea typeface="Times New Roman" panose="02020603050405020304" pitchFamily="18" charset="0"/>
                          <a:cs typeface="Arial" panose="020B0604020202020204" pitchFamily="34" charset="0"/>
                        </a:rPr>
                        <a:t>3636</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extLst>
                  <a:ext uri="{0D108BD9-81ED-4DB2-BD59-A6C34878D82A}">
                    <a16:rowId xmlns:a16="http://schemas.microsoft.com/office/drawing/2014/main" val="10005"/>
                  </a:ext>
                </a:extLst>
              </a:tr>
              <a:tr h="222570">
                <a:tc>
                  <a:txBody>
                    <a:bodyPr/>
                    <a:lstStyle/>
                    <a:p>
                      <a:pPr algn="ctr" hangingPunct="0">
                        <a:spcAft>
                          <a:spcPts val="0"/>
                        </a:spcAft>
                      </a:pPr>
                      <a:r>
                        <a:rPr lang="pl-PL" sz="9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solidFill>
                            <a:srgbClr val="000000"/>
                          </a:solidFill>
                          <a:effectLst/>
                          <a:latin typeface="Arial" panose="020B0604020202020204" pitchFamily="34" charset="0"/>
                          <a:ea typeface="Times New Roman" panose="02020603050405020304" pitchFamily="18" charset="0"/>
                          <a:cs typeface="Arial" panose="020B0604020202020204" pitchFamily="34" charset="0"/>
                        </a:rPr>
                        <a:t>5 000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107950" algn="r" hangingPunct="0">
                        <a:spcAft>
                          <a:spcPts val="0"/>
                        </a:spcAft>
                      </a:pPr>
                      <a:r>
                        <a:rPr lang="pl-PL" sz="900">
                          <a:solidFill>
                            <a:srgbClr val="000000"/>
                          </a:solidFill>
                          <a:effectLst/>
                          <a:latin typeface="Arial" panose="020B0604020202020204" pitchFamily="34" charset="0"/>
                          <a:ea typeface="Times New Roman" panose="02020603050405020304" pitchFamily="18" charset="0"/>
                          <a:cs typeface="Arial" panose="020B0604020202020204" pitchFamily="34" charset="0"/>
                        </a:rPr>
                        <a:t>3333</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solidFill>
                            <a:srgbClr val="000000"/>
                          </a:solidFill>
                          <a:effectLst/>
                          <a:latin typeface="Arial" panose="020B0604020202020204" pitchFamily="34" charset="0"/>
                          <a:ea typeface="Times New Roman" panose="02020603050405020304" pitchFamily="18" charset="0"/>
                          <a:cs typeface="Arial" panose="020B0604020202020204" pitchFamily="34" charset="0"/>
                        </a:rPr>
                        <a:t>0,5%</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solidFill>
                            <a:srgbClr val="000000"/>
                          </a:solidFill>
                          <a:effectLst/>
                          <a:latin typeface="Arial" panose="020B0604020202020204" pitchFamily="34" charset="0"/>
                          <a:ea typeface="Times New Roman" panose="02020603050405020304" pitchFamily="18" charset="0"/>
                          <a:cs typeface="Arial" panose="020B0604020202020204" pitchFamily="34" charset="0"/>
                        </a:rPr>
                        <a:t>5 000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107950" algn="r" hangingPunct="0">
                        <a:spcAft>
                          <a:spcPts val="0"/>
                        </a:spcAft>
                      </a:pPr>
                      <a:r>
                        <a:rPr lang="pl-PL" sz="900">
                          <a:solidFill>
                            <a:srgbClr val="000000"/>
                          </a:solidFill>
                          <a:effectLst/>
                          <a:latin typeface="Arial" panose="020B0604020202020204" pitchFamily="34" charset="0"/>
                          <a:ea typeface="Times New Roman" panose="02020603050405020304" pitchFamily="18" charset="0"/>
                          <a:cs typeface="Arial" panose="020B0604020202020204" pitchFamily="34" charset="0"/>
                        </a:rPr>
                        <a:t>4444</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extLst>
                  <a:ext uri="{0D108BD9-81ED-4DB2-BD59-A6C34878D82A}">
                    <a16:rowId xmlns:a16="http://schemas.microsoft.com/office/drawing/2014/main" val="10006"/>
                  </a:ext>
                </a:extLst>
              </a:tr>
              <a:tr h="222570">
                <a:tc>
                  <a:txBody>
                    <a:bodyPr/>
                    <a:lstStyle/>
                    <a:p>
                      <a:pPr algn="ctr" hangingPunct="0">
                        <a:spcAft>
                          <a:spcPts val="0"/>
                        </a:spcAft>
                      </a:pPr>
                      <a:r>
                        <a:rPr lang="pl-PL" sz="9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10 000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107950" algn="r" hangingPunct="0">
                        <a:spcAft>
                          <a:spcPts val="0"/>
                        </a:spcAft>
                      </a:pPr>
                      <a:r>
                        <a:rPr lang="pl-PL" sz="900">
                          <a:solidFill>
                            <a:srgbClr val="000000"/>
                          </a:solidFill>
                          <a:effectLst/>
                          <a:latin typeface="Arial" panose="020B0604020202020204" pitchFamily="34" charset="0"/>
                          <a:ea typeface="Times New Roman" panose="02020603050405020304" pitchFamily="18" charset="0"/>
                          <a:cs typeface="Arial" panose="020B0604020202020204" pitchFamily="34" charset="0"/>
                        </a:rPr>
                        <a:t>5000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solidFill>
                            <a:srgbClr val="000000"/>
                          </a:solidFill>
                          <a:effectLst/>
                          <a:latin typeface="Arial" panose="020B0604020202020204" pitchFamily="34" charset="0"/>
                          <a:ea typeface="Times New Roman" panose="02020603050405020304" pitchFamily="18" charset="0"/>
                          <a:cs typeface="Arial" panose="020B0604020202020204" pitchFamily="34" charset="0"/>
                        </a:rPr>
                        <a:t>0,5%</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10 000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107950" algn="r" hangingPunct="0">
                        <a:spcAft>
                          <a:spcPts val="0"/>
                        </a:spcAft>
                      </a:pPr>
                      <a:r>
                        <a:rPr lang="pl-PL" sz="900">
                          <a:solidFill>
                            <a:srgbClr val="000000"/>
                          </a:solidFill>
                          <a:effectLst/>
                          <a:latin typeface="Arial" panose="020B0604020202020204" pitchFamily="34" charset="0"/>
                          <a:ea typeface="Times New Roman" panose="02020603050405020304" pitchFamily="18" charset="0"/>
                          <a:cs typeface="Arial" panose="020B0604020202020204" pitchFamily="34" charset="0"/>
                        </a:rPr>
                        <a:t>8000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extLst>
                  <a:ext uri="{0D108BD9-81ED-4DB2-BD59-A6C34878D82A}">
                    <a16:rowId xmlns:a16="http://schemas.microsoft.com/office/drawing/2014/main" val="10007"/>
                  </a:ext>
                </a:extLst>
              </a:tr>
              <a:tr h="222570">
                <a:tc>
                  <a:txBody>
                    <a:bodyPr/>
                    <a:lstStyle/>
                    <a:p>
                      <a:pPr algn="ctr" hangingPunct="0">
                        <a:spcAft>
                          <a:spcPts val="0"/>
                        </a:spcAft>
                      </a:pPr>
                      <a:r>
                        <a:rPr lang="pl-PL" sz="9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100 000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107950" algn="r" hangingPunct="0">
                        <a:spcAft>
                          <a:spcPts val="0"/>
                        </a:spcAft>
                      </a:pPr>
                      <a:r>
                        <a:rPr lang="pl-PL" sz="900">
                          <a:solidFill>
                            <a:srgbClr val="000000"/>
                          </a:solidFill>
                          <a:effectLst/>
                          <a:latin typeface="Arial" panose="020B0604020202020204" pitchFamily="34" charset="0"/>
                          <a:ea typeface="Times New Roman" panose="02020603050405020304" pitchFamily="18" charset="0"/>
                          <a:cs typeface="Arial" panose="020B0604020202020204" pitchFamily="34" charset="0"/>
                        </a:rPr>
                        <a:t>9091</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solidFill>
                            <a:srgbClr val="000000"/>
                          </a:solidFill>
                          <a:effectLst/>
                          <a:latin typeface="Arial" panose="020B0604020202020204" pitchFamily="34" charset="0"/>
                          <a:ea typeface="Times New Roman" panose="02020603050405020304" pitchFamily="18" charset="0"/>
                          <a:cs typeface="Arial" panose="020B0604020202020204" pitchFamily="34" charset="0"/>
                        </a:rPr>
                        <a:t>0,5%</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100 000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107950" algn="r" hangingPunct="0">
                        <a:spcAft>
                          <a:spcPts val="0"/>
                        </a:spcAft>
                      </a:pPr>
                      <a:r>
                        <a:rPr lang="pl-PL" sz="900">
                          <a:solidFill>
                            <a:srgbClr val="000000"/>
                          </a:solidFill>
                          <a:effectLst/>
                          <a:latin typeface="Arial" panose="020B0604020202020204" pitchFamily="34" charset="0"/>
                          <a:ea typeface="Times New Roman" panose="02020603050405020304" pitchFamily="18" charset="0"/>
                          <a:cs typeface="Arial" panose="020B0604020202020204" pitchFamily="34" charset="0"/>
                        </a:rPr>
                        <a:t>28571</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extLst>
                  <a:ext uri="{0D108BD9-81ED-4DB2-BD59-A6C34878D82A}">
                    <a16:rowId xmlns:a16="http://schemas.microsoft.com/office/drawing/2014/main" val="10008"/>
                  </a:ext>
                </a:extLst>
              </a:tr>
              <a:tr h="222570">
                <a:tc>
                  <a:txBody>
                    <a:bodyPr/>
                    <a:lstStyle/>
                    <a:p>
                      <a:pPr algn="ctr" hangingPunct="0">
                        <a:spcAft>
                          <a:spcPts val="0"/>
                        </a:spcAft>
                      </a:pPr>
                      <a:r>
                        <a:rPr lang="pl-PL" sz="9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1 000 000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107950" algn="r" hangingPunct="0">
                        <a:spcAft>
                          <a:spcPts val="0"/>
                        </a:spcAft>
                      </a:pPr>
                      <a:r>
                        <a:rPr lang="pl-PL" sz="900">
                          <a:solidFill>
                            <a:srgbClr val="000000"/>
                          </a:solidFill>
                          <a:effectLst/>
                          <a:latin typeface="Arial" panose="020B0604020202020204" pitchFamily="34" charset="0"/>
                          <a:ea typeface="Times New Roman" panose="02020603050405020304" pitchFamily="18" charset="0"/>
                          <a:cs typeface="Arial" panose="020B0604020202020204" pitchFamily="34" charset="0"/>
                        </a:rPr>
                        <a:t>9901</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solidFill>
                            <a:srgbClr val="000000"/>
                          </a:solidFill>
                          <a:effectLst/>
                          <a:latin typeface="Arial" panose="020B0604020202020204" pitchFamily="34" charset="0"/>
                          <a:ea typeface="Times New Roman" panose="02020603050405020304" pitchFamily="18" charset="0"/>
                          <a:cs typeface="Arial" panose="020B0604020202020204" pitchFamily="34" charset="0"/>
                        </a:rPr>
                        <a:t>0,5%</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1 000 000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107950" algn="r" hangingPunct="0">
                        <a:spcAft>
                          <a:spcPts val="0"/>
                        </a:spcAft>
                      </a:pPr>
                      <a:r>
                        <a:rPr lang="pl-PL" sz="900">
                          <a:solidFill>
                            <a:srgbClr val="000000"/>
                          </a:solidFill>
                          <a:effectLst/>
                          <a:latin typeface="Arial" panose="020B0604020202020204" pitchFamily="34" charset="0"/>
                          <a:ea typeface="Times New Roman" panose="02020603050405020304" pitchFamily="18" charset="0"/>
                          <a:cs typeface="Arial" panose="020B0604020202020204" pitchFamily="34" charset="0"/>
                        </a:rPr>
                        <a:t>38462</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extLst>
                  <a:ext uri="{0D108BD9-81ED-4DB2-BD59-A6C34878D82A}">
                    <a16:rowId xmlns:a16="http://schemas.microsoft.com/office/drawing/2014/main" val="10009"/>
                  </a:ext>
                </a:extLst>
              </a:tr>
              <a:tr h="222570">
                <a:tc>
                  <a:txBody>
                    <a:bodyPr/>
                    <a:lstStyle/>
                    <a:p>
                      <a:pPr algn="ctr" hangingPunct="0">
                        <a:spcAft>
                          <a:spcPts val="0"/>
                        </a:spcAft>
                      </a:pPr>
                      <a:r>
                        <a:rPr lang="pl-PL" sz="9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solidFill>
                            <a:srgbClr val="000000"/>
                          </a:solidFill>
                          <a:effectLst/>
                          <a:latin typeface="Arial" panose="020B0604020202020204" pitchFamily="34" charset="0"/>
                          <a:ea typeface="Times New Roman" panose="02020603050405020304" pitchFamily="18" charset="0"/>
                          <a:cs typeface="Arial" panose="020B0604020202020204" pitchFamily="34" charset="0"/>
                        </a:rPr>
                        <a:t>20 000 000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107950" algn="r" hangingPunct="0">
                        <a:spcAft>
                          <a:spcPts val="0"/>
                        </a:spcAft>
                      </a:pPr>
                      <a:r>
                        <a:rPr lang="pl-PL" sz="900">
                          <a:solidFill>
                            <a:srgbClr val="000000"/>
                          </a:solidFill>
                          <a:effectLst/>
                          <a:latin typeface="Arial" panose="020B0604020202020204" pitchFamily="34" charset="0"/>
                          <a:ea typeface="Times New Roman" panose="02020603050405020304" pitchFamily="18" charset="0"/>
                          <a:cs typeface="Arial" panose="020B0604020202020204" pitchFamily="34" charset="0"/>
                        </a:rPr>
                        <a:t>9995</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algn="ctr" hangingPunct="0">
                        <a:spcAft>
                          <a:spcPts val="0"/>
                        </a:spcAft>
                      </a:pPr>
                      <a:r>
                        <a:rPr lang="pl-PL" sz="900">
                          <a:solidFill>
                            <a:srgbClr val="000000"/>
                          </a:solidFill>
                          <a:effectLst/>
                          <a:latin typeface="Arial" panose="020B0604020202020204" pitchFamily="34" charset="0"/>
                          <a:ea typeface="Times New Roman" panose="02020603050405020304" pitchFamily="18" charset="0"/>
                          <a:cs typeface="Arial" panose="020B0604020202020204" pitchFamily="34" charset="0"/>
                        </a:rPr>
                        <a:t>0,5%</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36195" algn="r" hangingPunct="0">
                        <a:spcAft>
                          <a:spcPts val="0"/>
                        </a:spcAft>
                      </a:pPr>
                      <a:r>
                        <a:rPr lang="pl-PL" sz="900">
                          <a:solidFill>
                            <a:srgbClr val="000000"/>
                          </a:solidFill>
                          <a:effectLst/>
                          <a:latin typeface="Arial" panose="020B0604020202020204" pitchFamily="34" charset="0"/>
                          <a:ea typeface="Times New Roman" panose="02020603050405020304" pitchFamily="18" charset="0"/>
                          <a:cs typeface="Arial" panose="020B0604020202020204" pitchFamily="34" charset="0"/>
                        </a:rPr>
                        <a:t>20 000 000</a:t>
                      </a:r>
                      <a:endParaRPr lang="pl-PL" sz="140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tc>
                  <a:txBody>
                    <a:bodyPr/>
                    <a:lstStyle/>
                    <a:p>
                      <a:pPr marR="107950" algn="r" hangingPunct="0">
                        <a:spcAft>
                          <a:spcPts val="0"/>
                        </a:spcAft>
                      </a:pPr>
                      <a:r>
                        <a:rPr lang="pl-PL" sz="9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39920</a:t>
                      </a:r>
                      <a:endParaRPr lang="pl-PL" sz="14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19050" marR="19050" marT="0" marB="0" anchor="ct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8153945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ymbol zastępczy zawartości 2"/>
          <p:cNvSpPr>
            <a:spLocks noGrp="1"/>
          </p:cNvSpPr>
          <p:nvPr>
            <p:ph idx="1"/>
          </p:nvPr>
        </p:nvSpPr>
        <p:spPr>
          <a:xfrm>
            <a:off x="481840" y="404664"/>
            <a:ext cx="9714936" cy="6336704"/>
          </a:xfrm>
        </p:spPr>
        <p:txBody>
          <a:bodyPr>
            <a:normAutofit/>
          </a:bodyPr>
          <a:lstStyle/>
          <a:p>
            <a:pPr marL="0" indent="0">
              <a:buNone/>
            </a:pPr>
            <a:r>
              <a:rPr lang="pl-PL" sz="2400" b="1" u="sng" dirty="0"/>
              <a:t>Metody doboru próby</a:t>
            </a:r>
            <a:r>
              <a:rPr lang="pl-PL" sz="2400" dirty="0"/>
              <a:t>:</a:t>
            </a:r>
          </a:p>
          <a:p>
            <a:pPr marL="0" indent="0">
              <a:buNone/>
            </a:pPr>
            <a:endParaRPr lang="pl-PL" sz="2400" dirty="0"/>
          </a:p>
          <a:p>
            <a:r>
              <a:rPr lang="pl-PL" sz="2400" b="1" dirty="0">
                <a:solidFill>
                  <a:srgbClr val="FFFF00"/>
                </a:solidFill>
              </a:rPr>
              <a:t>Metody doboru losowego</a:t>
            </a:r>
          </a:p>
          <a:p>
            <a:pPr marL="898525" indent="-457200">
              <a:buFont typeface="Wingdings" panose="05000000000000000000" pitchFamily="2" charset="2"/>
              <a:buChar char="§"/>
            </a:pPr>
            <a:r>
              <a:rPr lang="pl-PL" sz="2400" dirty="0"/>
              <a:t>dobór warstwowy</a:t>
            </a:r>
          </a:p>
          <a:p>
            <a:pPr marL="898525" indent="-457200">
              <a:buFont typeface="Wingdings" panose="05000000000000000000" pitchFamily="2" charset="2"/>
              <a:buChar char="§"/>
            </a:pPr>
            <a:r>
              <a:rPr lang="pl-PL" sz="2400" dirty="0"/>
              <a:t>Dobór losowy prosty</a:t>
            </a:r>
          </a:p>
          <a:p>
            <a:pPr marL="898525" indent="-457200">
              <a:buFont typeface="Wingdings" panose="05000000000000000000" pitchFamily="2" charset="2"/>
              <a:buChar char="§"/>
            </a:pPr>
            <a:r>
              <a:rPr lang="pl-PL" sz="2400" dirty="0"/>
              <a:t>Dobór wielostopniowy</a:t>
            </a:r>
          </a:p>
          <a:p>
            <a:r>
              <a:rPr lang="pl-PL" sz="2400" b="1" dirty="0">
                <a:solidFill>
                  <a:srgbClr val="FFFF00"/>
                </a:solidFill>
              </a:rPr>
              <a:t>Dobór celowy</a:t>
            </a:r>
          </a:p>
          <a:p>
            <a:pPr marL="898525" indent="-457200">
              <a:buFont typeface="Wingdings" panose="05000000000000000000" pitchFamily="2" charset="2"/>
              <a:buChar char="§"/>
            </a:pPr>
            <a:r>
              <a:rPr lang="pl-PL" sz="2400" dirty="0"/>
              <a:t>Dobór jednostek typowych</a:t>
            </a:r>
          </a:p>
          <a:p>
            <a:pPr marL="898525" indent="-457200">
              <a:buFont typeface="Wingdings" panose="05000000000000000000" pitchFamily="2" charset="2"/>
              <a:buChar char="§"/>
            </a:pPr>
            <a:r>
              <a:rPr lang="pl-PL" sz="2400" dirty="0"/>
              <a:t>Dobór proporcjonalny (kwotowy)</a:t>
            </a:r>
          </a:p>
          <a:p>
            <a:pPr marL="898525" indent="-457200">
              <a:buFont typeface="Wingdings" panose="05000000000000000000" pitchFamily="2" charset="2"/>
              <a:buChar char="§"/>
            </a:pPr>
            <a:r>
              <a:rPr lang="pl-PL" sz="2400" dirty="0"/>
              <a:t>Dobór metodą eliminacji</a:t>
            </a:r>
          </a:p>
          <a:p>
            <a:pPr marL="898525" indent="-457200">
              <a:buFont typeface="Wingdings" panose="05000000000000000000" pitchFamily="2" charset="2"/>
              <a:buChar char="§"/>
            </a:pPr>
            <a:endParaRPr lang="pl-PL" sz="2400" dirty="0"/>
          </a:p>
          <a:p>
            <a:pPr marL="441325" indent="0">
              <a:buNone/>
            </a:pPr>
            <a:r>
              <a:rPr lang="pl-PL" sz="2400" dirty="0">
                <a:solidFill>
                  <a:srgbClr val="FFFF00"/>
                </a:solidFill>
              </a:rPr>
              <a:t>Dobór przypadkowy, metoda „kuli śnieżnej” i in.</a:t>
            </a:r>
          </a:p>
        </p:txBody>
      </p:sp>
    </p:spTree>
    <p:extLst>
      <p:ext uri="{BB962C8B-B14F-4D97-AF65-F5344CB8AC3E}">
        <p14:creationId xmlns:p14="http://schemas.microsoft.com/office/powerpoint/2010/main" val="3167121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a:xfrm>
            <a:off x="257453" y="213542"/>
            <a:ext cx="11569517" cy="782990"/>
          </a:xfrm>
        </p:spPr>
        <p:txBody>
          <a:bodyPr/>
          <a:lstStyle/>
          <a:p>
            <a:pPr algn="ctr"/>
            <a:r>
              <a:rPr lang="pl-PL" sz="2000" dirty="0"/>
              <a:t>Sposób dotarcia do respondentów - porównanie ankiet pocztowych, telefonicznych i osobistych (</a:t>
            </a:r>
            <a:r>
              <a:rPr lang="pl-PL" sz="2000" dirty="0">
                <a:solidFill>
                  <a:srgbClr val="FFFF00"/>
                </a:solidFill>
              </a:rPr>
              <a:t>Wy w pracach stosujecie najczęściej internetową, ale ona ma szereg wad)</a:t>
            </a:r>
          </a:p>
        </p:txBody>
      </p:sp>
      <p:graphicFrame>
        <p:nvGraphicFramePr>
          <p:cNvPr id="4" name="Symbol zastępczy zawartości 3"/>
          <p:cNvGraphicFramePr>
            <a:graphicFrameLocks noGrp="1"/>
          </p:cNvGraphicFramePr>
          <p:nvPr>
            <p:ph idx="1"/>
            <p:extLst>
              <p:ext uri="{D42A27DB-BD31-4B8C-83A1-F6EECF244321}">
                <p14:modId xmlns:p14="http://schemas.microsoft.com/office/powerpoint/2010/main" val="4145512471"/>
              </p:ext>
            </p:extLst>
          </p:nvPr>
        </p:nvGraphicFramePr>
        <p:xfrm>
          <a:off x="372331" y="1188172"/>
          <a:ext cx="11071360" cy="5346835"/>
        </p:xfrm>
        <a:graphic>
          <a:graphicData uri="http://schemas.openxmlformats.org/drawingml/2006/table">
            <a:tbl>
              <a:tblPr firstRow="1" bandRow="1">
                <a:tableStyleId>{5C22544A-7EE6-4342-B048-85BDC9FD1C3A}</a:tableStyleId>
              </a:tblPr>
              <a:tblGrid>
                <a:gridCol w="2767840">
                  <a:extLst>
                    <a:ext uri="{9D8B030D-6E8A-4147-A177-3AD203B41FA5}">
                      <a16:colId xmlns:a16="http://schemas.microsoft.com/office/drawing/2014/main" val="20000"/>
                    </a:ext>
                  </a:extLst>
                </a:gridCol>
                <a:gridCol w="2767840">
                  <a:extLst>
                    <a:ext uri="{9D8B030D-6E8A-4147-A177-3AD203B41FA5}">
                      <a16:colId xmlns:a16="http://schemas.microsoft.com/office/drawing/2014/main" val="20001"/>
                    </a:ext>
                  </a:extLst>
                </a:gridCol>
                <a:gridCol w="2767840">
                  <a:extLst>
                    <a:ext uri="{9D8B030D-6E8A-4147-A177-3AD203B41FA5}">
                      <a16:colId xmlns:a16="http://schemas.microsoft.com/office/drawing/2014/main" val="20002"/>
                    </a:ext>
                  </a:extLst>
                </a:gridCol>
                <a:gridCol w="2767840">
                  <a:extLst>
                    <a:ext uri="{9D8B030D-6E8A-4147-A177-3AD203B41FA5}">
                      <a16:colId xmlns:a16="http://schemas.microsoft.com/office/drawing/2014/main" val="20003"/>
                    </a:ext>
                  </a:extLst>
                </a:gridCol>
              </a:tblGrid>
              <a:tr h="596761">
                <a:tc>
                  <a:txBody>
                    <a:bodyPr/>
                    <a:lstStyle/>
                    <a:p>
                      <a:r>
                        <a:rPr lang="pl-PL" dirty="0"/>
                        <a:t>Podstawa porównania</a:t>
                      </a:r>
                    </a:p>
                  </a:txBody>
                  <a:tcPr/>
                </a:tc>
                <a:tc>
                  <a:txBody>
                    <a:bodyPr/>
                    <a:lstStyle/>
                    <a:p>
                      <a:r>
                        <a:rPr lang="pl-PL" dirty="0"/>
                        <a:t>Ankiety pocztowe</a:t>
                      </a:r>
                    </a:p>
                  </a:txBody>
                  <a:tcPr/>
                </a:tc>
                <a:tc>
                  <a:txBody>
                    <a:bodyPr/>
                    <a:lstStyle/>
                    <a:p>
                      <a:r>
                        <a:rPr lang="pl-PL" dirty="0"/>
                        <a:t>Ankiety telefoniczne</a:t>
                      </a:r>
                    </a:p>
                  </a:txBody>
                  <a:tcPr/>
                </a:tc>
                <a:tc>
                  <a:txBody>
                    <a:bodyPr/>
                    <a:lstStyle/>
                    <a:p>
                      <a:r>
                        <a:rPr lang="pl-PL" dirty="0"/>
                        <a:t>Ankiety osobiste</a:t>
                      </a:r>
                    </a:p>
                  </a:txBody>
                  <a:tcPr/>
                </a:tc>
                <a:extLst>
                  <a:ext uri="{0D108BD9-81ED-4DB2-BD59-A6C34878D82A}">
                    <a16:rowId xmlns:a16="http://schemas.microsoft.com/office/drawing/2014/main" val="10000"/>
                  </a:ext>
                </a:extLst>
              </a:tr>
              <a:tr h="1038828">
                <a:tc>
                  <a:txBody>
                    <a:bodyPr/>
                    <a:lstStyle/>
                    <a:p>
                      <a:r>
                        <a:rPr lang="pl-PL" dirty="0"/>
                        <a:t>koszt</a:t>
                      </a:r>
                    </a:p>
                  </a:txBody>
                  <a:tcPr/>
                </a:tc>
                <a:tc>
                  <a:txBody>
                    <a:bodyPr/>
                    <a:lstStyle/>
                    <a:p>
                      <a:r>
                        <a:rPr lang="pl-PL" dirty="0"/>
                        <a:t>Zazwyczaj najtańsze niski wskaźnik odpowiedzi</a:t>
                      </a:r>
                    </a:p>
                  </a:txBody>
                  <a:tcPr/>
                </a:tc>
                <a:tc>
                  <a:txBody>
                    <a:bodyPr/>
                    <a:lstStyle/>
                    <a:p>
                      <a:r>
                        <a:rPr lang="pl-PL" dirty="0"/>
                        <a:t>średni., w miarę dobry wskaźnik odpowiedzi</a:t>
                      </a:r>
                    </a:p>
                  </a:txBody>
                  <a:tcPr/>
                </a:tc>
                <a:tc>
                  <a:txBody>
                    <a:bodyPr/>
                    <a:lstStyle/>
                    <a:p>
                      <a:r>
                        <a:rPr lang="pl-PL" dirty="0"/>
                        <a:t>Najdroższe, czas ankietera i dotarcie</a:t>
                      </a:r>
                    </a:p>
                  </a:txBody>
                  <a:tcPr/>
                </a:tc>
                <a:extLst>
                  <a:ext uri="{0D108BD9-81ED-4DB2-BD59-A6C34878D82A}">
                    <a16:rowId xmlns:a16="http://schemas.microsoft.com/office/drawing/2014/main" val="10001"/>
                  </a:ext>
                </a:extLst>
              </a:tr>
              <a:tr h="1997747">
                <a:tc>
                  <a:txBody>
                    <a:bodyPr/>
                    <a:lstStyle/>
                    <a:p>
                      <a:r>
                        <a:rPr lang="pl-PL" dirty="0"/>
                        <a:t>Możliwość zadawania dodatkowych pytań</a:t>
                      </a:r>
                    </a:p>
                  </a:txBody>
                  <a:tcPr/>
                </a:tc>
                <a:tc>
                  <a:txBody>
                    <a:bodyPr/>
                    <a:lstStyle/>
                    <a:p>
                      <a:r>
                        <a:rPr lang="pl-PL" dirty="0"/>
                        <a:t>Niewielka, narzucony format zwięzły i prosty</a:t>
                      </a:r>
                    </a:p>
                  </a:txBody>
                  <a:tcPr/>
                </a:tc>
                <a:tc>
                  <a:txBody>
                    <a:bodyPr/>
                    <a:lstStyle/>
                    <a:p>
                      <a:r>
                        <a:rPr lang="pl-PL" dirty="0"/>
                        <a:t>W pewnym zakresie, możliwość ograniczonego sterowania</a:t>
                      </a:r>
                    </a:p>
                  </a:txBody>
                  <a:tcPr/>
                </a:tc>
                <a:tc>
                  <a:txBody>
                    <a:bodyPr/>
                    <a:lstStyle/>
                    <a:p>
                      <a:r>
                        <a:rPr lang="pl-PL" dirty="0"/>
                        <a:t>Duża, pokazywanie dodatkowych materiałów, obserwacja reakcji i pogłębianie sondażu</a:t>
                      </a:r>
                    </a:p>
                  </a:txBody>
                  <a:tcPr/>
                </a:tc>
                <a:extLst>
                  <a:ext uri="{0D108BD9-81ED-4DB2-BD59-A6C34878D82A}">
                    <a16:rowId xmlns:a16="http://schemas.microsoft.com/office/drawing/2014/main" val="10002"/>
                  </a:ext>
                </a:extLst>
              </a:tr>
              <a:tr h="852515">
                <a:tc>
                  <a:txBody>
                    <a:bodyPr/>
                    <a:lstStyle/>
                    <a:p>
                      <a:r>
                        <a:rPr lang="pl-PL" dirty="0"/>
                        <a:t>Wpływ ankietera  na wyniki</a:t>
                      </a:r>
                    </a:p>
                  </a:txBody>
                  <a:tcPr/>
                </a:tc>
                <a:tc>
                  <a:txBody>
                    <a:bodyPr/>
                    <a:lstStyle/>
                    <a:p>
                      <a:r>
                        <a:rPr lang="pl-PL" dirty="0"/>
                        <a:t>żaden</a:t>
                      </a:r>
                    </a:p>
                  </a:txBody>
                  <a:tcPr/>
                </a:tc>
                <a:tc>
                  <a:txBody>
                    <a:bodyPr/>
                    <a:lstStyle/>
                    <a:p>
                      <a:r>
                        <a:rPr lang="pl-PL" dirty="0"/>
                        <a:t>Ograniczony ale możliwy</a:t>
                      </a:r>
                    </a:p>
                  </a:txBody>
                  <a:tcPr/>
                </a:tc>
                <a:tc>
                  <a:txBody>
                    <a:bodyPr/>
                    <a:lstStyle/>
                    <a:p>
                      <a:r>
                        <a:rPr lang="pl-PL" dirty="0"/>
                        <a:t>Znaczny- kontakt wzrokowy,</a:t>
                      </a:r>
                      <a:r>
                        <a:rPr lang="pl-PL" baseline="0" dirty="0"/>
                        <a:t> mimika ankietera</a:t>
                      </a:r>
                      <a:endParaRPr lang="pl-PL" dirty="0"/>
                    </a:p>
                  </a:txBody>
                  <a:tcPr/>
                </a:tc>
                <a:extLst>
                  <a:ext uri="{0D108BD9-81ED-4DB2-BD59-A6C34878D82A}">
                    <a16:rowId xmlns:a16="http://schemas.microsoft.com/office/drawing/2014/main" val="10003"/>
                  </a:ext>
                </a:extLst>
              </a:tr>
              <a:tr h="799099">
                <a:tc>
                  <a:txBody>
                    <a:bodyPr/>
                    <a:lstStyle/>
                    <a:p>
                      <a:r>
                        <a:rPr lang="pl-PL" dirty="0"/>
                        <a:t>Anonimowość</a:t>
                      </a:r>
                      <a:r>
                        <a:rPr lang="pl-PL" baseline="0" dirty="0"/>
                        <a:t> respondenta</a:t>
                      </a:r>
                      <a:endParaRPr lang="pl-PL" dirty="0"/>
                    </a:p>
                  </a:txBody>
                  <a:tcPr/>
                </a:tc>
                <a:tc>
                  <a:txBody>
                    <a:bodyPr/>
                    <a:lstStyle/>
                    <a:p>
                      <a:r>
                        <a:rPr lang="pl-PL" dirty="0"/>
                        <a:t>całkowita</a:t>
                      </a:r>
                    </a:p>
                  </a:txBody>
                  <a:tcPr/>
                </a:tc>
                <a:tc>
                  <a:txBody>
                    <a:bodyPr/>
                    <a:lstStyle/>
                    <a:p>
                      <a:r>
                        <a:rPr lang="pl-PL" dirty="0"/>
                        <a:t>W pewnym zakresie, numer telefonu</a:t>
                      </a:r>
                    </a:p>
                  </a:txBody>
                  <a:tcPr/>
                </a:tc>
                <a:tc>
                  <a:txBody>
                    <a:bodyPr/>
                    <a:lstStyle/>
                    <a:p>
                      <a:r>
                        <a:rPr lang="pl-PL" dirty="0"/>
                        <a:t>Znikoma, osobisty kontakt</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9499602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a:xfrm>
            <a:off x="2423593" y="1"/>
            <a:ext cx="7125113" cy="924475"/>
          </a:xfrm>
        </p:spPr>
        <p:txBody>
          <a:bodyPr/>
          <a:lstStyle/>
          <a:p>
            <a:r>
              <a:rPr lang="pl-PL" sz="2800" dirty="0">
                <a:solidFill>
                  <a:srgbClr val="FFFF00"/>
                </a:solidFill>
              </a:rPr>
              <a:t>Narzędzia badawcze</a:t>
            </a:r>
          </a:p>
        </p:txBody>
      </p:sp>
      <p:sp>
        <p:nvSpPr>
          <p:cNvPr id="3" name="Symbol zastępczy zawartości 2"/>
          <p:cNvSpPr>
            <a:spLocks noGrp="1"/>
          </p:cNvSpPr>
          <p:nvPr>
            <p:ph idx="1"/>
          </p:nvPr>
        </p:nvSpPr>
        <p:spPr>
          <a:xfrm>
            <a:off x="399495" y="692697"/>
            <a:ext cx="11301274" cy="6165303"/>
          </a:xfrm>
        </p:spPr>
        <p:txBody>
          <a:bodyPr>
            <a:normAutofit/>
          </a:bodyPr>
          <a:lstStyle/>
          <a:p>
            <a:pPr>
              <a:buFont typeface="Wingdings" panose="05000000000000000000" pitchFamily="2" charset="2"/>
              <a:buChar char="§"/>
            </a:pPr>
            <a:r>
              <a:rPr lang="pl-PL" sz="2400" b="1" dirty="0"/>
              <a:t>Kwestionariusz</a:t>
            </a:r>
            <a:r>
              <a:rPr lang="pl-PL" sz="2400" dirty="0"/>
              <a:t> – pisemny formularz zawierający zestaw pytań zadawanych respondentowi</a:t>
            </a:r>
          </a:p>
          <a:p>
            <a:pPr>
              <a:buFont typeface="Wingdings" panose="05000000000000000000" pitchFamily="2" charset="2"/>
              <a:buChar char="§"/>
            </a:pPr>
            <a:r>
              <a:rPr lang="pl-PL" sz="2400" b="1" dirty="0"/>
              <a:t>Urządzenia mechaniczne </a:t>
            </a:r>
            <a:endParaRPr lang="pl-PL" sz="2400" dirty="0"/>
          </a:p>
          <a:p>
            <a:pPr marL="803275" indent="-441325">
              <a:buFont typeface="Wingdings" panose="05000000000000000000" pitchFamily="2" charset="2"/>
              <a:buChar char="v"/>
            </a:pPr>
            <a:r>
              <a:rPr lang="pl-PL" sz="2400" u="sng" dirty="0"/>
              <a:t>urządzenia telemetryczne; </a:t>
            </a:r>
          </a:p>
          <a:p>
            <a:pPr marL="803275" indent="-441325">
              <a:buFont typeface="Wingdings" panose="05000000000000000000" pitchFamily="2" charset="2"/>
              <a:buChar char="v"/>
            </a:pPr>
            <a:r>
              <a:rPr lang="pl-PL" sz="2400" u="sng" dirty="0"/>
              <a:t>skanery sklepowe, wykrywacze kłamstw</a:t>
            </a:r>
            <a:r>
              <a:rPr lang="pl-PL" sz="2400" dirty="0"/>
              <a:t> (</a:t>
            </a:r>
            <a:r>
              <a:rPr lang="pl-PL" sz="2400" i="1" dirty="0"/>
              <a:t>służy do pomiaru stopnia zainteresowania lub emocjonalnego podniecenia badanego, wywołane prezentowanymi bodźcami np. reklamą</a:t>
            </a:r>
            <a:r>
              <a:rPr lang="pl-PL" sz="2400" dirty="0"/>
              <a:t>);</a:t>
            </a:r>
          </a:p>
          <a:p>
            <a:pPr marL="803275" indent="-441325">
              <a:buFont typeface="Wingdings" panose="05000000000000000000" pitchFamily="2" charset="2"/>
              <a:buChar char="v"/>
            </a:pPr>
            <a:r>
              <a:rPr lang="pl-PL" sz="2400" dirty="0"/>
              <a:t> </a:t>
            </a:r>
            <a:r>
              <a:rPr lang="pl-PL" sz="2400" u="sng" dirty="0"/>
              <a:t>tachistosko</a:t>
            </a:r>
            <a:r>
              <a:rPr lang="pl-PL" sz="2400" dirty="0"/>
              <a:t>p (</a:t>
            </a:r>
            <a:r>
              <a:rPr lang="pl-PL" sz="2400" i="1" dirty="0"/>
              <a:t>wyświetlanie obrazów o długości od 1/100 sek. do kilku sekund – respondenci opisują co do nich dotarło</a:t>
            </a:r>
            <a:r>
              <a:rPr lang="pl-PL" sz="2400" dirty="0"/>
              <a:t>); </a:t>
            </a:r>
          </a:p>
          <a:p>
            <a:pPr marL="803275" indent="-441325">
              <a:buFont typeface="Wingdings" panose="05000000000000000000" pitchFamily="2" charset="2"/>
              <a:buChar char="v"/>
            </a:pPr>
            <a:r>
              <a:rPr lang="pl-PL" sz="2400" u="sng" dirty="0"/>
              <a:t>Kamera, </a:t>
            </a:r>
            <a:r>
              <a:rPr lang="pl-PL" sz="2400" u="sng" dirty="0" err="1"/>
              <a:t>eye</a:t>
            </a:r>
            <a:r>
              <a:rPr lang="pl-PL" sz="2400" u="sng" dirty="0"/>
              <a:t> </a:t>
            </a:r>
            <a:r>
              <a:rPr lang="pl-PL" sz="2400" u="sng" dirty="0" err="1"/>
              <a:t>tracking</a:t>
            </a:r>
            <a:r>
              <a:rPr lang="pl-PL" sz="2400" dirty="0"/>
              <a:t> (</a:t>
            </a:r>
            <a:r>
              <a:rPr lang="pl-PL" sz="2400" i="1" dirty="0"/>
              <a:t>śledzi ruch gałki ocznej, rejestrując w jakiej kolejności i jak długo badany obiekt skupił wzrok na określonych obiektach</a:t>
            </a:r>
            <a:r>
              <a:rPr lang="pl-PL" sz="2400" dirty="0"/>
              <a:t>).</a:t>
            </a:r>
          </a:p>
          <a:p>
            <a:pPr marL="361950" indent="0">
              <a:buNone/>
            </a:pPr>
            <a:r>
              <a:rPr lang="pl-PL" sz="2400" dirty="0">
                <a:solidFill>
                  <a:schemeClr val="bg1"/>
                </a:solidFill>
              </a:rPr>
              <a:t>Poniżej przykłady prezentacji badań ankietowych</a:t>
            </a:r>
          </a:p>
        </p:txBody>
      </p:sp>
    </p:spTree>
    <p:extLst>
      <p:ext uri="{BB962C8B-B14F-4D97-AF65-F5344CB8AC3E}">
        <p14:creationId xmlns:p14="http://schemas.microsoft.com/office/powerpoint/2010/main" val="3415038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Symbol zastępczy zawartości 3"/>
          <p:cNvGraphicFramePr>
            <a:graphicFrameLocks noGrp="1"/>
          </p:cNvGraphicFramePr>
          <p:nvPr>
            <p:ph idx="1"/>
            <p:extLst>
              <p:ext uri="{D42A27DB-BD31-4B8C-83A1-F6EECF244321}">
                <p14:modId xmlns:p14="http://schemas.microsoft.com/office/powerpoint/2010/main" val="1028947875"/>
              </p:ext>
            </p:extLst>
          </p:nvPr>
        </p:nvGraphicFramePr>
        <p:xfrm>
          <a:off x="262822" y="0"/>
          <a:ext cx="11646280" cy="6858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6814850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2680BE63-1603-4673-BF6F-AFB94CAC725D}"/>
              </a:ext>
            </a:extLst>
          </p:cNvPr>
          <p:cNvSpPr>
            <a:spLocks noGrp="1"/>
          </p:cNvSpPr>
          <p:nvPr>
            <p:ph type="title"/>
          </p:nvPr>
        </p:nvSpPr>
        <p:spPr>
          <a:xfrm>
            <a:off x="502337" y="5639713"/>
            <a:ext cx="9404723" cy="892498"/>
          </a:xfrm>
        </p:spPr>
        <p:txBody>
          <a:bodyPr/>
          <a:lstStyle/>
          <a:p>
            <a:r>
              <a:rPr lang="pl-PL" sz="1600" b="1" dirty="0"/>
              <a:t>Rysunek 1. Deklaracje respondentów dotyczące częstotliwości zakupu czekolady Wedel średnio w miesiącu (%)</a:t>
            </a:r>
            <a:br>
              <a:rPr lang="pl-PL" sz="1600" i="1" dirty="0"/>
            </a:br>
            <a:r>
              <a:rPr lang="pl-PL" sz="1600" dirty="0"/>
              <a:t>Źródło: opracowanie własne na podstawie badań ankietowych</a:t>
            </a:r>
            <a:br>
              <a:rPr lang="pl-PL" dirty="0"/>
            </a:br>
            <a:endParaRPr lang="pl-PL" dirty="0"/>
          </a:p>
        </p:txBody>
      </p:sp>
      <p:graphicFrame>
        <p:nvGraphicFramePr>
          <p:cNvPr id="4" name="Symbol zastępczy zawartości 3">
            <a:extLst>
              <a:ext uri="{FF2B5EF4-FFF2-40B4-BE49-F238E27FC236}">
                <a16:creationId xmlns:a16="http://schemas.microsoft.com/office/drawing/2014/main" id="{00000000-0008-0000-0000-000005000000}"/>
              </a:ext>
            </a:extLst>
          </p:cNvPr>
          <p:cNvGraphicFramePr>
            <a:graphicFrameLocks noGrp="1"/>
          </p:cNvGraphicFramePr>
          <p:nvPr>
            <p:ph idx="1"/>
            <p:extLst>
              <p:ext uri="{D42A27DB-BD31-4B8C-83A1-F6EECF244321}">
                <p14:modId xmlns:p14="http://schemas.microsoft.com/office/powerpoint/2010/main" val="4112980802"/>
              </p:ext>
            </p:extLst>
          </p:nvPr>
        </p:nvGraphicFramePr>
        <p:xfrm>
          <a:off x="290200" y="247650"/>
          <a:ext cx="10217836" cy="523327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3615386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7FC543D-DF3D-4DF1-9F54-EDA0C11E2786}"/>
              </a:ext>
            </a:extLst>
          </p:cNvPr>
          <p:cNvSpPr>
            <a:spLocks noGrp="1"/>
          </p:cNvSpPr>
          <p:nvPr>
            <p:ph type="title"/>
          </p:nvPr>
        </p:nvSpPr>
        <p:spPr>
          <a:xfrm>
            <a:off x="172528" y="5750942"/>
            <a:ext cx="11375366" cy="910093"/>
          </a:xfrm>
        </p:spPr>
        <p:txBody>
          <a:bodyPr/>
          <a:lstStyle/>
          <a:p>
            <a:r>
              <a:rPr lang="pl-PL" sz="1800" b="1" dirty="0"/>
              <a:t>Rysunek 2. Zestawienie częstotliwości zakupu czekolady Wedel średnio w miesiącu z danymi </a:t>
            </a:r>
            <a:r>
              <a:rPr lang="pl-PL" sz="1800" b="1" dirty="0" err="1"/>
              <a:t>metryczkowymi</a:t>
            </a:r>
            <a:r>
              <a:rPr lang="pl-PL" sz="1800" b="1" dirty="0"/>
              <a:t> (%)</a:t>
            </a:r>
            <a:br>
              <a:rPr lang="pl-PL" sz="1800" i="1" dirty="0"/>
            </a:br>
            <a:endParaRPr lang="pl-PL" sz="1800" dirty="0"/>
          </a:p>
        </p:txBody>
      </p:sp>
      <p:graphicFrame>
        <p:nvGraphicFramePr>
          <p:cNvPr id="4" name="Symbol zastępczy zawartości 3">
            <a:extLst>
              <a:ext uri="{FF2B5EF4-FFF2-40B4-BE49-F238E27FC236}">
                <a16:creationId xmlns:a16="http://schemas.microsoft.com/office/drawing/2014/main" id="{00000000-0008-0000-0000-000004000000}"/>
              </a:ext>
            </a:extLst>
          </p:cNvPr>
          <p:cNvGraphicFramePr>
            <a:graphicFrameLocks noGrp="1"/>
          </p:cNvGraphicFramePr>
          <p:nvPr>
            <p:ph idx="1"/>
            <p:extLst>
              <p:ext uri="{D42A27DB-BD31-4B8C-83A1-F6EECF244321}">
                <p14:modId xmlns:p14="http://schemas.microsoft.com/office/powerpoint/2010/main" val="2551951642"/>
              </p:ext>
            </p:extLst>
          </p:nvPr>
        </p:nvGraphicFramePr>
        <p:xfrm>
          <a:off x="477328" y="304800"/>
          <a:ext cx="11251084" cy="531387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9437965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idx="1"/>
          </p:nvPr>
        </p:nvSpPr>
        <p:spPr/>
        <p:txBody>
          <a:bodyPr/>
          <a:lstStyle/>
          <a:p>
            <a:endParaRPr lang="pl-PL"/>
          </a:p>
        </p:txBody>
      </p:sp>
      <p:graphicFrame>
        <p:nvGraphicFramePr>
          <p:cNvPr id="4" name="Wykres 3"/>
          <p:cNvGraphicFramePr>
            <a:graphicFrameLocks noGrp="1"/>
          </p:cNvGraphicFramePr>
          <p:nvPr>
            <p:extLst>
              <p:ext uri="{D42A27DB-BD31-4B8C-83A1-F6EECF244321}">
                <p14:modId xmlns:p14="http://schemas.microsoft.com/office/powerpoint/2010/main" val="4105874247"/>
              </p:ext>
            </p:extLst>
          </p:nvPr>
        </p:nvGraphicFramePr>
        <p:xfrm>
          <a:off x="219018" y="1"/>
          <a:ext cx="11728411" cy="6858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9825495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Symbol zastępczy zawartości 3"/>
          <p:cNvGraphicFramePr>
            <a:graphicFrameLocks noGrp="1"/>
          </p:cNvGraphicFramePr>
          <p:nvPr>
            <p:ph idx="1"/>
            <p:extLst>
              <p:ext uri="{D42A27DB-BD31-4B8C-83A1-F6EECF244321}">
                <p14:modId xmlns:p14="http://schemas.microsoft.com/office/powerpoint/2010/main" val="28920735"/>
              </p:ext>
            </p:extLst>
          </p:nvPr>
        </p:nvGraphicFramePr>
        <p:xfrm>
          <a:off x="240919" y="1"/>
          <a:ext cx="11553197" cy="666935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6583167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J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Motyw pakietu Office">
  <a:themeElements>
    <a:clrScheme name="Pakiet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akiet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F5751366F6FAB24EBDBA54FDEC967C89" ma:contentTypeVersion="3" ma:contentTypeDescription="Utwórz nowy dokument." ma:contentTypeScope="" ma:versionID="40a4eb093616ec0d76824afdbd5ad50d">
  <xsd:schema xmlns:xsd="http://www.w3.org/2001/XMLSchema" xmlns:xs="http://www.w3.org/2001/XMLSchema" xmlns:p="http://schemas.microsoft.com/office/2006/metadata/properties" xmlns:ns2="741891a7-a7c1-4fac-a704-7a5a6007da7d" targetNamespace="http://schemas.microsoft.com/office/2006/metadata/properties" ma:root="true" ma:fieldsID="b42af1c4da6c96532fe8e37d255ab87c" ns2:_="">
    <xsd:import namespace="741891a7-a7c1-4fac-a704-7a5a6007da7d"/>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41891a7-a7c1-4fac-a704-7a5a6007da7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 zawartości"/>
        <xsd:element ref="dc:title" minOccurs="0" maxOccurs="1" ma:index="4" ma:displayName="Tytuł"/>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79B2EFD-F5C9-4CB2-82F3-D072D0E2949A}"/>
</file>

<file path=customXml/itemProps2.xml><?xml version="1.0" encoding="utf-8"?>
<ds:datastoreItem xmlns:ds="http://schemas.openxmlformats.org/officeDocument/2006/customXml" ds:itemID="{50755A79-8F81-4CDA-99B6-F1772C10BB5C}"/>
</file>

<file path=customXml/itemProps3.xml><?xml version="1.0" encoding="utf-8"?>
<ds:datastoreItem xmlns:ds="http://schemas.openxmlformats.org/officeDocument/2006/customXml" ds:itemID="{9B64A3EF-8D4C-45EA-9419-6A1A5BB42C80}"/>
</file>

<file path=docProps/app.xml><?xml version="1.0" encoding="utf-8"?>
<Properties xmlns="http://schemas.openxmlformats.org/officeDocument/2006/extended-properties" xmlns:vt="http://schemas.openxmlformats.org/officeDocument/2006/docPropsVTypes">
  <Template>Ion</Template>
  <TotalTime>3137</TotalTime>
  <Words>2679</Words>
  <Application>Microsoft Office PowerPoint</Application>
  <PresentationFormat>Panoramiczny</PresentationFormat>
  <Paragraphs>529</Paragraphs>
  <Slides>34</Slides>
  <Notes>1</Notes>
  <HiddenSlides>0</HiddenSlides>
  <MMClips>0</MMClips>
  <ScaleCrop>false</ScaleCrop>
  <HeadingPairs>
    <vt:vector size="6" baseType="variant">
      <vt:variant>
        <vt:lpstr>Używane czcionki</vt:lpstr>
      </vt:variant>
      <vt:variant>
        <vt:i4>7</vt:i4>
      </vt:variant>
      <vt:variant>
        <vt:lpstr>Motyw</vt:lpstr>
      </vt:variant>
      <vt:variant>
        <vt:i4>1</vt:i4>
      </vt:variant>
      <vt:variant>
        <vt:lpstr>Tytuły slajdów</vt:lpstr>
      </vt:variant>
      <vt:variant>
        <vt:i4>34</vt:i4>
      </vt:variant>
    </vt:vector>
  </HeadingPairs>
  <TitlesOfParts>
    <vt:vector size="42" baseType="lpstr">
      <vt:lpstr>Arial</vt:lpstr>
      <vt:lpstr>Calibri</vt:lpstr>
      <vt:lpstr>Century Gothic</vt:lpstr>
      <vt:lpstr>Symbol</vt:lpstr>
      <vt:lpstr>Times New Roman</vt:lpstr>
      <vt:lpstr>Wingdings</vt:lpstr>
      <vt:lpstr>Wingdings 3</vt:lpstr>
      <vt:lpstr>Jon</vt:lpstr>
      <vt:lpstr>Wykład 4.   Zbieranie informacji, badania marketingowe </vt:lpstr>
      <vt:lpstr>STRUKTURA SYSTEMU INFORMACJI MARKETINGOWEJ</vt:lpstr>
      <vt:lpstr>Prezentacja programu PowerPoint</vt:lpstr>
      <vt:lpstr>Prezentacja programu PowerPoint</vt:lpstr>
      <vt:lpstr>Prezentacja programu PowerPoint</vt:lpstr>
      <vt:lpstr>Etapy procesu badania marketingowego</vt:lpstr>
      <vt:lpstr>Określenie problemu badawczego</vt:lpstr>
      <vt:lpstr>Formułowanie hipotez</vt:lpstr>
      <vt:lpstr>Opracowanie planu badań</vt:lpstr>
      <vt:lpstr>Metody gromadzenia danych</vt:lpstr>
      <vt:lpstr>- Obserwacje- wstępna lub dodatkowa metoda gromadzenia informacji.  Może być prowadzona przez sprzedawców, badaczy z zewnątrz.  Czasami niezastąpiona, np. pomiar preferencji dzieci. Zaleta – prostota, niski koszt.  </vt:lpstr>
      <vt:lpstr>  </vt:lpstr>
      <vt:lpstr>Prezentacja programu PowerPoint</vt:lpstr>
      <vt:lpstr>Eksperymenty- oddziaływanie w wybranym segmencie rynku jednym elementem marketingu i rejestrowanie skutków.  Eksperymentator manipuluje zmiennymi (niezależnymi) w taki sposób, aby oddziaływały one na inne zmienne (zależne), których zmiany poddawane są pomiarom. Badanie zależności przyczynowo-skutkowych.</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Analizowanie i interpretowanie danych</vt:lpstr>
      <vt:lpstr>Sporządzanie raportu z badań</vt:lpstr>
      <vt:lpstr>Organizacja badań marketingowych</vt:lpstr>
      <vt:lpstr>Ustalenie próby badawczej</vt:lpstr>
      <vt:lpstr>Prezentacja programu PowerPoint</vt:lpstr>
      <vt:lpstr>Prezentacja programu PowerPoint</vt:lpstr>
      <vt:lpstr>Sposób dotarcia do respondentów - porównanie ankiet pocztowych, telefonicznych i osobistych (Wy w pracach stosujecie najczęściej internetową, ale ona ma szereg wad)</vt:lpstr>
      <vt:lpstr>Narzędzia badawcze</vt:lpstr>
      <vt:lpstr>Prezentacja programu PowerPoint</vt:lpstr>
      <vt:lpstr>Rysunek 1. Deklaracje respondentów dotyczące częstotliwości zakupu czekolady Wedel średnio w miesiącu (%) Źródło: opracowanie własne na podstawie badań ankietowych </vt:lpstr>
      <vt:lpstr>Rysunek 2. Zestawienie częstotliwości zakupu czekolady Wedel średnio w miesiącu z danymi metryczkowymi (%) </vt:lpstr>
      <vt:lpstr>Prezentacja programu PowerPoint</vt:lpstr>
      <vt:lpstr>Prezentacja programu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Wykład 8.   Zbieranie informacji, badania marketingowe</dc:title>
  <dc:creator>user</dc:creator>
  <cp:lastModifiedBy>Anna Olszańska</cp:lastModifiedBy>
  <cp:revision>18</cp:revision>
  <dcterms:created xsi:type="dcterms:W3CDTF">2020-04-20T08:23:12Z</dcterms:created>
  <dcterms:modified xsi:type="dcterms:W3CDTF">2026-04-11T10:03:18Z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0x010100F5751366F6FAB24EBDBA54FDEC967C89</vt:lpwstr>
  </property>
</Properties>
</file>